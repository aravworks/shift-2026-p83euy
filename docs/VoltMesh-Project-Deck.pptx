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cab036da-e2d9-aa77-2916-051ec7baaf3b}">
          <p14:sldIdLst>
            <p14:sldId id="256"/>
          </p14:sldIdLst>
        </p14:section>
        <p14:section name="Problem and idea" id="{f3d55c0d-622c-2421-772c-d7293344cd35}">
          <p14:sldIdLst>
            <p14:sldId id="257"/>
            <p14:sldId id="258"/>
          </p14:sldIdLst>
        </p14:section>
        <p14:section name="What we built" id="{184afe20-3ccb-f3cb-df12-a2527f3d3e6c}">
          <p14:sldIdLst>
            <p14:sldId id="259"/>
            <p14:sldId id="260"/>
            <p14:sldId id="261"/>
            <p14:sldId id="262"/>
            <p14:sldId id="263"/>
          </p14:sldIdLst>
        </p14:section>
        <p14:section name="How it works" id="{671b2194-3276-1fc9-f22b-bb238eac4817}">
          <p14:sldIdLst>
            <p14:sldId id="264"/>
            <p14:sldId id="265"/>
          </p14:sldIdLst>
        </p14:section>
        <p14:section name="Results" id="{d6826497-bf2c-cdb7-cbaa-be41f989da14}">
          <p14:sldIdLst>
            <p14:sldId id="266"/>
            <p14:sldId id="267"/>
            <p14:sldId id="268"/>
          </p14:sldIdLst>
        </p14:section>
        <p14:section name="Next" id="{156c33cf-bab2-d275-85b6-a441cc52c793}">
          <p14:sldIdLst>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VoltMesh is an offline safety network for electric two-wheeler riders. Phones and battery-swap stations form a mesh; a station phone with internet is the gateway to the backend. Built for the SHIFT hackathon at IIT BHU.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 riders, especially delivery riders, fail in ways a petrol rider does not, and often where networks are weakest. We do not quote failure statistics because we have no sourced numbers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insight: an SOS-only mesh has a cold-start problem. If riders keep the app on every shift to find charged batteries, every phone becomes a relay for someone else's SOS.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Phones relay over Bluetooth, the swap station is the gateway with internet, the backend stores everything and the admin portal reads it. Scooters can also talk to the backend directly through the vehicle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Backend, admin portal and vehicle API are live. The phone app is UI only: no real Bluetooth yet. Counts: eight tables and one view, six API functions, seven migrations.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Postgres database in Supabase with PostGIS. Six small API functions. The same function code runs on Supabase Edge Functions and on a Node service on Render.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React and Leaflet web app on GitHub Pages. Roles are admin, fleet and station. Row-level security in the database enforces what each role can read and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vehicle API is small on purpose: anything that can make an HTTPS request with a key can integrate. Reading the scooter battery itself needs a per-maker adapter outside this repo.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range check is a heuristic: battery percent times kilometres per percent times one minus a safety margin. The phone app currently uses a fixed 1.2 km per percent; the backend uses a per-vehicle value with no default.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is no machine learning: everything is deterministic and can be checked. The controlled flooding is specified and unit-testable but is not yet running on real phones.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results from one test vehicle and one test station on the live project, with test inputs of one kilometre per percent and a twenty percent safety margin. They are not field measurements.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Safety works today as an online alert and response system. The offline Bluetooth mesh, which is the demo's core, is not built yet. Nothing yet notifies the fleet outside the portal.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state the limits plainly. Demo-grade security is disclosed as such, and we only claim what our own recorded runs measure.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Priorities: first close the security gaps and add notifications, then build the real Bluetooth relay, which is the core of the demo, then harden for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everyday value first, safety rides on it. Offer the live portal and the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indent="0" marL="0">
              <a:buNone/>
              <a:defRPr lang="en-US" sz="3400" b="1" dirty="0">
                <a:solidFill>
                  <a:schemeClr val="tx1"/>
                </a:solidFill>
              </a:defRPr>
            </a:lvl1pPr>
          </a:lstStyle>
          <a:p>
            <a:pPr indent="0" marL="0">
              <a:buNone/>
            </a:pPr>
            <a:r>
              <a:rPr lang="en-US" sz="3400" b="1" dirty="0">
                <a:solidFill>
                  <a:schemeClr val="tx1"/>
                </a:solidFill>
              </a:rPr>
              <a:t>Title</a:t>
            </a:r>
            <a:endParaRPr lang="en-US" sz="3400" dirty="0"/>
          </a:p>
        </p:txBody>
      </p:sp>
      <p:sp>
        <p:nvSpPr>
          <p:cNvPr id="3" name="Text 0"/>
          <p:cNvSpPr/>
          <p:nvPr/>
        </p:nvSpPr>
        <p:spPr>
          <a:xfrm>
            <a:off x="457200" y="4818888"/>
            <a:ext cx="4572000" cy="228600"/>
          </a:xfrm>
          <a:prstGeom prst="rect">
            <a:avLst/>
          </a:prstGeom>
          <a:noFill/>
          <a:ln/>
        </p:spPr>
        <p:txBody>
          <a:bodyPr wrap="square" lIns="0" tIns="0" rIns="0" bIns="0" rtlCol="0" anchor="ctr"/>
          <a:lstStyle/>
          <a:p>
            <a:pPr indent="0" marL="0">
              <a:buNone/>
            </a:pPr>
            <a:r>
              <a:rPr lang="en-US" sz="1000" dirty="0">
                <a:solidFill>
                  <a:schemeClr val="accent5"/>
                </a:solidFill>
              </a:rPr>
              <a:t>VoltMesh · SHIFT Hackathon, IIT BHU 2026</a:t>
            </a:r>
            <a:endParaRPr lang="en-US" sz="10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indent="0" marL="0">
              <a:buNone/>
              <a:defRPr lang="en-US" sz="3400" b="1" dirty="0">
                <a:solidFill>
                  <a:schemeClr val="bg1"/>
                </a:solidFill>
              </a:defRPr>
            </a:lvl1pPr>
          </a:lstStyle>
          <a:p>
            <a:pPr indent="0" marL="0">
              <a:buNone/>
            </a:pPr>
            <a:r>
              <a:rPr lang="en-US" sz="3400" b="1" dirty="0">
                <a:solidFill>
                  <a:schemeClr val="bg1"/>
                </a:solidFill>
              </a:rPr>
              <a:t>Title</a:t>
            </a:r>
            <a:endParaRPr lang="en-US" sz="3400" dirty="0"/>
          </a:p>
        </p:txBody>
      </p:sp>
      <p:sp>
        <p:nvSpPr>
          <p:cNvPr id="3" name="Text 0"/>
          <p:cNvSpPr/>
          <p:nvPr/>
        </p:nvSpPr>
        <p:spPr>
          <a:xfrm>
            <a:off x="457200" y="4818888"/>
            <a:ext cx="4572000" cy="228600"/>
          </a:xfrm>
          <a:prstGeom prst="rect">
            <a:avLst/>
          </a:prstGeom>
          <a:noFill/>
          <a:ln/>
        </p:spPr>
        <p:txBody>
          <a:bodyPr wrap="square" lIns="0" tIns="0" rIns="0" bIns="0" rtlCol="0" anchor="ctr"/>
          <a:lstStyle/>
          <a:p>
            <a:pPr indent="0" marL="0">
              <a:buNone/>
            </a:pPr>
            <a:r>
              <a:rPr lang="en-US" sz="1000" dirty="0">
                <a:solidFill>
                  <a:schemeClr val="accent5"/>
                </a:solidFill>
              </a:rPr>
              <a:t>VoltMesh · SHIFT Hackathon, IIT BHU 2026</a:t>
            </a:r>
            <a:endParaRPr lang="en-US" sz="10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4937760" cy="1097280"/>
          </a:xfrm>
          <a:prstGeom prst="rect">
            <a:avLst/>
          </a:prstGeom>
          <a:noFill/>
          <a:ln/>
        </p:spPr>
        <p:txBody>
          <a:bodyPr wrap="square" rtlCol="0"/>
          <a:lstStyle>
            <a:lvl1pPr indent="0" marL="0">
              <a:buNone/>
              <a:defRPr lang="en-US" sz="5400" b="1" dirty="0">
                <a:solidFill>
                  <a:schemeClr val="bg1"/>
                </a:solidFill>
              </a:defRPr>
            </a:lvl1pPr>
          </a:lstStyle>
          <a:p>
            <a:pPr indent="0" marL="0">
              <a:buNone/>
            </a:pPr>
            <a:r>
              <a:rPr lang="en-US" sz="5400" b="1" dirty="0">
                <a:solidFill>
                  <a:schemeClr val="bg1"/>
                </a:solidFill>
              </a:rPr>
              <a:t>Title</a:t>
            </a:r>
            <a:endParaRPr lang="en-US" sz="5400" dirty="0"/>
          </a:p>
        </p:txBody>
      </p:sp>
      <p:sp>
        <p:nvSpPr>
          <p:cNvPr id="3" name="Text 0"/>
          <p:cNvSpPr/>
          <p:nvPr>
            <p:ph idx="101" type="body" hasCustomPrompt="1"/>
          </p:nvPr>
        </p:nvSpPr>
        <p:spPr>
          <a:xfrm>
            <a:off x="548640" y="2423160"/>
            <a:ext cx="4754880" cy="822960"/>
          </a:xfrm>
          <a:prstGeom prst="rect">
            <a:avLst/>
          </a:prstGeom>
          <a:noFill/>
          <a:ln/>
        </p:spPr>
        <p:txBody>
          <a:bodyPr wrap="square" rtlCol="0"/>
          <a:lstStyle>
            <a:lvl1pPr indent="0" marL="0">
              <a:buNone/>
              <a:defRPr lang="en-US" sz="2200" dirty="0">
                <a:solidFill>
                  <a:schemeClr val="accent1"/>
                </a:solidFill>
              </a:defRPr>
            </a:lvl1pPr>
          </a:lstStyle>
          <a:p>
            <a:pPr indent="0" marL="0">
              <a:buNone/>
            </a:pPr>
            <a:r>
              <a:rPr lang="en-US" sz="2200" dirty="0">
                <a:solidFill>
                  <a:schemeClr val="accent1"/>
                </a:solidFill>
              </a:rPr>
              <a:t>Subtitle</a:t>
            </a:r>
            <a:endParaRPr lang="en-US" sz="22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4.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2.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2.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2.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slideLayout" Target="../slideLayouts/slideLayout2.xml"/><Relationship Id="rId1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2.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4937760" cy="1097280"/>
          </a:xfrm>
          <a:prstGeom prst="rect">
            <a:avLst/>
          </a:prstGeom>
          <a:noFill/>
          <a:ln/>
        </p:spPr>
        <p:txBody>
          <a:bodyPr wrap="square" lIns="0" tIns="0" rIns="0" bIns="0" rtlCol="0" anchor="ctr"/>
          <a:lstStyle/>
          <a:p>
            <a:pPr indent="0" marL="0">
              <a:buNone/>
            </a:pPr>
            <a:r>
              <a:rPr lang="en-US" sz="5400" b="1" dirty="0">
                <a:solidFill>
                  <a:schemeClr val="bg1"/>
                </a:solidFill>
              </a:rPr>
              <a:t>VoltMesh</a:t>
            </a:r>
            <a:endParaRPr lang="en-US" sz="5400" dirty="0"/>
          </a:p>
        </p:txBody>
      </p:sp>
      <p:sp>
        <p:nvSpPr>
          <p:cNvPr id="3" name="Text 0"/>
          <p:cNvSpPr/>
          <p:nvPr>
            <p:ph idx="101" type="body" hasCustomPrompt="1"/>
          </p:nvPr>
        </p:nvSpPr>
        <p:spPr>
          <a:xfrm>
            <a:off x="548640" y="2423160"/>
            <a:ext cx="4754880" cy="822960"/>
          </a:xfrm>
          <a:prstGeom prst="rect">
            <a:avLst/>
          </a:prstGeom>
          <a:noFill/>
          <a:ln/>
        </p:spPr>
        <p:txBody>
          <a:bodyPr wrap="square" lIns="0" tIns="0" rIns="0" bIns="0" rtlCol="0" anchor="t"/>
          <a:lstStyle/>
          <a:p>
            <a:pPr indent="0" marL="0">
              <a:buNone/>
            </a:pPr>
            <a:r>
              <a:rPr lang="en-US" sz="2200" dirty="0">
                <a:solidFill>
                  <a:schemeClr val="accent1"/>
                </a:solidFill>
              </a:rPr>
              <a:t>Offline safety network for e-micromobility</a:t>
            </a:r>
            <a:endParaRPr lang="en-US" sz="2200" dirty="0"/>
          </a:p>
        </p:txBody>
      </p:sp>
      <p:sp>
        <p:nvSpPr>
          <p:cNvPr id="4" name="Event"/>
          <p:cNvSpPr txBox="1"/>
          <p:nvPr/>
        </p:nvSpPr>
        <p:spPr>
          <a:xfrm>
            <a:off x="548640" y="3429000"/>
            <a:ext cx="4754880" cy="320040"/>
          </a:xfrm>
          <a:prstGeom prst="rect">
            <a:avLst/>
          </a:prstGeom>
          <a:noFill/>
          <a:ln/>
        </p:spPr>
        <p:txBody>
          <a:bodyPr wrap="square" lIns="0" tIns="0" rIns="0" bIns="0" rtlCol="0" anchor="ctr"/>
          <a:lstStyle/>
          <a:p>
            <a:pPr indent="0" marL="0">
              <a:buNone/>
            </a:pPr>
            <a:r>
              <a:rPr lang="en-US" sz="1400" dirty="0">
                <a:solidFill>
                  <a:schemeClr val="bg2"/>
                </a:solidFill>
              </a:rPr>
              <a:t>SHIFT Hackathon · IIT BHU · 10–11 October 2026</a:t>
            </a:r>
            <a:endParaRPr lang="en-US" sz="1400" dirty="0"/>
          </a:p>
        </p:txBody>
      </p:sp>
      <p:sp>
        <p:nvSpPr>
          <p:cNvPr id="5" name="Tagline"/>
          <p:cNvSpPr txBox="1"/>
          <p:nvPr/>
        </p:nvSpPr>
        <p:spPr>
          <a:xfrm>
            <a:off x="548640" y="3794760"/>
            <a:ext cx="4754880" cy="320040"/>
          </a:xfrm>
          <a:prstGeom prst="rect">
            <a:avLst/>
          </a:prstGeom>
          <a:noFill/>
          <a:ln/>
        </p:spPr>
        <p:txBody>
          <a:bodyPr wrap="square" lIns="0" tIns="0" rIns="0" bIns="0" rtlCol="0" anchor="ctr"/>
          <a:lstStyle/>
          <a:p>
            <a:pPr indent="0" marL="0">
              <a:buNone/>
            </a:pPr>
            <a:r>
              <a:rPr lang="en-US" sz="1400" dirty="0">
                <a:solidFill>
                  <a:schemeClr val="accent5"/>
                </a:solidFill>
              </a:rPr>
              <a:t>Project overview: what we built and why</a:t>
            </a:r>
            <a:endParaRPr lang="en-US" sz="1400" dirty="0"/>
          </a:p>
        </p:txBody>
      </p:sp>
      <p:sp>
        <p:nvSpPr>
          <p:cNvPr id="6" name="mesh link"/>
          <p:cNvSpPr/>
          <p:nvPr/>
        </p:nvSpPr>
        <p:spPr>
          <a:xfrm>
            <a:off x="6903720" y="1325880"/>
            <a:ext cx="548640" cy="1554480"/>
          </a:xfrm>
          <a:prstGeom prst="line">
            <a:avLst/>
          </a:prstGeom>
          <a:noFill/>
          <a:ln w="25400">
            <a:solidFill>
              <a:srgbClr val="1F8A80"/>
            </a:solidFill>
            <a:prstDash val="solid"/>
          </a:ln>
        </p:spPr>
      </p:sp>
      <p:sp>
        <p:nvSpPr>
          <p:cNvPr id="7" name="mesh link"/>
          <p:cNvSpPr/>
          <p:nvPr/>
        </p:nvSpPr>
        <p:spPr>
          <a:xfrm flipV="1">
            <a:off x="7452360" y="2057400"/>
            <a:ext cx="822960" cy="822960"/>
          </a:xfrm>
          <a:prstGeom prst="line">
            <a:avLst/>
          </a:prstGeom>
          <a:noFill/>
          <a:ln w="25400">
            <a:solidFill>
              <a:srgbClr val="1F8A80"/>
            </a:solidFill>
            <a:prstDash val="solid"/>
          </a:ln>
        </p:spPr>
      </p:sp>
      <p:sp>
        <p:nvSpPr>
          <p:cNvPr id="8" name="mesh link"/>
          <p:cNvSpPr/>
          <p:nvPr/>
        </p:nvSpPr>
        <p:spPr>
          <a:xfrm flipV="1">
            <a:off x="6995160" y="2880360"/>
            <a:ext cx="457200" cy="91440"/>
          </a:xfrm>
          <a:prstGeom prst="line">
            <a:avLst/>
          </a:prstGeom>
          <a:noFill/>
          <a:ln w="25400">
            <a:solidFill>
              <a:srgbClr val="1F8A80"/>
            </a:solidFill>
            <a:prstDash val="solid"/>
          </a:ln>
        </p:spPr>
      </p:sp>
      <p:sp>
        <p:nvSpPr>
          <p:cNvPr id="9" name="mesh link"/>
          <p:cNvSpPr/>
          <p:nvPr/>
        </p:nvSpPr>
        <p:spPr>
          <a:xfrm>
            <a:off x="7452360" y="2880360"/>
            <a:ext cx="914400" cy="914400"/>
          </a:xfrm>
          <a:prstGeom prst="line">
            <a:avLst/>
          </a:prstGeom>
          <a:noFill/>
          <a:ln w="25400">
            <a:solidFill>
              <a:srgbClr val="1F8A80"/>
            </a:solidFill>
            <a:prstDash val="solid"/>
          </a:ln>
        </p:spPr>
      </p:sp>
      <p:sp>
        <p:nvSpPr>
          <p:cNvPr id="10" name="mesh link"/>
          <p:cNvSpPr/>
          <p:nvPr/>
        </p:nvSpPr>
        <p:spPr>
          <a:xfrm flipV="1">
            <a:off x="6355080" y="2880360"/>
            <a:ext cx="1097280" cy="1280160"/>
          </a:xfrm>
          <a:prstGeom prst="line">
            <a:avLst/>
          </a:prstGeom>
          <a:noFill/>
          <a:ln w="25400">
            <a:solidFill>
              <a:srgbClr val="1F8A80"/>
            </a:solidFill>
            <a:prstDash val="solid"/>
          </a:ln>
        </p:spPr>
      </p:sp>
      <p:sp>
        <p:nvSpPr>
          <p:cNvPr id="11" name="mesh node"/>
          <p:cNvSpPr/>
          <p:nvPr/>
        </p:nvSpPr>
        <p:spPr>
          <a:xfrm>
            <a:off x="6675120" y="1097280"/>
            <a:ext cx="457200" cy="457200"/>
          </a:xfrm>
          <a:prstGeom prst="ellipse">
            <a:avLst/>
          </a:prstGeom>
          <a:solidFill>
            <a:schemeClr val="accent2"/>
          </a:solidFill>
          <a:ln w="12700">
            <a:solidFill>
              <a:schemeClr val="accent2"/>
            </a:solidFill>
            <a:prstDash val="solid"/>
          </a:ln>
        </p:spPr>
      </p:sp>
      <p:sp>
        <p:nvSpPr>
          <p:cNvPr id="12" name="mesh node"/>
          <p:cNvSpPr/>
          <p:nvPr/>
        </p:nvSpPr>
        <p:spPr>
          <a:xfrm>
            <a:off x="8046720" y="1828800"/>
            <a:ext cx="457200" cy="457200"/>
          </a:xfrm>
          <a:prstGeom prst="ellipse">
            <a:avLst/>
          </a:prstGeom>
          <a:solidFill>
            <a:schemeClr val="accent2"/>
          </a:solidFill>
          <a:ln w="12700">
            <a:solidFill>
              <a:schemeClr val="accent2"/>
            </a:solidFill>
            <a:prstDash val="solid"/>
          </a:ln>
        </p:spPr>
      </p:sp>
      <p:sp>
        <p:nvSpPr>
          <p:cNvPr id="13" name="mesh node"/>
          <p:cNvSpPr/>
          <p:nvPr/>
        </p:nvSpPr>
        <p:spPr>
          <a:xfrm>
            <a:off x="6766560" y="2743200"/>
            <a:ext cx="457200" cy="457200"/>
          </a:xfrm>
          <a:prstGeom prst="ellipse">
            <a:avLst/>
          </a:prstGeom>
          <a:solidFill>
            <a:schemeClr val="accent2"/>
          </a:solidFill>
          <a:ln w="12700">
            <a:solidFill>
              <a:schemeClr val="accent2"/>
            </a:solidFill>
            <a:prstDash val="solid"/>
          </a:ln>
        </p:spPr>
      </p:sp>
      <p:sp>
        <p:nvSpPr>
          <p:cNvPr id="14" name="mesh node"/>
          <p:cNvSpPr/>
          <p:nvPr/>
        </p:nvSpPr>
        <p:spPr>
          <a:xfrm>
            <a:off x="8138160" y="3566160"/>
            <a:ext cx="457200" cy="457200"/>
          </a:xfrm>
          <a:prstGeom prst="ellipse">
            <a:avLst/>
          </a:prstGeom>
          <a:solidFill>
            <a:schemeClr val="accent2"/>
          </a:solidFill>
          <a:ln w="12700">
            <a:solidFill>
              <a:schemeClr val="accent2"/>
            </a:solidFill>
            <a:prstDash val="solid"/>
          </a:ln>
        </p:spPr>
      </p:sp>
      <p:sp>
        <p:nvSpPr>
          <p:cNvPr id="15" name="mesh node"/>
          <p:cNvSpPr/>
          <p:nvPr/>
        </p:nvSpPr>
        <p:spPr>
          <a:xfrm>
            <a:off x="6126480" y="3931920"/>
            <a:ext cx="457200" cy="457200"/>
          </a:xfrm>
          <a:prstGeom prst="ellipse">
            <a:avLst/>
          </a:prstGeom>
          <a:solidFill>
            <a:schemeClr val="accent2"/>
          </a:solidFill>
          <a:ln w="12700">
            <a:solidFill>
              <a:schemeClr val="accent2"/>
            </a:solidFill>
            <a:prstDash val="solid"/>
          </a:ln>
        </p:spPr>
      </p:sp>
      <p:sp>
        <p:nvSpPr>
          <p:cNvPr id="16" name="Station hub badge"/>
          <p:cNvSpPr/>
          <p:nvPr/>
        </p:nvSpPr>
        <p:spPr>
          <a:xfrm>
            <a:off x="6995160" y="2423160"/>
            <a:ext cx="914400" cy="914400"/>
          </a:xfrm>
          <a:prstGeom prst="ellipse">
            <a:avLst/>
          </a:prstGeom>
          <a:solidFill>
            <a:srgbClr val="F5B700"/>
          </a:solidFill>
          <a:ln w="12700">
            <a:solidFill>
              <a:srgbClr val="F5B700"/>
            </a:solidFill>
            <a:prstDash val="solid"/>
          </a:ln>
        </p:spPr>
      </p:sp>
      <p:pic>
        <p:nvPicPr>
          <p:cNvPr id="17" name="FaBolt" descr="Bolt icon">    </p:cNvPr>
          <p:cNvPicPr>
            <a:picLocks noChangeAspect="1"/>
          </p:cNvPicPr>
          <p:nvPr/>
        </p:nvPicPr>
        <p:blipFill>
          <a:blip r:embed="rId1"/>
          <a:stretch>
            <a:fillRect/>
          </a:stretch>
        </p:blipFill>
        <p:spPr>
          <a:xfrm>
            <a:off x="7214616" y="2642616"/>
            <a:ext cx="475488" cy="47548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400" b="1" dirty="0">
                <a:solidFill>
                  <a:schemeClr val="tx1"/>
                </a:solidFill>
              </a:rPr>
              <a:t>Riders get stranded, offline</a:t>
            </a:r>
            <a:endParaRPr lang="en-US" sz="3400" dirty="0"/>
          </a:p>
        </p:txBody>
      </p:sp>
      <p:sp>
        <p:nvSpPr>
          <p:cNvPr id="4" name="Problem 1 badge"/>
          <p:cNvSpPr/>
          <p:nvPr/>
        </p:nvSpPr>
        <p:spPr>
          <a:xfrm>
            <a:off x="457200" y="1234440"/>
            <a:ext cx="475488" cy="475488"/>
          </a:xfrm>
          <a:prstGeom prst="ellipse">
            <a:avLst/>
          </a:prstGeom>
          <a:solidFill>
            <a:srgbClr val="0B1F24"/>
          </a:solidFill>
          <a:ln w="12700">
            <a:solidFill>
              <a:srgbClr val="0B1F24"/>
            </a:solidFill>
            <a:prstDash val="solid"/>
          </a:ln>
        </p:spPr>
      </p:sp>
      <p:pic>
        <p:nvPicPr>
          <p:cNvPr id="5" name="FaBatteryQuarter" descr="BatteryQuarter icon">    </p:cNvPr>
          <p:cNvPicPr>
            <a:picLocks noChangeAspect="1"/>
          </p:cNvPicPr>
          <p:nvPr/>
        </p:nvPicPr>
        <p:blipFill>
          <a:blip r:embed="rId1"/>
          <a:stretch>
            <a:fillRect/>
          </a:stretch>
        </p:blipFill>
        <p:spPr>
          <a:xfrm>
            <a:off x="571317" y="1348557"/>
            <a:ext cx="247254" cy="247254"/>
          </a:xfrm>
          <a:prstGeom prst="rect">
            <a:avLst/>
          </a:prstGeom>
        </p:spPr>
      </p:pic>
      <p:sp>
        <p:nvSpPr>
          <p:cNvPr id="6" name="Problem label 1"/>
          <p:cNvSpPr txBox="1"/>
          <p:nvPr/>
        </p:nvSpPr>
        <p:spPr>
          <a:xfrm>
            <a:off x="1097280" y="1216152"/>
            <a:ext cx="4297680" cy="274320"/>
          </a:xfrm>
          <a:prstGeom prst="rect">
            <a:avLst/>
          </a:prstGeom>
          <a:noFill/>
          <a:ln/>
        </p:spPr>
        <p:txBody>
          <a:bodyPr wrap="square" lIns="0" tIns="0" rIns="0" bIns="0" rtlCol="0" anchor="ctr"/>
          <a:lstStyle/>
          <a:p>
            <a:pPr indent="0" marL="0">
              <a:buNone/>
            </a:pPr>
            <a:r>
              <a:rPr lang="en-US" sz="1600" b="1" dirty="0">
                <a:solidFill>
                  <a:schemeClr val="tx1"/>
                </a:solidFill>
              </a:rPr>
              <a:t>Battery runs out far from a station</a:t>
            </a:r>
            <a:endParaRPr lang="en-US" sz="1600" dirty="0"/>
          </a:p>
        </p:txBody>
      </p:sp>
      <p:sp>
        <p:nvSpPr>
          <p:cNvPr id="7" name="Problem detail 1"/>
          <p:cNvSpPr txBox="1"/>
          <p:nvPr/>
        </p:nvSpPr>
        <p:spPr>
          <a:xfrm>
            <a:off x="1097280" y="1499616"/>
            <a:ext cx="4297680" cy="228600"/>
          </a:xfrm>
          <a:prstGeom prst="rect">
            <a:avLst/>
          </a:prstGeom>
          <a:noFill/>
          <a:ln/>
        </p:spPr>
        <p:txBody>
          <a:bodyPr wrap="square" lIns="0" tIns="0" rIns="0" bIns="0" rtlCol="0" anchor="ctr"/>
          <a:lstStyle/>
          <a:p>
            <a:pPr indent="0" marL="0">
              <a:buNone/>
            </a:pPr>
            <a:r>
              <a:rPr lang="en-US" sz="1200" dirty="0">
                <a:solidFill>
                  <a:schemeClr val="accent5"/>
                </a:solidFill>
              </a:rPr>
              <a:t>Nowhere to charge, often no signal to call</a:t>
            </a:r>
            <a:endParaRPr lang="en-US" sz="1200" dirty="0"/>
          </a:p>
        </p:txBody>
      </p:sp>
      <p:sp>
        <p:nvSpPr>
          <p:cNvPr id="8" name="Problem 2 badge"/>
          <p:cNvSpPr/>
          <p:nvPr/>
        </p:nvSpPr>
        <p:spPr>
          <a:xfrm>
            <a:off x="457200" y="1892808"/>
            <a:ext cx="475488" cy="475488"/>
          </a:xfrm>
          <a:prstGeom prst="ellipse">
            <a:avLst/>
          </a:prstGeom>
          <a:solidFill>
            <a:srgbClr val="0B1F24"/>
          </a:solidFill>
          <a:ln w="12700">
            <a:solidFill>
              <a:srgbClr val="0B1F24"/>
            </a:solidFill>
            <a:prstDash val="solid"/>
          </a:ln>
        </p:spPr>
      </p:sp>
      <p:pic>
        <p:nvPicPr>
          <p:cNvPr id="9" name="FaFireAlt" descr="FireAlt icon">    </p:cNvPr>
          <p:cNvPicPr>
            <a:picLocks noChangeAspect="1"/>
          </p:cNvPicPr>
          <p:nvPr/>
        </p:nvPicPr>
        <p:blipFill>
          <a:blip r:embed="rId2"/>
          <a:stretch>
            <a:fillRect/>
          </a:stretch>
        </p:blipFill>
        <p:spPr>
          <a:xfrm>
            <a:off x="571317" y="2006925"/>
            <a:ext cx="247254" cy="247254"/>
          </a:xfrm>
          <a:prstGeom prst="rect">
            <a:avLst/>
          </a:prstGeom>
        </p:spPr>
      </p:pic>
      <p:sp>
        <p:nvSpPr>
          <p:cNvPr id="10" name="Problem label 2"/>
          <p:cNvSpPr txBox="1"/>
          <p:nvPr/>
        </p:nvSpPr>
        <p:spPr>
          <a:xfrm>
            <a:off x="1097280" y="1874520"/>
            <a:ext cx="4297680" cy="274320"/>
          </a:xfrm>
          <a:prstGeom prst="rect">
            <a:avLst/>
          </a:prstGeom>
          <a:noFill/>
          <a:ln/>
        </p:spPr>
        <p:txBody>
          <a:bodyPr wrap="square" lIns="0" tIns="0" rIns="0" bIns="0" rtlCol="0" anchor="ctr"/>
          <a:lstStyle/>
          <a:p>
            <a:pPr indent="0" marL="0">
              <a:buNone/>
            </a:pPr>
            <a:r>
              <a:rPr lang="en-US" sz="1600" b="1" dirty="0">
                <a:solidFill>
                  <a:schemeClr val="tx1"/>
                </a:solidFill>
              </a:rPr>
              <a:t>Battery thermal event</a:t>
            </a:r>
            <a:endParaRPr lang="en-US" sz="1600" dirty="0"/>
          </a:p>
        </p:txBody>
      </p:sp>
      <p:sp>
        <p:nvSpPr>
          <p:cNvPr id="11" name="Problem detail 2"/>
          <p:cNvSpPr txBox="1"/>
          <p:nvPr/>
        </p:nvSpPr>
        <p:spPr>
          <a:xfrm>
            <a:off x="1097280" y="2157984"/>
            <a:ext cx="4297680" cy="228600"/>
          </a:xfrm>
          <a:prstGeom prst="rect">
            <a:avLst/>
          </a:prstGeom>
          <a:noFill/>
          <a:ln/>
        </p:spPr>
        <p:txBody>
          <a:bodyPr wrap="square" lIns="0" tIns="0" rIns="0" bIns="0" rtlCol="0" anchor="ctr"/>
          <a:lstStyle/>
          <a:p>
            <a:pPr indent="0" marL="0">
              <a:buNone/>
            </a:pPr>
            <a:r>
              <a:rPr lang="en-US" sz="1200" dirty="0">
                <a:solidFill>
                  <a:schemeClr val="accent5"/>
                </a:solidFill>
              </a:rPr>
              <a:t>Overheating or fire: seconds matter</a:t>
            </a:r>
            <a:endParaRPr lang="en-US" sz="1200" dirty="0"/>
          </a:p>
        </p:txBody>
      </p:sp>
      <p:sp>
        <p:nvSpPr>
          <p:cNvPr id="12" name="Problem 3 badge"/>
          <p:cNvSpPr/>
          <p:nvPr/>
        </p:nvSpPr>
        <p:spPr>
          <a:xfrm>
            <a:off x="457200" y="2551176"/>
            <a:ext cx="475488" cy="475488"/>
          </a:xfrm>
          <a:prstGeom prst="ellipse">
            <a:avLst/>
          </a:prstGeom>
          <a:solidFill>
            <a:srgbClr val="0B1F24"/>
          </a:solidFill>
          <a:ln w="12700">
            <a:solidFill>
              <a:srgbClr val="0B1F24"/>
            </a:solidFill>
            <a:prstDash val="solid"/>
          </a:ln>
        </p:spPr>
      </p:sp>
      <p:pic>
        <p:nvPicPr>
          <p:cNvPr id="13" name="FaCarCrash" descr="CarCrash icon">    </p:cNvPr>
          <p:cNvPicPr>
            <a:picLocks noChangeAspect="1"/>
          </p:cNvPicPr>
          <p:nvPr/>
        </p:nvPicPr>
        <p:blipFill>
          <a:blip r:embed="rId3"/>
          <a:stretch>
            <a:fillRect/>
          </a:stretch>
        </p:blipFill>
        <p:spPr>
          <a:xfrm>
            <a:off x="571317" y="2665293"/>
            <a:ext cx="247254" cy="247254"/>
          </a:xfrm>
          <a:prstGeom prst="rect">
            <a:avLst/>
          </a:prstGeom>
        </p:spPr>
      </p:pic>
      <p:sp>
        <p:nvSpPr>
          <p:cNvPr id="14" name="Problem label 3"/>
          <p:cNvSpPr txBox="1"/>
          <p:nvPr/>
        </p:nvSpPr>
        <p:spPr>
          <a:xfrm>
            <a:off x="1097280" y="2532888"/>
            <a:ext cx="4297680" cy="274320"/>
          </a:xfrm>
          <a:prstGeom prst="rect">
            <a:avLst/>
          </a:prstGeom>
          <a:noFill/>
          <a:ln/>
        </p:spPr>
        <p:txBody>
          <a:bodyPr wrap="square" lIns="0" tIns="0" rIns="0" bIns="0" rtlCol="0" anchor="ctr"/>
          <a:lstStyle/>
          <a:p>
            <a:pPr indent="0" marL="0">
              <a:buNone/>
            </a:pPr>
            <a:r>
              <a:rPr lang="en-US" sz="1600" b="1" dirty="0">
                <a:solidFill>
                  <a:schemeClr val="tx1"/>
                </a:solidFill>
              </a:rPr>
              <a:t>Crash</a:t>
            </a:r>
            <a:endParaRPr lang="en-US" sz="1600" dirty="0"/>
          </a:p>
        </p:txBody>
      </p:sp>
      <p:sp>
        <p:nvSpPr>
          <p:cNvPr id="15" name="Problem detail 3"/>
          <p:cNvSpPr txBox="1"/>
          <p:nvPr/>
        </p:nvSpPr>
        <p:spPr>
          <a:xfrm>
            <a:off x="1097280" y="2816352"/>
            <a:ext cx="4297680" cy="228600"/>
          </a:xfrm>
          <a:prstGeom prst="rect">
            <a:avLst/>
          </a:prstGeom>
          <a:noFill/>
          <a:ln/>
        </p:spPr>
        <p:txBody>
          <a:bodyPr wrap="square" lIns="0" tIns="0" rIns="0" bIns="0" rtlCol="0" anchor="ctr"/>
          <a:lstStyle/>
          <a:p>
            <a:pPr indent="0" marL="0">
              <a:buNone/>
            </a:pPr>
            <a:r>
              <a:rPr lang="en-US" sz="1200" dirty="0">
                <a:solidFill>
                  <a:schemeClr val="accent5"/>
                </a:solidFill>
              </a:rPr>
              <a:t>The rider may not be able to reach the phone</a:t>
            </a:r>
            <a:endParaRPr lang="en-US" sz="1200" dirty="0"/>
          </a:p>
        </p:txBody>
      </p:sp>
      <p:sp>
        <p:nvSpPr>
          <p:cNvPr id="16" name="Problem 4 badge"/>
          <p:cNvSpPr/>
          <p:nvPr/>
        </p:nvSpPr>
        <p:spPr>
          <a:xfrm>
            <a:off x="457200" y="3209544"/>
            <a:ext cx="475488" cy="475488"/>
          </a:xfrm>
          <a:prstGeom prst="ellipse">
            <a:avLst/>
          </a:prstGeom>
          <a:solidFill>
            <a:srgbClr val="0B1F24"/>
          </a:solidFill>
          <a:ln w="12700">
            <a:solidFill>
              <a:srgbClr val="0B1F24"/>
            </a:solidFill>
            <a:prstDash val="solid"/>
          </a:ln>
        </p:spPr>
      </p:sp>
      <p:pic>
        <p:nvPicPr>
          <p:cNvPr id="17" name="FaSignal" descr="Signal icon">    </p:cNvPr>
          <p:cNvPicPr>
            <a:picLocks noChangeAspect="1"/>
          </p:cNvPicPr>
          <p:nvPr/>
        </p:nvPicPr>
        <p:blipFill>
          <a:blip r:embed="rId4"/>
          <a:stretch>
            <a:fillRect/>
          </a:stretch>
        </p:blipFill>
        <p:spPr>
          <a:xfrm>
            <a:off x="571317" y="3323661"/>
            <a:ext cx="247254" cy="247254"/>
          </a:xfrm>
          <a:prstGeom prst="rect">
            <a:avLst/>
          </a:prstGeom>
        </p:spPr>
      </p:pic>
      <p:sp>
        <p:nvSpPr>
          <p:cNvPr id="18" name="Problem label 4"/>
          <p:cNvSpPr txBox="1"/>
          <p:nvPr/>
        </p:nvSpPr>
        <p:spPr>
          <a:xfrm>
            <a:off x="1097280" y="3191256"/>
            <a:ext cx="4297680" cy="274320"/>
          </a:xfrm>
          <a:prstGeom prst="rect">
            <a:avLst/>
          </a:prstGeom>
          <a:noFill/>
          <a:ln/>
        </p:spPr>
        <p:txBody>
          <a:bodyPr wrap="square" lIns="0" tIns="0" rIns="0" bIns="0" rtlCol="0" anchor="ctr"/>
          <a:lstStyle/>
          <a:p>
            <a:pPr indent="0" marL="0">
              <a:buNone/>
            </a:pPr>
            <a:r>
              <a:rPr lang="en-US" sz="1600" b="1" dirty="0">
                <a:solidFill>
                  <a:schemeClr val="tx1"/>
                </a:solidFill>
              </a:rPr>
              <a:t>Network dead zone</a:t>
            </a:r>
            <a:endParaRPr lang="en-US" sz="1600" dirty="0"/>
          </a:p>
        </p:txBody>
      </p:sp>
      <p:sp>
        <p:nvSpPr>
          <p:cNvPr id="19" name="Problem detail 4"/>
          <p:cNvSpPr txBox="1"/>
          <p:nvPr/>
        </p:nvSpPr>
        <p:spPr>
          <a:xfrm>
            <a:off x="1097280" y="3474720"/>
            <a:ext cx="4297680" cy="228600"/>
          </a:xfrm>
          <a:prstGeom prst="rect">
            <a:avLst/>
          </a:prstGeom>
          <a:noFill/>
          <a:ln/>
        </p:spPr>
        <p:txBody>
          <a:bodyPr wrap="square" lIns="0" tIns="0" rIns="0" bIns="0" rtlCol="0" anchor="ctr"/>
          <a:lstStyle/>
          <a:p>
            <a:pPr indent="0" marL="0">
              <a:buNone/>
            </a:pPr>
            <a:r>
              <a:rPr lang="en-US" sz="1200" dirty="0">
                <a:solidFill>
                  <a:schemeClr val="accent5"/>
                </a:solidFill>
              </a:rPr>
              <a:t>Underpasses, basements, highway stretches</a:t>
            </a:r>
            <a:endParaRPr lang="en-US" sz="1200" dirty="0"/>
          </a:p>
        </p:txBody>
      </p:sp>
      <p:sp>
        <p:nvSpPr>
          <p:cNvPr id="20" name="Problem 5 badge"/>
          <p:cNvSpPr/>
          <p:nvPr/>
        </p:nvSpPr>
        <p:spPr>
          <a:xfrm>
            <a:off x="457200" y="3867912"/>
            <a:ext cx="475488" cy="475488"/>
          </a:xfrm>
          <a:prstGeom prst="ellipse">
            <a:avLst/>
          </a:prstGeom>
          <a:solidFill>
            <a:srgbClr val="0B1F24"/>
          </a:solidFill>
          <a:ln w="12700">
            <a:solidFill>
              <a:srgbClr val="0B1F24"/>
            </a:solidFill>
            <a:prstDash val="solid"/>
          </a:ln>
        </p:spPr>
      </p:sp>
      <p:pic>
        <p:nvPicPr>
          <p:cNvPr id="21" name="FaWifi" descr="Wifi icon">    </p:cNvPr>
          <p:cNvPicPr>
            <a:picLocks noChangeAspect="1"/>
          </p:cNvPicPr>
          <p:nvPr/>
        </p:nvPicPr>
        <p:blipFill>
          <a:blip r:embed="rId5"/>
          <a:stretch>
            <a:fillRect/>
          </a:stretch>
        </p:blipFill>
        <p:spPr>
          <a:xfrm>
            <a:off x="571317" y="3982029"/>
            <a:ext cx="247254" cy="247254"/>
          </a:xfrm>
          <a:prstGeom prst="rect">
            <a:avLst/>
          </a:prstGeom>
        </p:spPr>
      </p:pic>
      <p:sp>
        <p:nvSpPr>
          <p:cNvPr id="22" name="Problem label 5"/>
          <p:cNvSpPr txBox="1"/>
          <p:nvPr/>
        </p:nvSpPr>
        <p:spPr>
          <a:xfrm>
            <a:off x="1097280" y="3849624"/>
            <a:ext cx="4297680" cy="274320"/>
          </a:xfrm>
          <a:prstGeom prst="rect">
            <a:avLst/>
          </a:prstGeom>
          <a:noFill/>
          <a:ln/>
        </p:spPr>
        <p:txBody>
          <a:bodyPr wrap="square" lIns="0" tIns="0" rIns="0" bIns="0" rtlCol="0" anchor="ctr"/>
          <a:lstStyle/>
          <a:p>
            <a:pPr indent="0" marL="0">
              <a:buNone/>
            </a:pPr>
            <a:r>
              <a:rPr lang="en-US" sz="1600" b="1" dirty="0">
                <a:solidFill>
                  <a:schemeClr val="tx1"/>
                </a:solidFill>
              </a:rPr>
              <a:t>Prepaid data runs out</a:t>
            </a:r>
            <a:endParaRPr lang="en-US" sz="1600" dirty="0"/>
          </a:p>
        </p:txBody>
      </p:sp>
      <p:sp>
        <p:nvSpPr>
          <p:cNvPr id="23" name="Problem detail 5"/>
          <p:cNvSpPr txBox="1"/>
          <p:nvPr/>
        </p:nvSpPr>
        <p:spPr>
          <a:xfrm>
            <a:off x="1097280" y="4133088"/>
            <a:ext cx="4297680" cy="228600"/>
          </a:xfrm>
          <a:prstGeom prst="rect">
            <a:avLst/>
          </a:prstGeom>
          <a:noFill/>
          <a:ln/>
        </p:spPr>
        <p:txBody>
          <a:bodyPr wrap="square" lIns="0" tIns="0" rIns="0" bIns="0" rtlCol="0" anchor="ctr"/>
          <a:lstStyle/>
          <a:p>
            <a:pPr indent="0" marL="0">
              <a:buNone/>
            </a:pPr>
            <a:r>
              <a:rPr lang="en-US" sz="1200" dirty="0">
                <a:solidFill>
                  <a:schemeClr val="accent5"/>
                </a:solidFill>
              </a:rPr>
              <a:t>Common for gig workers; same as a dead zone</a:t>
            </a:r>
            <a:endParaRPr lang="en-US" sz="1200" dirty="0"/>
          </a:p>
        </p:txBody>
      </p:sp>
      <p:sp>
        <p:nvSpPr>
          <p:cNvPr id="24" name="Why it matters"/>
          <p:cNvSpPr/>
          <p:nvPr/>
        </p:nvSpPr>
        <p:spPr>
          <a:xfrm>
            <a:off x="5669280" y="1234440"/>
            <a:ext cx="3017520" cy="3246120"/>
          </a:xfrm>
          <a:prstGeom prst="roundRect">
            <a:avLst>
              <a:gd name="adj" fmla="val 2424"/>
            </a:avLst>
          </a:prstGeom>
          <a:solidFill>
            <a:schemeClr val="tx2"/>
          </a:solidFill>
          <a:ln w="12700">
            <a:solidFill>
              <a:schemeClr val="tx2"/>
            </a:solidFill>
            <a:prstDash val="solid"/>
          </a:ln>
        </p:spPr>
      </p:sp>
      <p:sp>
        <p:nvSpPr>
          <p:cNvPr id="25" name="Why headline"/>
          <p:cNvSpPr txBox="1"/>
          <p:nvPr/>
        </p:nvSpPr>
        <p:spPr>
          <a:xfrm>
            <a:off x="5897880" y="1463040"/>
            <a:ext cx="2560320" cy="1371600"/>
          </a:xfrm>
          <a:prstGeom prst="rect">
            <a:avLst/>
          </a:prstGeom>
          <a:noFill/>
          <a:ln/>
        </p:spPr>
        <p:txBody>
          <a:bodyPr wrap="square" lIns="0" tIns="0" rIns="0" bIns="0" rtlCol="0" anchor="ctr"/>
          <a:lstStyle/>
          <a:p>
            <a:pPr indent="0" marL="0">
              <a:buNone/>
            </a:pPr>
            <a:r>
              <a:rPr lang="en-US" sz="2100" b="1" dirty="0">
                <a:solidFill>
                  <a:schemeClr val="bg1"/>
                </a:solidFill>
              </a:rPr>
              <a:t>Fear of being stranded slows the switch from petrol.</a:t>
            </a:r>
            <a:endParaRPr lang="en-US" sz="2100" dirty="0"/>
          </a:p>
        </p:txBody>
      </p:sp>
      <p:sp>
        <p:nvSpPr>
          <p:cNvPr id="26" name="Why body"/>
          <p:cNvSpPr txBox="1"/>
          <p:nvPr/>
        </p:nvSpPr>
        <p:spPr>
          <a:xfrm>
            <a:off x="5897880" y="2926080"/>
            <a:ext cx="2560320" cy="914400"/>
          </a:xfrm>
          <a:prstGeom prst="rect">
            <a:avLst/>
          </a:prstGeom>
          <a:noFill/>
          <a:ln/>
        </p:spPr>
        <p:txBody>
          <a:bodyPr wrap="square" lIns="0" tIns="0" rIns="0" bIns="0" rtlCol="0" anchor="ctr"/>
          <a:lstStyle/>
          <a:p>
            <a:pPr indent="0" marL="0">
              <a:buNone/>
            </a:pPr>
            <a:r>
              <a:rPr lang="en-US" sz="1400" dirty="0">
                <a:solidFill>
                  <a:schemeClr val="bg2"/>
                </a:solidFill>
              </a:rPr>
              <a:t>A safety net that works with no signal removes that barrier, without building towers.</a:t>
            </a:r>
            <a:endParaRPr lang="en-US" sz="1400" dirty="0"/>
          </a:p>
        </p:txBody>
      </p:sp>
      <p:sp>
        <p:nvSpPr>
          <p:cNvPr id="27" name="Why caption"/>
          <p:cNvSpPr txBox="1"/>
          <p:nvPr/>
        </p:nvSpPr>
        <p:spPr>
          <a:xfrm>
            <a:off x="5897880" y="3931920"/>
            <a:ext cx="2560320" cy="411480"/>
          </a:xfrm>
          <a:prstGeom prst="rect">
            <a:avLst/>
          </a:prstGeom>
          <a:noFill/>
          <a:ln/>
        </p:spPr>
        <p:txBody>
          <a:bodyPr wrap="square" lIns="0" tIns="0" rIns="0" bIns="0" rtlCol="0" anchor="ctr"/>
          <a:lstStyle/>
          <a:p>
            <a:pPr indent="0" marL="0">
              <a:buNone/>
            </a:pPr>
            <a:r>
              <a:rPr lang="en-US" sz="1100" dirty="0">
                <a:solidFill>
                  <a:srgbClr val="B8C7CA"/>
                </a:solidFill>
              </a:rPr>
              <a:t>Failure frequencies are not yet sourced, so we quote none.</a:t>
            </a:r>
            <a:endParaRPr lang="en-US" sz="11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400" b="1" dirty="0">
                <a:solidFill>
                  <a:schemeClr val="tx1"/>
                </a:solidFill>
              </a:rPr>
              <a:t>Daily use first, safety on top</a:t>
            </a:r>
            <a:endParaRPr lang="en-US" sz="3400" dirty="0"/>
          </a:p>
        </p:txBody>
      </p:sp>
      <p:sp>
        <p:nvSpPr>
          <p:cNvPr id="4" name="Layer 1"/>
          <p:cNvSpPr/>
          <p:nvPr/>
        </p:nvSpPr>
        <p:spPr>
          <a:xfrm>
            <a:off x="457200" y="1234440"/>
            <a:ext cx="2606040" cy="2377440"/>
          </a:xfrm>
          <a:prstGeom prst="roundRect">
            <a:avLst>
              <a:gd name="adj" fmla="val 3077"/>
            </a:avLst>
          </a:prstGeom>
          <a:solidFill>
            <a:schemeClr val="bg2"/>
          </a:solidFill>
          <a:ln w="12700">
            <a:solidFill>
              <a:schemeClr val="bg2"/>
            </a:solidFill>
            <a:prstDash val="solid"/>
          </a:ln>
        </p:spPr>
      </p:sp>
      <p:sp>
        <p:nvSpPr>
          <p:cNvPr id="5" name="Layer 1 badge"/>
          <p:cNvSpPr/>
          <p:nvPr/>
        </p:nvSpPr>
        <p:spPr>
          <a:xfrm>
            <a:off x="685800" y="1417320"/>
            <a:ext cx="548640" cy="548640"/>
          </a:xfrm>
          <a:prstGeom prst="ellipse">
            <a:avLst/>
          </a:prstGeom>
          <a:solidFill>
            <a:srgbClr val="1F8A80"/>
          </a:solidFill>
          <a:ln w="12700">
            <a:solidFill>
              <a:srgbClr val="1F8A80"/>
            </a:solidFill>
            <a:prstDash val="solid"/>
          </a:ln>
        </p:spPr>
      </p:sp>
      <p:pic>
        <p:nvPicPr>
          <p:cNvPr id="6" name="FaChargingStation" descr="ChargingStation icon">    </p:cNvPr>
          <p:cNvPicPr>
            <a:picLocks noChangeAspect="1"/>
          </p:cNvPicPr>
          <p:nvPr/>
        </p:nvPicPr>
        <p:blipFill>
          <a:blip r:embed="rId1"/>
          <a:stretch>
            <a:fillRect/>
          </a:stretch>
        </p:blipFill>
        <p:spPr>
          <a:xfrm>
            <a:off x="817474" y="1548994"/>
            <a:ext cx="285293" cy="285293"/>
          </a:xfrm>
          <a:prstGeom prst="rect">
            <a:avLst/>
          </a:prstGeom>
        </p:spPr>
      </p:pic>
      <p:sp>
        <p:nvSpPr>
          <p:cNvPr id="7" name="Layer title 1"/>
          <p:cNvSpPr txBox="1"/>
          <p:nvPr/>
        </p:nvSpPr>
        <p:spPr>
          <a:xfrm>
            <a:off x="685800" y="2103120"/>
            <a:ext cx="2194560" cy="274320"/>
          </a:xfrm>
          <a:prstGeom prst="rect">
            <a:avLst/>
          </a:prstGeom>
          <a:noFill/>
          <a:ln/>
        </p:spPr>
        <p:txBody>
          <a:bodyPr wrap="square" lIns="0" tIns="0" rIns="0" bIns="0" rtlCol="0" anchor="ctr"/>
          <a:lstStyle/>
          <a:p>
            <a:pPr indent="0" marL="0">
              <a:buNone/>
            </a:pPr>
            <a:r>
              <a:rPr lang="en-US" sz="1600" b="1" dirty="0">
                <a:solidFill>
                  <a:schemeClr val="tx1"/>
                </a:solidFill>
              </a:rPr>
              <a:t>1  Offline battery stock</a:t>
            </a:r>
            <a:endParaRPr lang="en-US" sz="1600" dirty="0"/>
          </a:p>
        </p:txBody>
      </p:sp>
      <p:sp>
        <p:nvSpPr>
          <p:cNvPr id="8" name="Layer text 1"/>
          <p:cNvSpPr txBox="1"/>
          <p:nvPr/>
        </p:nvSpPr>
        <p:spPr>
          <a:xfrm>
            <a:off x="685800" y="2450592"/>
            <a:ext cx="2194560" cy="1051560"/>
          </a:xfrm>
          <a:prstGeom prst="rect">
            <a:avLst/>
          </a:prstGeom>
          <a:noFill/>
          <a:ln/>
        </p:spPr>
        <p:txBody>
          <a:bodyPr wrap="square" lIns="0" tIns="0" rIns="0" bIns="0" rtlCol="0" anchor="ctr"/>
          <a:lstStyle/>
          <a:p>
            <a:pPr indent="0" marL="0">
              <a:buNone/>
            </a:pPr>
            <a:r>
              <a:rPr lang="en-US" sz="1400" dirty="0">
                <a:solidFill>
                  <a:schemeClr val="tx1"/>
                </a:solidFill>
              </a:rPr>
              <a:t>Stations broadcast what is in stock. Phones relay and cache it, so riders see batteries with no signal.</a:t>
            </a:r>
            <a:endParaRPr lang="en-US" sz="1400" dirty="0"/>
          </a:p>
        </p:txBody>
      </p:sp>
      <p:sp>
        <p:nvSpPr>
          <p:cNvPr id="9" name="Layer 2"/>
          <p:cNvSpPr/>
          <p:nvPr/>
        </p:nvSpPr>
        <p:spPr>
          <a:xfrm>
            <a:off x="3268980" y="1234440"/>
            <a:ext cx="2606040" cy="2377440"/>
          </a:xfrm>
          <a:prstGeom prst="roundRect">
            <a:avLst>
              <a:gd name="adj" fmla="val 3077"/>
            </a:avLst>
          </a:prstGeom>
          <a:solidFill>
            <a:schemeClr val="bg2"/>
          </a:solidFill>
          <a:ln w="12700">
            <a:solidFill>
              <a:schemeClr val="bg2"/>
            </a:solidFill>
            <a:prstDash val="solid"/>
          </a:ln>
        </p:spPr>
      </p:sp>
      <p:sp>
        <p:nvSpPr>
          <p:cNvPr id="10" name="Layer 2 badge"/>
          <p:cNvSpPr/>
          <p:nvPr/>
        </p:nvSpPr>
        <p:spPr>
          <a:xfrm>
            <a:off x="3497580" y="1417320"/>
            <a:ext cx="548640" cy="548640"/>
          </a:xfrm>
          <a:prstGeom prst="ellipse">
            <a:avLst/>
          </a:prstGeom>
          <a:solidFill>
            <a:srgbClr val="1F8A80"/>
          </a:solidFill>
          <a:ln w="12700">
            <a:solidFill>
              <a:srgbClr val="1F8A80"/>
            </a:solidFill>
            <a:prstDash val="solid"/>
          </a:ln>
        </p:spPr>
      </p:sp>
      <p:pic>
        <p:nvPicPr>
          <p:cNvPr id="11" name="FaBatteryHalf" descr="BatteryHalf icon">    </p:cNvPr>
          <p:cNvPicPr>
            <a:picLocks noChangeAspect="1"/>
          </p:cNvPicPr>
          <p:nvPr/>
        </p:nvPicPr>
        <p:blipFill>
          <a:blip r:embed="rId2"/>
          <a:stretch>
            <a:fillRect/>
          </a:stretch>
        </p:blipFill>
        <p:spPr>
          <a:xfrm>
            <a:off x="3629254" y="1548994"/>
            <a:ext cx="285293" cy="285293"/>
          </a:xfrm>
          <a:prstGeom prst="rect">
            <a:avLst/>
          </a:prstGeom>
        </p:spPr>
      </p:pic>
      <p:sp>
        <p:nvSpPr>
          <p:cNvPr id="12" name="Layer title 2"/>
          <p:cNvSpPr txBox="1"/>
          <p:nvPr/>
        </p:nvSpPr>
        <p:spPr>
          <a:xfrm>
            <a:off x="3497580" y="2103120"/>
            <a:ext cx="2194560" cy="274320"/>
          </a:xfrm>
          <a:prstGeom prst="rect">
            <a:avLst/>
          </a:prstGeom>
          <a:noFill/>
          <a:ln/>
        </p:spPr>
        <p:txBody>
          <a:bodyPr wrap="square" lIns="0" tIns="0" rIns="0" bIns="0" rtlCol="0" anchor="ctr"/>
          <a:lstStyle/>
          <a:p>
            <a:pPr indent="0" marL="0">
              <a:buNone/>
            </a:pPr>
            <a:r>
              <a:rPr lang="en-US" sz="1600" b="1" dirty="0">
                <a:solidFill>
                  <a:schemeClr val="tx1"/>
                </a:solidFill>
              </a:rPr>
              <a:t>2  Stranding prevention</a:t>
            </a:r>
            <a:endParaRPr lang="en-US" sz="1600" dirty="0"/>
          </a:p>
        </p:txBody>
      </p:sp>
      <p:sp>
        <p:nvSpPr>
          <p:cNvPr id="13" name="Layer text 2"/>
          <p:cNvSpPr txBox="1"/>
          <p:nvPr/>
        </p:nvSpPr>
        <p:spPr>
          <a:xfrm>
            <a:off x="3497580" y="2450592"/>
            <a:ext cx="2194560" cy="1051560"/>
          </a:xfrm>
          <a:prstGeom prst="rect">
            <a:avLst/>
          </a:prstGeom>
          <a:noFill/>
          <a:ln/>
        </p:spPr>
        <p:txBody>
          <a:bodyPr wrap="square" lIns="0" tIns="0" rIns="0" bIns="0" rtlCol="0" anchor="ctr"/>
          <a:lstStyle/>
          <a:p>
            <a:pPr indent="0" marL="0">
              <a:buNone/>
            </a:pPr>
            <a:r>
              <a:rPr lang="en-US" sz="1400" dirty="0">
                <a:solidFill>
                  <a:schemeClr val="tx1"/>
                </a:solidFill>
              </a:rPr>
              <a:t>Rider sets battery %. If no station in range has stock, a warning goes out before they are stranded.</a:t>
            </a:r>
            <a:endParaRPr lang="en-US" sz="1400" dirty="0"/>
          </a:p>
        </p:txBody>
      </p:sp>
      <p:sp>
        <p:nvSpPr>
          <p:cNvPr id="14" name="Layer 3"/>
          <p:cNvSpPr/>
          <p:nvPr/>
        </p:nvSpPr>
        <p:spPr>
          <a:xfrm>
            <a:off x="6080760" y="1234440"/>
            <a:ext cx="2606040" cy="2377440"/>
          </a:xfrm>
          <a:prstGeom prst="roundRect">
            <a:avLst>
              <a:gd name="adj" fmla="val 3077"/>
            </a:avLst>
          </a:prstGeom>
          <a:solidFill>
            <a:schemeClr val="bg2"/>
          </a:solidFill>
          <a:ln w="12700">
            <a:solidFill>
              <a:schemeClr val="bg2"/>
            </a:solidFill>
            <a:prstDash val="solid"/>
          </a:ln>
        </p:spPr>
      </p:sp>
      <p:sp>
        <p:nvSpPr>
          <p:cNvPr id="15" name="Layer 3 badge"/>
          <p:cNvSpPr/>
          <p:nvPr/>
        </p:nvSpPr>
        <p:spPr>
          <a:xfrm>
            <a:off x="6309360" y="1417320"/>
            <a:ext cx="548640" cy="548640"/>
          </a:xfrm>
          <a:prstGeom prst="ellipse">
            <a:avLst/>
          </a:prstGeom>
          <a:solidFill>
            <a:srgbClr val="1F8A80"/>
          </a:solidFill>
          <a:ln w="12700">
            <a:solidFill>
              <a:srgbClr val="1F8A80"/>
            </a:solidFill>
            <a:prstDash val="solid"/>
          </a:ln>
        </p:spPr>
      </p:sp>
      <p:pic>
        <p:nvPicPr>
          <p:cNvPr id="16" name="FaBell" descr="Bell icon">    </p:cNvPr>
          <p:cNvPicPr>
            <a:picLocks noChangeAspect="1"/>
          </p:cNvPicPr>
          <p:nvPr/>
        </p:nvPicPr>
        <p:blipFill>
          <a:blip r:embed="rId3"/>
          <a:stretch>
            <a:fillRect/>
          </a:stretch>
        </p:blipFill>
        <p:spPr>
          <a:xfrm>
            <a:off x="6441034" y="1548994"/>
            <a:ext cx="285293" cy="285293"/>
          </a:xfrm>
          <a:prstGeom prst="rect">
            <a:avLst/>
          </a:prstGeom>
        </p:spPr>
      </p:pic>
      <p:sp>
        <p:nvSpPr>
          <p:cNvPr id="17" name="Layer title 3"/>
          <p:cNvSpPr txBox="1"/>
          <p:nvPr/>
        </p:nvSpPr>
        <p:spPr>
          <a:xfrm>
            <a:off x="6309360" y="2103120"/>
            <a:ext cx="2194560" cy="274320"/>
          </a:xfrm>
          <a:prstGeom prst="rect">
            <a:avLst/>
          </a:prstGeom>
          <a:noFill/>
          <a:ln/>
        </p:spPr>
        <p:txBody>
          <a:bodyPr wrap="square" lIns="0" tIns="0" rIns="0" bIns="0" rtlCol="0" anchor="ctr"/>
          <a:lstStyle/>
          <a:p>
            <a:pPr indent="0" marL="0">
              <a:buNone/>
            </a:pPr>
            <a:r>
              <a:rPr lang="en-US" sz="1600" b="1" dirty="0">
                <a:solidFill>
                  <a:schemeClr val="tx1"/>
                </a:solidFill>
              </a:rPr>
              <a:t>3  SOS relay</a:t>
            </a:r>
            <a:endParaRPr lang="en-US" sz="1600" dirty="0"/>
          </a:p>
        </p:txBody>
      </p:sp>
      <p:sp>
        <p:nvSpPr>
          <p:cNvPr id="18" name="Layer text 3"/>
          <p:cNvSpPr txBox="1"/>
          <p:nvPr/>
        </p:nvSpPr>
        <p:spPr>
          <a:xfrm>
            <a:off x="6309360" y="2450592"/>
            <a:ext cx="2194560" cy="1051560"/>
          </a:xfrm>
          <a:prstGeom prst="rect">
            <a:avLst/>
          </a:prstGeom>
          <a:noFill/>
          <a:ln/>
        </p:spPr>
        <p:txBody>
          <a:bodyPr wrap="square" lIns="0" tIns="0" rIns="0" bIns="0" rtlCol="0" anchor="ctr"/>
          <a:lstStyle/>
          <a:p>
            <a:pPr indent="0" marL="0">
              <a:buNone/>
            </a:pPr>
            <a:r>
              <a:rPr lang="en-US" sz="1400" dirty="0">
                <a:solidFill>
                  <a:schemeClr val="tx1"/>
                </a:solidFill>
              </a:rPr>
              <a:t>Stranded, crash, battery fire or other. The alert hops from rider to rider to a station.</a:t>
            </a:r>
            <a:endParaRPr lang="en-US" sz="1400" dirty="0"/>
          </a:p>
        </p:txBody>
      </p:sp>
      <p:sp>
        <p:nvSpPr>
          <p:cNvPr id="19" name="Insight banner"/>
          <p:cNvSpPr/>
          <p:nvPr/>
        </p:nvSpPr>
        <p:spPr>
          <a:xfrm>
            <a:off x="457200" y="3749040"/>
            <a:ext cx="8229600" cy="868680"/>
          </a:xfrm>
          <a:prstGeom prst="roundRect">
            <a:avLst>
              <a:gd name="adj" fmla="val 8421"/>
            </a:avLst>
          </a:prstGeom>
          <a:solidFill>
            <a:schemeClr val="tx2"/>
          </a:solidFill>
          <a:ln w="12700">
            <a:solidFill>
              <a:schemeClr val="tx2"/>
            </a:solidFill>
            <a:prstDash val="solid"/>
          </a:ln>
        </p:spPr>
      </p:sp>
      <p:sp>
        <p:nvSpPr>
          <p:cNvPr id="20" name="Insight text"/>
          <p:cNvSpPr txBox="1"/>
          <p:nvPr/>
        </p:nvSpPr>
        <p:spPr>
          <a:xfrm>
            <a:off x="685800" y="3840480"/>
            <a:ext cx="7772400" cy="685800"/>
          </a:xfrm>
          <a:prstGeom prst="rect">
            <a:avLst/>
          </a:prstGeom>
          <a:noFill/>
          <a:ln/>
        </p:spPr>
        <p:txBody>
          <a:bodyPr wrap="square" lIns="0" tIns="0" rIns="0" bIns="0" rtlCol="0" anchor="ctr"/>
          <a:lstStyle/>
          <a:p>
            <a:pPr indent="0" marL="0">
              <a:buNone/>
            </a:pPr>
            <a:r>
              <a:rPr lang="en-US" sz="1500" b="1" dirty="0">
                <a:solidFill>
                  <a:schemeClr val="bg1"/>
                </a:solidFill>
              </a:rPr>
              <a:t>An SOS-only mesh never reaches density, because nobody keeps an app open for a rare emergency. Finding batteries daily keeps phones on, and each one is a relay.</a:t>
            </a:r>
            <a:endParaRPr lang="en-US" sz="15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400" b="1" dirty="0">
                <a:solidFill>
                  <a:schemeClr val="tx1"/>
                </a:solidFill>
              </a:rPr>
              <a:t>How it works</a:t>
            </a:r>
            <a:endParaRPr lang="en-US" sz="3400" dirty="0"/>
          </a:p>
        </p:txBody>
      </p:sp>
      <p:sp>
        <p:nvSpPr>
          <p:cNvPr id="4" name="Node Rider phones"/>
          <p:cNvSpPr/>
          <p:nvPr/>
        </p:nvSpPr>
        <p:spPr>
          <a:xfrm>
            <a:off x="457200" y="1280160"/>
            <a:ext cx="1691640" cy="1371600"/>
          </a:xfrm>
          <a:prstGeom prst="roundRect">
            <a:avLst>
              <a:gd name="adj" fmla="val 5333"/>
            </a:avLst>
          </a:prstGeom>
          <a:solidFill>
            <a:schemeClr val="tx2"/>
          </a:solidFill>
          <a:ln w="12700">
            <a:solidFill>
              <a:schemeClr val="tx2"/>
            </a:solidFill>
            <a:prstDash val="solid"/>
          </a:ln>
          <a:effectLst>
            <a:outerShdw sx="100000" sy="100000" kx="0" ky="0" algn="bl" rotWithShape="0" blurRad="76200" dist="25400" dir="5400000">
              <a:srgbClr val="000000">
                <a:alpha val="12000"/>
              </a:srgbClr>
            </a:outerShdw>
          </a:effectLst>
        </p:spPr>
      </p:sp>
      <p:sp>
        <p:nvSpPr>
          <p:cNvPr id="5" name="Rider phones badge"/>
          <p:cNvSpPr/>
          <p:nvPr/>
        </p:nvSpPr>
        <p:spPr>
          <a:xfrm>
            <a:off x="594360" y="1389888"/>
            <a:ext cx="365760" cy="365760"/>
          </a:xfrm>
          <a:prstGeom prst="ellipse">
            <a:avLst/>
          </a:prstGeom>
          <a:solidFill>
            <a:srgbClr val="F5B700"/>
          </a:solidFill>
          <a:ln w="12700">
            <a:solidFill>
              <a:srgbClr val="F5B700"/>
            </a:solidFill>
            <a:prstDash val="solid"/>
          </a:ln>
        </p:spPr>
      </p:sp>
      <p:pic>
        <p:nvPicPr>
          <p:cNvPr id="6" name="FaMobileAlt" descr="MobileAlt icon">    </p:cNvPr>
          <p:cNvPicPr>
            <a:picLocks noChangeAspect="1"/>
          </p:cNvPicPr>
          <p:nvPr/>
        </p:nvPicPr>
        <p:blipFill>
          <a:blip r:embed="rId1"/>
          <a:stretch>
            <a:fillRect/>
          </a:stretch>
        </p:blipFill>
        <p:spPr>
          <a:xfrm>
            <a:off x="682142" y="1477670"/>
            <a:ext cx="190195" cy="190195"/>
          </a:xfrm>
          <a:prstGeom prst="rect">
            <a:avLst/>
          </a:prstGeom>
        </p:spPr>
      </p:pic>
      <p:sp>
        <p:nvSpPr>
          <p:cNvPr id="7" name="Node name 1"/>
          <p:cNvSpPr txBox="1"/>
          <p:nvPr/>
        </p:nvSpPr>
        <p:spPr>
          <a:xfrm>
            <a:off x="594360" y="1828800"/>
            <a:ext cx="1417320" cy="256032"/>
          </a:xfrm>
          <a:prstGeom prst="rect">
            <a:avLst/>
          </a:prstGeom>
          <a:noFill/>
          <a:ln/>
        </p:spPr>
        <p:txBody>
          <a:bodyPr wrap="square" lIns="0" tIns="0" rIns="0" bIns="0" rtlCol="0" anchor="ctr"/>
          <a:lstStyle/>
          <a:p>
            <a:pPr indent="0" marL="0">
              <a:buNone/>
            </a:pPr>
            <a:r>
              <a:rPr lang="en-US" sz="1400" b="1" dirty="0">
                <a:solidFill>
                  <a:schemeClr val="bg1"/>
                </a:solidFill>
              </a:rPr>
              <a:t>Rider phones</a:t>
            </a:r>
            <a:endParaRPr lang="en-US" sz="1400" dirty="0"/>
          </a:p>
        </p:txBody>
      </p:sp>
      <p:sp>
        <p:nvSpPr>
          <p:cNvPr id="8" name="Node caption 1"/>
          <p:cNvSpPr txBox="1"/>
          <p:nvPr/>
        </p:nvSpPr>
        <p:spPr>
          <a:xfrm>
            <a:off x="594360" y="2103120"/>
            <a:ext cx="1417320" cy="502920"/>
          </a:xfrm>
          <a:prstGeom prst="rect">
            <a:avLst/>
          </a:prstGeom>
          <a:noFill/>
          <a:ln/>
        </p:spPr>
        <p:txBody>
          <a:bodyPr wrap="square" lIns="0" tIns="0" rIns="0" bIns="0" rtlCol="0" anchor="ctr"/>
          <a:lstStyle/>
          <a:p>
            <a:pPr indent="0" marL="0">
              <a:buNone/>
            </a:pPr>
            <a:r>
              <a:rPr lang="en-US" sz="1100" dirty="0">
                <a:solidFill>
                  <a:srgbClr val="CFE0DE"/>
                </a:solidFill>
              </a:rPr>
              <a:t>Relay alerts over Bluetooth</a:t>
            </a:r>
            <a:endParaRPr lang="en-US" sz="1100" dirty="0"/>
          </a:p>
        </p:txBody>
      </p:sp>
      <p:sp>
        <p:nvSpPr>
          <p:cNvPr id="9" name="arrow"/>
          <p:cNvSpPr/>
          <p:nvPr/>
        </p:nvSpPr>
        <p:spPr>
          <a:xfrm>
            <a:off x="2176272" y="1965960"/>
            <a:ext cx="402336" cy="0"/>
          </a:xfrm>
          <a:prstGeom prst="line">
            <a:avLst/>
          </a:prstGeom>
          <a:noFill/>
          <a:ln w="28575">
            <a:solidFill>
              <a:srgbClr val="F5B700"/>
            </a:solidFill>
            <a:prstDash val="solid"/>
            <a:tailEnd type="triangle"/>
          </a:ln>
        </p:spPr>
      </p:sp>
      <p:sp>
        <p:nvSpPr>
          <p:cNvPr id="10" name="Node Swap station"/>
          <p:cNvSpPr/>
          <p:nvPr/>
        </p:nvSpPr>
        <p:spPr>
          <a:xfrm>
            <a:off x="2606040" y="1280160"/>
            <a:ext cx="1691640" cy="1371600"/>
          </a:xfrm>
          <a:prstGeom prst="roundRect">
            <a:avLst>
              <a:gd name="adj" fmla="val 5333"/>
            </a:avLst>
          </a:prstGeom>
          <a:solidFill>
            <a:schemeClr val="tx2"/>
          </a:solidFill>
          <a:ln w="12700">
            <a:solidFill>
              <a:schemeClr val="tx2"/>
            </a:solidFill>
            <a:prstDash val="solid"/>
          </a:ln>
          <a:effectLst>
            <a:outerShdw sx="100000" sy="100000" kx="0" ky="0" algn="bl" rotWithShape="0" blurRad="76200" dist="25400" dir="5400000">
              <a:srgbClr val="000000">
                <a:alpha val="12000"/>
              </a:srgbClr>
            </a:outerShdw>
          </a:effectLst>
        </p:spPr>
      </p:sp>
      <p:sp>
        <p:nvSpPr>
          <p:cNvPr id="11" name="Swap station badge"/>
          <p:cNvSpPr/>
          <p:nvPr/>
        </p:nvSpPr>
        <p:spPr>
          <a:xfrm>
            <a:off x="2743200" y="1389888"/>
            <a:ext cx="365760" cy="365760"/>
          </a:xfrm>
          <a:prstGeom prst="ellipse">
            <a:avLst/>
          </a:prstGeom>
          <a:solidFill>
            <a:srgbClr val="F5B700"/>
          </a:solidFill>
          <a:ln w="12700">
            <a:solidFill>
              <a:srgbClr val="F5B700"/>
            </a:solidFill>
            <a:prstDash val="solid"/>
          </a:ln>
        </p:spPr>
      </p:sp>
      <p:pic>
        <p:nvPicPr>
          <p:cNvPr id="12" name="FaBroadcastTower" descr="BroadcastTower icon">    </p:cNvPr>
          <p:cNvPicPr>
            <a:picLocks noChangeAspect="1"/>
          </p:cNvPicPr>
          <p:nvPr/>
        </p:nvPicPr>
        <p:blipFill>
          <a:blip r:embed="rId2"/>
          <a:stretch>
            <a:fillRect/>
          </a:stretch>
        </p:blipFill>
        <p:spPr>
          <a:xfrm>
            <a:off x="2830982" y="1477670"/>
            <a:ext cx="190195" cy="190195"/>
          </a:xfrm>
          <a:prstGeom prst="rect">
            <a:avLst/>
          </a:prstGeom>
        </p:spPr>
      </p:pic>
      <p:sp>
        <p:nvSpPr>
          <p:cNvPr id="13" name="Node name 2"/>
          <p:cNvSpPr txBox="1"/>
          <p:nvPr/>
        </p:nvSpPr>
        <p:spPr>
          <a:xfrm>
            <a:off x="2743200" y="1828800"/>
            <a:ext cx="1417320" cy="256032"/>
          </a:xfrm>
          <a:prstGeom prst="rect">
            <a:avLst/>
          </a:prstGeom>
          <a:noFill/>
          <a:ln/>
        </p:spPr>
        <p:txBody>
          <a:bodyPr wrap="square" lIns="0" tIns="0" rIns="0" bIns="0" rtlCol="0" anchor="ctr"/>
          <a:lstStyle/>
          <a:p>
            <a:pPr indent="0" marL="0">
              <a:buNone/>
            </a:pPr>
            <a:r>
              <a:rPr lang="en-US" sz="1400" b="1" dirty="0">
                <a:solidFill>
                  <a:schemeClr val="bg1"/>
                </a:solidFill>
              </a:rPr>
              <a:t>Swap station</a:t>
            </a:r>
            <a:endParaRPr lang="en-US" sz="1400" dirty="0"/>
          </a:p>
        </p:txBody>
      </p:sp>
      <p:sp>
        <p:nvSpPr>
          <p:cNvPr id="14" name="Node caption 2"/>
          <p:cNvSpPr txBox="1"/>
          <p:nvPr/>
        </p:nvSpPr>
        <p:spPr>
          <a:xfrm>
            <a:off x="2743200" y="2103120"/>
            <a:ext cx="1417320" cy="502920"/>
          </a:xfrm>
          <a:prstGeom prst="rect">
            <a:avLst/>
          </a:prstGeom>
          <a:noFill/>
          <a:ln/>
        </p:spPr>
        <p:txBody>
          <a:bodyPr wrap="square" lIns="0" tIns="0" rIns="0" bIns="0" rtlCol="0" anchor="ctr"/>
          <a:lstStyle/>
          <a:p>
            <a:pPr indent="0" marL="0">
              <a:buNone/>
            </a:pPr>
            <a:r>
              <a:rPr lang="en-US" sz="1100" dirty="0">
                <a:solidFill>
                  <a:srgbClr val="CFE0DE"/>
                </a:solidFill>
              </a:rPr>
              <a:t>Gateway: the only part that needs internet</a:t>
            </a:r>
            <a:endParaRPr lang="en-US" sz="1100" dirty="0"/>
          </a:p>
        </p:txBody>
      </p:sp>
      <p:sp>
        <p:nvSpPr>
          <p:cNvPr id="15" name="arrow"/>
          <p:cNvSpPr/>
          <p:nvPr/>
        </p:nvSpPr>
        <p:spPr>
          <a:xfrm>
            <a:off x="4325112" y="1965960"/>
            <a:ext cx="402336" cy="0"/>
          </a:xfrm>
          <a:prstGeom prst="line">
            <a:avLst/>
          </a:prstGeom>
          <a:noFill/>
          <a:ln w="28575">
            <a:solidFill>
              <a:srgbClr val="F5B700"/>
            </a:solidFill>
            <a:prstDash val="solid"/>
            <a:tailEnd type="triangle"/>
          </a:ln>
        </p:spPr>
      </p:sp>
      <p:sp>
        <p:nvSpPr>
          <p:cNvPr id="16" name="Node Backend"/>
          <p:cNvSpPr/>
          <p:nvPr/>
        </p:nvSpPr>
        <p:spPr>
          <a:xfrm>
            <a:off x="4754880" y="1280160"/>
            <a:ext cx="1691640" cy="1371600"/>
          </a:xfrm>
          <a:prstGeom prst="roundRect">
            <a:avLst>
              <a:gd name="adj" fmla="val 5333"/>
            </a:avLst>
          </a:prstGeom>
          <a:solidFill>
            <a:schemeClr val="tx2"/>
          </a:solidFill>
          <a:ln w="12700">
            <a:solidFill>
              <a:schemeClr val="tx2"/>
            </a:solidFill>
            <a:prstDash val="solid"/>
          </a:ln>
          <a:effectLst>
            <a:outerShdw sx="100000" sy="100000" kx="0" ky="0" algn="bl" rotWithShape="0" blurRad="76200" dist="25400" dir="5400000">
              <a:srgbClr val="000000">
                <a:alpha val="12000"/>
              </a:srgbClr>
            </a:outerShdw>
          </a:effectLst>
        </p:spPr>
      </p:sp>
      <p:sp>
        <p:nvSpPr>
          <p:cNvPr id="17" name="Backend badge"/>
          <p:cNvSpPr/>
          <p:nvPr/>
        </p:nvSpPr>
        <p:spPr>
          <a:xfrm>
            <a:off x="4892040" y="1389888"/>
            <a:ext cx="365760" cy="365760"/>
          </a:xfrm>
          <a:prstGeom prst="ellipse">
            <a:avLst/>
          </a:prstGeom>
          <a:solidFill>
            <a:srgbClr val="F5B700"/>
          </a:solidFill>
          <a:ln w="12700">
            <a:solidFill>
              <a:srgbClr val="F5B700"/>
            </a:solidFill>
            <a:prstDash val="solid"/>
          </a:ln>
        </p:spPr>
      </p:sp>
      <p:pic>
        <p:nvPicPr>
          <p:cNvPr id="18" name="FaServer" descr="Server icon">    </p:cNvPr>
          <p:cNvPicPr>
            <a:picLocks noChangeAspect="1"/>
          </p:cNvPicPr>
          <p:nvPr/>
        </p:nvPicPr>
        <p:blipFill>
          <a:blip r:embed="rId3"/>
          <a:stretch>
            <a:fillRect/>
          </a:stretch>
        </p:blipFill>
        <p:spPr>
          <a:xfrm>
            <a:off x="4979822" y="1477670"/>
            <a:ext cx="190195" cy="190195"/>
          </a:xfrm>
          <a:prstGeom prst="rect">
            <a:avLst/>
          </a:prstGeom>
        </p:spPr>
      </p:pic>
      <p:sp>
        <p:nvSpPr>
          <p:cNvPr id="19" name="Node name 3"/>
          <p:cNvSpPr txBox="1"/>
          <p:nvPr/>
        </p:nvSpPr>
        <p:spPr>
          <a:xfrm>
            <a:off x="4892040" y="1828800"/>
            <a:ext cx="1417320" cy="256032"/>
          </a:xfrm>
          <a:prstGeom prst="rect">
            <a:avLst/>
          </a:prstGeom>
          <a:noFill/>
          <a:ln/>
        </p:spPr>
        <p:txBody>
          <a:bodyPr wrap="square" lIns="0" tIns="0" rIns="0" bIns="0" rtlCol="0" anchor="ctr"/>
          <a:lstStyle/>
          <a:p>
            <a:pPr indent="0" marL="0">
              <a:buNone/>
            </a:pPr>
            <a:r>
              <a:rPr lang="en-US" sz="1400" b="1" dirty="0">
                <a:solidFill>
                  <a:schemeClr val="bg1"/>
                </a:solidFill>
              </a:rPr>
              <a:t>Backend</a:t>
            </a:r>
            <a:endParaRPr lang="en-US" sz="1400" dirty="0"/>
          </a:p>
        </p:txBody>
      </p:sp>
      <p:sp>
        <p:nvSpPr>
          <p:cNvPr id="20" name="Node caption 3"/>
          <p:cNvSpPr txBox="1"/>
          <p:nvPr/>
        </p:nvSpPr>
        <p:spPr>
          <a:xfrm>
            <a:off x="4892040" y="2103120"/>
            <a:ext cx="1417320" cy="502920"/>
          </a:xfrm>
          <a:prstGeom prst="rect">
            <a:avLst/>
          </a:prstGeom>
          <a:noFill/>
          <a:ln/>
        </p:spPr>
        <p:txBody>
          <a:bodyPr wrap="square" lIns="0" tIns="0" rIns="0" bIns="0" rtlCol="0" anchor="ctr"/>
          <a:lstStyle/>
          <a:p>
            <a:pPr indent="0" marL="0">
              <a:buNone/>
            </a:pPr>
            <a:r>
              <a:rPr lang="en-US" sz="1100" dirty="0">
                <a:solidFill>
                  <a:srgbClr val="CFE0DE"/>
                </a:solidFill>
              </a:rPr>
              <a:t>Supabase database + API on Render</a:t>
            </a:r>
            <a:endParaRPr lang="en-US" sz="1100" dirty="0"/>
          </a:p>
        </p:txBody>
      </p:sp>
      <p:sp>
        <p:nvSpPr>
          <p:cNvPr id="21" name="arrow"/>
          <p:cNvSpPr/>
          <p:nvPr/>
        </p:nvSpPr>
        <p:spPr>
          <a:xfrm>
            <a:off x="6473952" y="1965960"/>
            <a:ext cx="402336" cy="0"/>
          </a:xfrm>
          <a:prstGeom prst="line">
            <a:avLst/>
          </a:prstGeom>
          <a:noFill/>
          <a:ln w="28575">
            <a:solidFill>
              <a:srgbClr val="F5B700"/>
            </a:solidFill>
            <a:prstDash val="solid"/>
            <a:tailEnd type="triangle"/>
          </a:ln>
        </p:spPr>
      </p:sp>
      <p:sp>
        <p:nvSpPr>
          <p:cNvPr id="22" name="Node Admin portal"/>
          <p:cNvSpPr/>
          <p:nvPr/>
        </p:nvSpPr>
        <p:spPr>
          <a:xfrm>
            <a:off x="6903720" y="1280160"/>
            <a:ext cx="1691640" cy="1371600"/>
          </a:xfrm>
          <a:prstGeom prst="roundRect">
            <a:avLst>
              <a:gd name="adj" fmla="val 5333"/>
            </a:avLst>
          </a:prstGeom>
          <a:solidFill>
            <a:schemeClr val="tx2"/>
          </a:solidFill>
          <a:ln w="12700">
            <a:solidFill>
              <a:schemeClr val="tx2"/>
            </a:solidFill>
            <a:prstDash val="solid"/>
          </a:ln>
          <a:effectLst>
            <a:outerShdw sx="100000" sy="100000" kx="0" ky="0" algn="bl" rotWithShape="0" blurRad="76200" dist="25400" dir="5400000">
              <a:srgbClr val="000000">
                <a:alpha val="12000"/>
              </a:srgbClr>
            </a:outerShdw>
          </a:effectLst>
        </p:spPr>
      </p:sp>
      <p:sp>
        <p:nvSpPr>
          <p:cNvPr id="23" name="Admin portal badge"/>
          <p:cNvSpPr/>
          <p:nvPr/>
        </p:nvSpPr>
        <p:spPr>
          <a:xfrm>
            <a:off x="7040880" y="1389888"/>
            <a:ext cx="365760" cy="365760"/>
          </a:xfrm>
          <a:prstGeom prst="ellipse">
            <a:avLst/>
          </a:prstGeom>
          <a:solidFill>
            <a:srgbClr val="F5B700"/>
          </a:solidFill>
          <a:ln w="12700">
            <a:solidFill>
              <a:srgbClr val="F5B700"/>
            </a:solidFill>
            <a:prstDash val="solid"/>
          </a:ln>
        </p:spPr>
      </p:sp>
      <p:pic>
        <p:nvPicPr>
          <p:cNvPr id="24" name="FaMapMarkedAlt" descr="MapMarkedAlt icon">    </p:cNvPr>
          <p:cNvPicPr>
            <a:picLocks noChangeAspect="1"/>
          </p:cNvPicPr>
          <p:nvPr/>
        </p:nvPicPr>
        <p:blipFill>
          <a:blip r:embed="rId4"/>
          <a:stretch>
            <a:fillRect/>
          </a:stretch>
        </p:blipFill>
        <p:spPr>
          <a:xfrm>
            <a:off x="7128662" y="1477670"/>
            <a:ext cx="190195" cy="190195"/>
          </a:xfrm>
          <a:prstGeom prst="rect">
            <a:avLst/>
          </a:prstGeom>
        </p:spPr>
      </p:pic>
      <p:sp>
        <p:nvSpPr>
          <p:cNvPr id="25" name="Node name 4"/>
          <p:cNvSpPr txBox="1"/>
          <p:nvPr/>
        </p:nvSpPr>
        <p:spPr>
          <a:xfrm>
            <a:off x="7040880" y="1828800"/>
            <a:ext cx="1417320" cy="256032"/>
          </a:xfrm>
          <a:prstGeom prst="rect">
            <a:avLst/>
          </a:prstGeom>
          <a:noFill/>
          <a:ln/>
        </p:spPr>
        <p:txBody>
          <a:bodyPr wrap="square" lIns="0" tIns="0" rIns="0" bIns="0" rtlCol="0" anchor="ctr"/>
          <a:lstStyle/>
          <a:p>
            <a:pPr indent="0" marL="0">
              <a:buNone/>
            </a:pPr>
            <a:r>
              <a:rPr lang="en-US" sz="1400" b="1" dirty="0">
                <a:solidFill>
                  <a:schemeClr val="bg1"/>
                </a:solidFill>
              </a:rPr>
              <a:t>Admin portal</a:t>
            </a:r>
            <a:endParaRPr lang="en-US" sz="1400" dirty="0"/>
          </a:p>
        </p:txBody>
      </p:sp>
      <p:sp>
        <p:nvSpPr>
          <p:cNvPr id="26" name="Node caption 4"/>
          <p:cNvSpPr txBox="1"/>
          <p:nvPr/>
        </p:nvSpPr>
        <p:spPr>
          <a:xfrm>
            <a:off x="7040880" y="2103120"/>
            <a:ext cx="1417320" cy="502920"/>
          </a:xfrm>
          <a:prstGeom prst="rect">
            <a:avLst/>
          </a:prstGeom>
          <a:noFill/>
          <a:ln/>
        </p:spPr>
        <p:txBody>
          <a:bodyPr wrap="square" lIns="0" tIns="0" rIns="0" bIns="0" rtlCol="0" anchor="ctr"/>
          <a:lstStyle/>
          <a:p>
            <a:pPr indent="0" marL="0">
              <a:buNone/>
            </a:pPr>
            <a:r>
              <a:rPr lang="en-US" sz="1100" dirty="0">
                <a:solidFill>
                  <a:srgbClr val="CFE0DE"/>
                </a:solidFill>
              </a:rPr>
              <a:t>Live map, alerts, stock, vehicles</a:t>
            </a:r>
            <a:endParaRPr lang="en-US" sz="1100" dirty="0"/>
          </a:p>
        </p:txBody>
      </p:sp>
      <p:sp>
        <p:nvSpPr>
          <p:cNvPr id="27" name="Node Scooter"/>
          <p:cNvSpPr/>
          <p:nvPr/>
        </p:nvSpPr>
        <p:spPr>
          <a:xfrm>
            <a:off x="4754880" y="3337560"/>
            <a:ext cx="1691640" cy="1188720"/>
          </a:xfrm>
          <a:prstGeom prst="roundRect">
            <a:avLst>
              <a:gd name="adj" fmla="val 6154"/>
            </a:avLst>
          </a:prstGeom>
          <a:solidFill>
            <a:schemeClr val="accent1"/>
          </a:solidFill>
          <a:ln w="12700">
            <a:solidFill>
              <a:schemeClr val="accent1"/>
            </a:solidFill>
            <a:prstDash val="solid"/>
          </a:ln>
          <a:effectLst>
            <a:outerShdw sx="100000" sy="100000" kx="0" ky="0" algn="bl" rotWithShape="0" blurRad="76200" dist="25400" dir="5400000">
              <a:srgbClr val="000000">
                <a:alpha val="12000"/>
              </a:srgbClr>
            </a:outerShdw>
          </a:effectLst>
        </p:spPr>
      </p:sp>
      <p:sp>
        <p:nvSpPr>
          <p:cNvPr id="28" name="Scooter name"/>
          <p:cNvSpPr txBox="1"/>
          <p:nvPr/>
        </p:nvSpPr>
        <p:spPr>
          <a:xfrm>
            <a:off x="4892040" y="3474720"/>
            <a:ext cx="1417320" cy="256032"/>
          </a:xfrm>
          <a:prstGeom prst="rect">
            <a:avLst/>
          </a:prstGeom>
          <a:noFill/>
          <a:ln/>
        </p:spPr>
        <p:txBody>
          <a:bodyPr wrap="square" lIns="0" tIns="0" rIns="0" bIns="0" rtlCol="0" anchor="ctr"/>
          <a:lstStyle/>
          <a:p>
            <a:pPr indent="0" marL="0">
              <a:buNone/>
            </a:pPr>
            <a:r>
              <a:rPr lang="en-US" sz="1400" b="1" dirty="0">
                <a:solidFill>
                  <a:schemeClr val="tx1"/>
                </a:solidFill>
              </a:rPr>
              <a:t>Scooter unit</a:t>
            </a:r>
            <a:endParaRPr lang="en-US" sz="1400" dirty="0"/>
          </a:p>
        </p:txBody>
      </p:sp>
      <p:sp>
        <p:nvSpPr>
          <p:cNvPr id="29" name="Scooter caption"/>
          <p:cNvSpPr txBox="1"/>
          <p:nvPr/>
        </p:nvSpPr>
        <p:spPr>
          <a:xfrm>
            <a:off x="4892040" y="3749040"/>
            <a:ext cx="1417320" cy="685800"/>
          </a:xfrm>
          <a:prstGeom prst="rect">
            <a:avLst/>
          </a:prstGeom>
          <a:noFill/>
          <a:ln/>
        </p:spPr>
        <p:txBody>
          <a:bodyPr wrap="square" lIns="0" tIns="0" rIns="0" bIns="0" rtlCol="0" anchor="ctr"/>
          <a:lstStyle/>
          <a:p>
            <a:pPr indent="0" marL="0">
              <a:buNone/>
            </a:pPr>
            <a:r>
              <a:rPr lang="en-US" sz="1100" dirty="0">
                <a:solidFill>
                  <a:schemeClr val="tx1"/>
                </a:solidFill>
              </a:rPr>
              <a:t>Reports battery and events, asks for holds</a:t>
            </a:r>
            <a:endParaRPr lang="en-US" sz="1100" dirty="0"/>
          </a:p>
        </p:txBody>
      </p:sp>
      <p:sp>
        <p:nvSpPr>
          <p:cNvPr id="30" name="arrow"/>
          <p:cNvSpPr/>
          <p:nvPr/>
        </p:nvSpPr>
        <p:spPr>
          <a:xfrm flipV="1">
            <a:off x="5596128" y="2679192"/>
            <a:ext cx="0" cy="630936"/>
          </a:xfrm>
          <a:prstGeom prst="line">
            <a:avLst/>
          </a:prstGeom>
          <a:noFill/>
          <a:ln w="28575">
            <a:solidFill>
              <a:srgbClr val="F5B700"/>
            </a:solidFill>
            <a:prstDash val="solid"/>
            <a:tailEnd type="triangle"/>
          </a:ln>
        </p:spPr>
      </p:sp>
      <p:sp>
        <p:nvSpPr>
          <p:cNvPr id="31" name="Radio note"/>
          <p:cNvSpPr/>
          <p:nvPr/>
        </p:nvSpPr>
        <p:spPr>
          <a:xfrm>
            <a:off x="457200" y="3337560"/>
            <a:ext cx="4023360" cy="1188720"/>
          </a:xfrm>
          <a:prstGeom prst="roundRect">
            <a:avLst>
              <a:gd name="adj" fmla="val 6154"/>
            </a:avLst>
          </a:prstGeom>
          <a:solidFill>
            <a:schemeClr val="bg2"/>
          </a:solidFill>
          <a:ln w="12700">
            <a:solidFill>
              <a:schemeClr val="bg2"/>
            </a:solidFill>
            <a:prstDash val="solid"/>
          </a:ln>
        </p:spPr>
      </p:sp>
      <p:sp>
        <p:nvSpPr>
          <p:cNvPr id="32" name="Radio note text"/>
          <p:cNvSpPr txBox="1"/>
          <p:nvPr/>
        </p:nvSpPr>
        <p:spPr>
          <a:xfrm>
            <a:off x="640080" y="3429000"/>
            <a:ext cx="3657600" cy="1005840"/>
          </a:xfrm>
          <a:prstGeom prst="rect">
            <a:avLst/>
          </a:prstGeom>
          <a:noFill/>
          <a:ln/>
        </p:spPr>
        <p:txBody>
          <a:bodyPr wrap="square" lIns="0" tIns="0" rIns="0" bIns="0" rtlCol="0" anchor="ctr"/>
          <a:lstStyle/>
          <a:p>
            <a:pPr indent="0" marL="0">
              <a:buNone/>
            </a:pPr>
            <a:r>
              <a:rPr lang="en-US" sz="1400" dirty="0">
                <a:solidFill>
                  <a:schemeClr val="tx1"/>
                </a:solidFill>
              </a:rPr>
              <a:t>Bluetooth carries discovery and a 24-byte alert. Wi-Fi Direct carries bigger payloads. Only the station needs internet.</a:t>
            </a:r>
            <a:endParaRPr lang="en-US" sz="1400" dirty="0"/>
          </a:p>
        </p:txBody>
      </p:sp>
      <p:sp>
        <p:nvSpPr>
          <p:cNvPr id="33" name="API note"/>
          <p:cNvSpPr txBox="1"/>
          <p:nvPr/>
        </p:nvSpPr>
        <p:spPr>
          <a:xfrm>
            <a:off x="6903720" y="3474720"/>
            <a:ext cx="1691640" cy="548640"/>
          </a:xfrm>
          <a:prstGeom prst="rect">
            <a:avLst/>
          </a:prstGeom>
          <a:noFill/>
          <a:ln/>
        </p:spPr>
        <p:txBody>
          <a:bodyPr wrap="square" lIns="0" tIns="0" rIns="0" bIns="0" rtlCol="0" anchor="ctr"/>
          <a:lstStyle/>
          <a:p>
            <a:pPr indent="0" marL="0">
              <a:buNone/>
            </a:pPr>
            <a:r>
              <a:rPr lang="en-US" sz="1200" dirty="0">
                <a:solidFill>
                  <a:schemeClr val="accent5"/>
                </a:solidFill>
              </a:rPr>
              <a:t>Any unit that can send HTTPS can join</a:t>
            </a:r>
            <a:endParaRPr lang="en-US" sz="12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400" b="1" dirty="0">
                <a:solidFill>
                  <a:schemeClr val="tx1"/>
                </a:solidFill>
              </a:rPr>
              <a:t>What we built</a:t>
            </a:r>
            <a:endParaRPr lang="en-US" sz="3400" dirty="0"/>
          </a:p>
        </p:txBody>
      </p:sp>
      <p:sp>
        <p:nvSpPr>
          <p:cNvPr id="4" name="Status Backend"/>
          <p:cNvSpPr/>
          <p:nvPr/>
        </p:nvSpPr>
        <p:spPr>
          <a:xfrm>
            <a:off x="457200" y="1234440"/>
            <a:ext cx="1920240" cy="2514600"/>
          </a:xfrm>
          <a:prstGeom prst="roundRect">
            <a:avLst>
              <a:gd name="adj" fmla="val 3810"/>
            </a:avLst>
          </a:prstGeom>
          <a:solidFill>
            <a:schemeClr val="bg2"/>
          </a:solidFill>
          <a:ln w="12700">
            <a:solidFill>
              <a:schemeClr val="bg2"/>
            </a:solidFill>
            <a:prstDash val="solid"/>
          </a:ln>
        </p:spPr>
      </p:sp>
      <p:sp>
        <p:nvSpPr>
          <p:cNvPr id="5" name="Backend badge"/>
          <p:cNvSpPr/>
          <p:nvPr/>
        </p:nvSpPr>
        <p:spPr>
          <a:xfrm>
            <a:off x="640080" y="1371600"/>
            <a:ext cx="457200" cy="457200"/>
          </a:xfrm>
          <a:prstGeom prst="ellipse">
            <a:avLst/>
          </a:prstGeom>
          <a:solidFill>
            <a:srgbClr val="0B1F24"/>
          </a:solidFill>
          <a:ln w="12700">
            <a:solidFill>
              <a:srgbClr val="0B1F24"/>
            </a:solidFill>
            <a:prstDash val="solid"/>
          </a:ln>
        </p:spPr>
      </p:sp>
      <p:pic>
        <p:nvPicPr>
          <p:cNvPr id="6" name="FaServer" descr="Server icon">    </p:cNvPr>
          <p:cNvPicPr>
            <a:picLocks noChangeAspect="1"/>
          </p:cNvPicPr>
          <p:nvPr/>
        </p:nvPicPr>
        <p:blipFill>
          <a:blip r:embed="rId1"/>
          <a:stretch>
            <a:fillRect/>
          </a:stretch>
        </p:blipFill>
        <p:spPr>
          <a:xfrm>
            <a:off x="749808" y="1481328"/>
            <a:ext cx="237744" cy="237744"/>
          </a:xfrm>
          <a:prstGeom prst="rect">
            <a:avLst/>
          </a:prstGeom>
        </p:spPr>
      </p:pic>
      <p:sp>
        <p:nvSpPr>
          <p:cNvPr id="7" name="Status name 1"/>
          <p:cNvSpPr txBox="1"/>
          <p:nvPr/>
        </p:nvSpPr>
        <p:spPr>
          <a:xfrm>
            <a:off x="640080" y="1920240"/>
            <a:ext cx="1554480" cy="274320"/>
          </a:xfrm>
          <a:prstGeom prst="rect">
            <a:avLst/>
          </a:prstGeom>
          <a:noFill/>
          <a:ln/>
        </p:spPr>
        <p:txBody>
          <a:bodyPr wrap="square" lIns="0" tIns="0" rIns="0" bIns="0" rtlCol="0" anchor="ctr"/>
          <a:lstStyle/>
          <a:p>
            <a:pPr indent="0" marL="0">
              <a:buNone/>
            </a:pPr>
            <a:r>
              <a:rPr lang="en-US" sz="1600" b="1" dirty="0">
                <a:solidFill>
                  <a:schemeClr val="tx1"/>
                </a:solidFill>
              </a:rPr>
              <a:t>Backend</a:t>
            </a:r>
            <a:endParaRPr lang="en-US" sz="1600" dirty="0"/>
          </a:p>
        </p:txBody>
      </p:sp>
      <p:sp>
        <p:nvSpPr>
          <p:cNvPr id="8" name="Pill Backend"/>
          <p:cNvSpPr/>
          <p:nvPr/>
        </p:nvSpPr>
        <p:spPr>
          <a:xfrm>
            <a:off x="640080" y="2240280"/>
            <a:ext cx="777240" cy="237744"/>
          </a:xfrm>
          <a:prstGeom prst="roundRect">
            <a:avLst>
              <a:gd name="adj" fmla="val 50000"/>
            </a:avLst>
          </a:prstGeom>
          <a:solidFill>
            <a:srgbClr val="3FA34D"/>
          </a:solidFill>
          <a:ln w="12700">
            <a:solidFill>
              <a:srgbClr val="3FA34D"/>
            </a:solidFill>
            <a:prstDash val="solid"/>
          </a:ln>
        </p:spPr>
      </p:sp>
      <p:sp>
        <p:nvSpPr>
          <p:cNvPr id="9" name="Pill text 1"/>
          <p:cNvSpPr txBox="1"/>
          <p:nvPr/>
        </p:nvSpPr>
        <p:spPr>
          <a:xfrm>
            <a:off x="640080" y="2240280"/>
            <a:ext cx="777240" cy="237744"/>
          </a:xfrm>
          <a:prstGeom prst="rect">
            <a:avLst/>
          </a:prstGeom>
          <a:noFill/>
          <a:ln/>
        </p:spPr>
        <p:txBody>
          <a:bodyPr wrap="square" lIns="0" tIns="0" rIns="0" bIns="0" rtlCol="0" anchor="ctr"/>
          <a:lstStyle/>
          <a:p>
            <a:pPr algn="ctr" indent="0" marL="0">
              <a:buNone/>
            </a:pPr>
            <a:r>
              <a:rPr lang="en-US" sz="1100" b="1" dirty="0">
                <a:solidFill>
                  <a:schemeClr val="bg1"/>
                </a:solidFill>
              </a:rPr>
              <a:t>Live</a:t>
            </a:r>
            <a:endParaRPr lang="en-US" sz="1100" dirty="0"/>
          </a:p>
        </p:txBody>
      </p:sp>
      <p:sp>
        <p:nvSpPr>
          <p:cNvPr id="10" name="Status text 1"/>
          <p:cNvSpPr txBox="1"/>
          <p:nvPr/>
        </p:nvSpPr>
        <p:spPr>
          <a:xfrm>
            <a:off x="640080" y="2606040"/>
            <a:ext cx="1554480" cy="1097280"/>
          </a:xfrm>
          <a:prstGeom prst="rect">
            <a:avLst/>
          </a:prstGeom>
          <a:noFill/>
          <a:ln/>
        </p:spPr>
        <p:txBody>
          <a:bodyPr wrap="square" lIns="0" tIns="0" rIns="0" bIns="0" rtlCol="0" anchor="ctr"/>
          <a:lstStyle/>
          <a:p>
            <a:pPr indent="0" marL="0">
              <a:buNone/>
            </a:pPr>
            <a:r>
              <a:rPr lang="en-US" sz="1200" dirty="0">
                <a:solidFill>
                  <a:schemeClr val="tx1"/>
                </a:solidFill>
              </a:rPr>
              <a:t>Database, 6 API functions, access rules and battery holds on Supabase and Render.</a:t>
            </a:r>
            <a:endParaRPr lang="en-US" sz="1200" dirty="0"/>
          </a:p>
        </p:txBody>
      </p:sp>
      <p:sp>
        <p:nvSpPr>
          <p:cNvPr id="11" name="Status Admin portal"/>
          <p:cNvSpPr/>
          <p:nvPr/>
        </p:nvSpPr>
        <p:spPr>
          <a:xfrm>
            <a:off x="2560320" y="1234440"/>
            <a:ext cx="1920240" cy="2514600"/>
          </a:xfrm>
          <a:prstGeom prst="roundRect">
            <a:avLst>
              <a:gd name="adj" fmla="val 3810"/>
            </a:avLst>
          </a:prstGeom>
          <a:solidFill>
            <a:schemeClr val="bg2"/>
          </a:solidFill>
          <a:ln w="12700">
            <a:solidFill>
              <a:schemeClr val="bg2"/>
            </a:solidFill>
            <a:prstDash val="solid"/>
          </a:ln>
        </p:spPr>
      </p:sp>
      <p:sp>
        <p:nvSpPr>
          <p:cNvPr id="12" name="Admin portal badge"/>
          <p:cNvSpPr/>
          <p:nvPr/>
        </p:nvSpPr>
        <p:spPr>
          <a:xfrm>
            <a:off x="2743200" y="1371600"/>
            <a:ext cx="457200" cy="457200"/>
          </a:xfrm>
          <a:prstGeom prst="ellipse">
            <a:avLst/>
          </a:prstGeom>
          <a:solidFill>
            <a:srgbClr val="0B1F24"/>
          </a:solidFill>
          <a:ln w="12700">
            <a:solidFill>
              <a:srgbClr val="0B1F24"/>
            </a:solidFill>
            <a:prstDash val="solid"/>
          </a:ln>
        </p:spPr>
      </p:sp>
      <p:pic>
        <p:nvPicPr>
          <p:cNvPr id="13" name="FaMapMarkedAlt" descr="MapMarkedAlt icon">    </p:cNvPr>
          <p:cNvPicPr>
            <a:picLocks noChangeAspect="1"/>
          </p:cNvPicPr>
          <p:nvPr/>
        </p:nvPicPr>
        <p:blipFill>
          <a:blip r:embed="rId2"/>
          <a:stretch>
            <a:fillRect/>
          </a:stretch>
        </p:blipFill>
        <p:spPr>
          <a:xfrm>
            <a:off x="2852928" y="1481328"/>
            <a:ext cx="237744" cy="237744"/>
          </a:xfrm>
          <a:prstGeom prst="rect">
            <a:avLst/>
          </a:prstGeom>
        </p:spPr>
      </p:pic>
      <p:sp>
        <p:nvSpPr>
          <p:cNvPr id="14" name="Status name 2"/>
          <p:cNvSpPr txBox="1"/>
          <p:nvPr/>
        </p:nvSpPr>
        <p:spPr>
          <a:xfrm>
            <a:off x="2743200" y="1920240"/>
            <a:ext cx="1554480" cy="274320"/>
          </a:xfrm>
          <a:prstGeom prst="rect">
            <a:avLst/>
          </a:prstGeom>
          <a:noFill/>
          <a:ln/>
        </p:spPr>
        <p:txBody>
          <a:bodyPr wrap="square" lIns="0" tIns="0" rIns="0" bIns="0" rtlCol="0" anchor="ctr"/>
          <a:lstStyle/>
          <a:p>
            <a:pPr indent="0" marL="0">
              <a:buNone/>
            </a:pPr>
            <a:r>
              <a:rPr lang="en-US" sz="1600" b="1" dirty="0">
                <a:solidFill>
                  <a:schemeClr val="tx1"/>
                </a:solidFill>
              </a:rPr>
              <a:t>Admin portal</a:t>
            </a:r>
            <a:endParaRPr lang="en-US" sz="1600" dirty="0"/>
          </a:p>
        </p:txBody>
      </p:sp>
      <p:sp>
        <p:nvSpPr>
          <p:cNvPr id="15" name="Pill Admin portal"/>
          <p:cNvSpPr/>
          <p:nvPr/>
        </p:nvSpPr>
        <p:spPr>
          <a:xfrm>
            <a:off x="2743200" y="2240280"/>
            <a:ext cx="777240" cy="237744"/>
          </a:xfrm>
          <a:prstGeom prst="roundRect">
            <a:avLst>
              <a:gd name="adj" fmla="val 50000"/>
            </a:avLst>
          </a:prstGeom>
          <a:solidFill>
            <a:srgbClr val="3FA34D"/>
          </a:solidFill>
          <a:ln w="12700">
            <a:solidFill>
              <a:srgbClr val="3FA34D"/>
            </a:solidFill>
            <a:prstDash val="solid"/>
          </a:ln>
        </p:spPr>
      </p:sp>
      <p:sp>
        <p:nvSpPr>
          <p:cNvPr id="16" name="Pill text 2"/>
          <p:cNvSpPr txBox="1"/>
          <p:nvPr/>
        </p:nvSpPr>
        <p:spPr>
          <a:xfrm>
            <a:off x="2743200" y="2240280"/>
            <a:ext cx="777240" cy="237744"/>
          </a:xfrm>
          <a:prstGeom prst="rect">
            <a:avLst/>
          </a:prstGeom>
          <a:noFill/>
          <a:ln/>
        </p:spPr>
        <p:txBody>
          <a:bodyPr wrap="square" lIns="0" tIns="0" rIns="0" bIns="0" rtlCol="0" anchor="ctr"/>
          <a:lstStyle/>
          <a:p>
            <a:pPr algn="ctr" indent="0" marL="0">
              <a:buNone/>
            </a:pPr>
            <a:r>
              <a:rPr lang="en-US" sz="1100" b="1" dirty="0">
                <a:solidFill>
                  <a:schemeClr val="bg1"/>
                </a:solidFill>
              </a:rPr>
              <a:t>Live</a:t>
            </a:r>
            <a:endParaRPr lang="en-US" sz="1100" dirty="0"/>
          </a:p>
        </p:txBody>
      </p:sp>
      <p:sp>
        <p:nvSpPr>
          <p:cNvPr id="17" name="Status text 2"/>
          <p:cNvSpPr txBox="1"/>
          <p:nvPr/>
        </p:nvSpPr>
        <p:spPr>
          <a:xfrm>
            <a:off x="2743200" y="2606040"/>
            <a:ext cx="1554480" cy="1097280"/>
          </a:xfrm>
          <a:prstGeom prst="rect">
            <a:avLst/>
          </a:prstGeom>
          <a:noFill/>
          <a:ln/>
        </p:spPr>
        <p:txBody>
          <a:bodyPr wrap="square" lIns="0" tIns="0" rIns="0" bIns="0" rtlCol="0" anchor="ctr"/>
          <a:lstStyle/>
          <a:p>
            <a:pPr indent="0" marL="0">
              <a:buNone/>
            </a:pPr>
            <a:r>
              <a:rPr lang="en-US" sz="1200" dirty="0">
                <a:solidFill>
                  <a:schemeClr val="tx1"/>
                </a:solidFill>
              </a:rPr>
              <a:t>Role login, live map, alerts, stations, vehicles and a Bluetooth page.</a:t>
            </a:r>
            <a:endParaRPr lang="en-US" sz="1200" dirty="0"/>
          </a:p>
        </p:txBody>
      </p:sp>
      <p:sp>
        <p:nvSpPr>
          <p:cNvPr id="18" name="Status Vehicle API"/>
          <p:cNvSpPr/>
          <p:nvPr/>
        </p:nvSpPr>
        <p:spPr>
          <a:xfrm>
            <a:off x="4663440" y="1234440"/>
            <a:ext cx="1920240" cy="2514600"/>
          </a:xfrm>
          <a:prstGeom prst="roundRect">
            <a:avLst>
              <a:gd name="adj" fmla="val 3810"/>
            </a:avLst>
          </a:prstGeom>
          <a:solidFill>
            <a:schemeClr val="bg2"/>
          </a:solidFill>
          <a:ln w="12700">
            <a:solidFill>
              <a:schemeClr val="bg2"/>
            </a:solidFill>
            <a:prstDash val="solid"/>
          </a:ln>
        </p:spPr>
      </p:sp>
      <p:sp>
        <p:nvSpPr>
          <p:cNvPr id="19" name="Vehicle API badge"/>
          <p:cNvSpPr/>
          <p:nvPr/>
        </p:nvSpPr>
        <p:spPr>
          <a:xfrm>
            <a:off x="4846320" y="1371600"/>
            <a:ext cx="457200" cy="457200"/>
          </a:xfrm>
          <a:prstGeom prst="ellipse">
            <a:avLst/>
          </a:prstGeom>
          <a:solidFill>
            <a:srgbClr val="0B1F24"/>
          </a:solidFill>
          <a:ln w="12700">
            <a:solidFill>
              <a:srgbClr val="0B1F24"/>
            </a:solidFill>
            <a:prstDash val="solid"/>
          </a:ln>
        </p:spPr>
      </p:sp>
      <p:pic>
        <p:nvPicPr>
          <p:cNvPr id="20" name="FaMotorcycle" descr="Motorcycle icon">    </p:cNvPr>
          <p:cNvPicPr>
            <a:picLocks noChangeAspect="1"/>
          </p:cNvPicPr>
          <p:nvPr/>
        </p:nvPicPr>
        <p:blipFill>
          <a:blip r:embed="rId3"/>
          <a:stretch>
            <a:fillRect/>
          </a:stretch>
        </p:blipFill>
        <p:spPr>
          <a:xfrm>
            <a:off x="4956048" y="1481328"/>
            <a:ext cx="237744" cy="237744"/>
          </a:xfrm>
          <a:prstGeom prst="rect">
            <a:avLst/>
          </a:prstGeom>
        </p:spPr>
      </p:pic>
      <p:sp>
        <p:nvSpPr>
          <p:cNvPr id="21" name="Status name 3"/>
          <p:cNvSpPr txBox="1"/>
          <p:nvPr/>
        </p:nvSpPr>
        <p:spPr>
          <a:xfrm>
            <a:off x="4846320" y="1920240"/>
            <a:ext cx="1554480" cy="274320"/>
          </a:xfrm>
          <a:prstGeom prst="rect">
            <a:avLst/>
          </a:prstGeom>
          <a:noFill/>
          <a:ln/>
        </p:spPr>
        <p:txBody>
          <a:bodyPr wrap="square" lIns="0" tIns="0" rIns="0" bIns="0" rtlCol="0" anchor="ctr"/>
          <a:lstStyle/>
          <a:p>
            <a:pPr indent="0" marL="0">
              <a:buNone/>
            </a:pPr>
            <a:r>
              <a:rPr lang="en-US" sz="1600" b="1" dirty="0">
                <a:solidFill>
                  <a:schemeClr val="tx1"/>
                </a:solidFill>
              </a:rPr>
              <a:t>Vehicle API</a:t>
            </a:r>
            <a:endParaRPr lang="en-US" sz="1600" dirty="0"/>
          </a:p>
        </p:txBody>
      </p:sp>
      <p:sp>
        <p:nvSpPr>
          <p:cNvPr id="22" name="Pill Vehicle API"/>
          <p:cNvSpPr/>
          <p:nvPr/>
        </p:nvSpPr>
        <p:spPr>
          <a:xfrm>
            <a:off x="4846320" y="2240280"/>
            <a:ext cx="1051560" cy="237744"/>
          </a:xfrm>
          <a:prstGeom prst="roundRect">
            <a:avLst>
              <a:gd name="adj" fmla="val 50000"/>
            </a:avLst>
          </a:prstGeom>
          <a:solidFill>
            <a:srgbClr val="3FA34D"/>
          </a:solidFill>
          <a:ln w="12700">
            <a:solidFill>
              <a:srgbClr val="3FA34D"/>
            </a:solidFill>
            <a:prstDash val="solid"/>
          </a:ln>
        </p:spPr>
      </p:sp>
      <p:sp>
        <p:nvSpPr>
          <p:cNvPr id="23" name="Pill text 3"/>
          <p:cNvSpPr txBox="1"/>
          <p:nvPr/>
        </p:nvSpPr>
        <p:spPr>
          <a:xfrm>
            <a:off x="4846320" y="2240280"/>
            <a:ext cx="1051560" cy="237744"/>
          </a:xfrm>
          <a:prstGeom prst="rect">
            <a:avLst/>
          </a:prstGeom>
          <a:noFill/>
          <a:ln/>
        </p:spPr>
        <p:txBody>
          <a:bodyPr wrap="square" lIns="0" tIns="0" rIns="0" bIns="0" rtlCol="0" anchor="ctr"/>
          <a:lstStyle/>
          <a:p>
            <a:pPr algn="ctr" indent="0" marL="0">
              <a:buNone/>
            </a:pPr>
            <a:r>
              <a:rPr lang="en-US" sz="1100" b="1" dirty="0">
                <a:solidFill>
                  <a:schemeClr val="bg1"/>
                </a:solidFill>
              </a:rPr>
              <a:t>Live, tested</a:t>
            </a:r>
            <a:endParaRPr lang="en-US" sz="1100" dirty="0"/>
          </a:p>
        </p:txBody>
      </p:sp>
      <p:sp>
        <p:nvSpPr>
          <p:cNvPr id="24" name="Status text 3"/>
          <p:cNvSpPr txBox="1"/>
          <p:nvPr/>
        </p:nvSpPr>
        <p:spPr>
          <a:xfrm>
            <a:off x="4846320" y="2606040"/>
            <a:ext cx="1554480" cy="1097280"/>
          </a:xfrm>
          <a:prstGeom prst="rect">
            <a:avLst/>
          </a:prstGeom>
          <a:noFill/>
          <a:ln/>
        </p:spPr>
        <p:txBody>
          <a:bodyPr wrap="square" lIns="0" tIns="0" rIns="0" bIns="0" rtlCol="0" anchor="ctr"/>
          <a:lstStyle/>
          <a:p>
            <a:pPr indent="0" marL="0">
              <a:buNone/>
            </a:pPr>
            <a:r>
              <a:rPr lang="en-US" sz="1200" dirty="0">
                <a:solidFill>
                  <a:schemeClr val="tx1"/>
                </a:solidFill>
              </a:rPr>
              <a:t>Scooters report battery and events, find stations and reserve batteries.</a:t>
            </a:r>
            <a:endParaRPr lang="en-US" sz="1200" dirty="0"/>
          </a:p>
        </p:txBody>
      </p:sp>
      <p:sp>
        <p:nvSpPr>
          <p:cNvPr id="25" name="Status Phone app"/>
          <p:cNvSpPr/>
          <p:nvPr/>
        </p:nvSpPr>
        <p:spPr>
          <a:xfrm>
            <a:off x="6766560" y="1234440"/>
            <a:ext cx="1920240" cy="2514600"/>
          </a:xfrm>
          <a:prstGeom prst="roundRect">
            <a:avLst>
              <a:gd name="adj" fmla="val 3810"/>
            </a:avLst>
          </a:prstGeom>
          <a:solidFill>
            <a:schemeClr val="bg2"/>
          </a:solidFill>
          <a:ln w="12700">
            <a:solidFill>
              <a:schemeClr val="bg2"/>
            </a:solidFill>
            <a:prstDash val="solid"/>
          </a:ln>
        </p:spPr>
      </p:sp>
      <p:sp>
        <p:nvSpPr>
          <p:cNvPr id="26" name="Phone app badge"/>
          <p:cNvSpPr/>
          <p:nvPr/>
        </p:nvSpPr>
        <p:spPr>
          <a:xfrm>
            <a:off x="6949440" y="1371600"/>
            <a:ext cx="457200" cy="457200"/>
          </a:xfrm>
          <a:prstGeom prst="ellipse">
            <a:avLst/>
          </a:prstGeom>
          <a:solidFill>
            <a:srgbClr val="0B1F24"/>
          </a:solidFill>
          <a:ln w="12700">
            <a:solidFill>
              <a:srgbClr val="0B1F24"/>
            </a:solidFill>
            <a:prstDash val="solid"/>
          </a:ln>
        </p:spPr>
      </p:sp>
      <p:pic>
        <p:nvPicPr>
          <p:cNvPr id="27" name="FaMobileAlt" descr="MobileAlt icon">    </p:cNvPr>
          <p:cNvPicPr>
            <a:picLocks noChangeAspect="1"/>
          </p:cNvPicPr>
          <p:nvPr/>
        </p:nvPicPr>
        <p:blipFill>
          <a:blip r:embed="rId4"/>
          <a:stretch>
            <a:fillRect/>
          </a:stretch>
        </p:blipFill>
        <p:spPr>
          <a:xfrm>
            <a:off x="7059168" y="1481328"/>
            <a:ext cx="237744" cy="237744"/>
          </a:xfrm>
          <a:prstGeom prst="rect">
            <a:avLst/>
          </a:prstGeom>
        </p:spPr>
      </p:pic>
      <p:sp>
        <p:nvSpPr>
          <p:cNvPr id="28" name="Status name 4"/>
          <p:cNvSpPr txBox="1"/>
          <p:nvPr/>
        </p:nvSpPr>
        <p:spPr>
          <a:xfrm>
            <a:off x="6949440" y="1920240"/>
            <a:ext cx="1554480" cy="274320"/>
          </a:xfrm>
          <a:prstGeom prst="rect">
            <a:avLst/>
          </a:prstGeom>
          <a:noFill/>
          <a:ln/>
        </p:spPr>
        <p:txBody>
          <a:bodyPr wrap="square" lIns="0" tIns="0" rIns="0" bIns="0" rtlCol="0" anchor="ctr"/>
          <a:lstStyle/>
          <a:p>
            <a:pPr indent="0" marL="0">
              <a:buNone/>
            </a:pPr>
            <a:r>
              <a:rPr lang="en-US" sz="1600" b="1" dirty="0">
                <a:solidFill>
                  <a:schemeClr val="tx1"/>
                </a:solidFill>
              </a:rPr>
              <a:t>Phone app</a:t>
            </a:r>
            <a:endParaRPr lang="en-US" sz="1600" dirty="0"/>
          </a:p>
        </p:txBody>
      </p:sp>
      <p:sp>
        <p:nvSpPr>
          <p:cNvPr id="29" name="Pill Phone app"/>
          <p:cNvSpPr/>
          <p:nvPr/>
        </p:nvSpPr>
        <p:spPr>
          <a:xfrm>
            <a:off x="6949440" y="2240280"/>
            <a:ext cx="1051560" cy="237744"/>
          </a:xfrm>
          <a:prstGeom prst="roundRect">
            <a:avLst>
              <a:gd name="adj" fmla="val 50000"/>
            </a:avLst>
          </a:prstGeom>
          <a:solidFill>
            <a:srgbClr val="F5B700"/>
          </a:solidFill>
          <a:ln w="12700">
            <a:solidFill>
              <a:srgbClr val="F5B700"/>
            </a:solidFill>
            <a:prstDash val="solid"/>
          </a:ln>
        </p:spPr>
      </p:sp>
      <p:sp>
        <p:nvSpPr>
          <p:cNvPr id="30" name="Pill text 4"/>
          <p:cNvSpPr txBox="1"/>
          <p:nvPr/>
        </p:nvSpPr>
        <p:spPr>
          <a:xfrm>
            <a:off x="6949440" y="2240280"/>
            <a:ext cx="1051560" cy="237744"/>
          </a:xfrm>
          <a:prstGeom prst="rect">
            <a:avLst/>
          </a:prstGeom>
          <a:noFill/>
          <a:ln/>
        </p:spPr>
        <p:txBody>
          <a:bodyPr wrap="square" lIns="0" tIns="0" rIns="0" bIns="0" rtlCol="0" anchor="ctr"/>
          <a:lstStyle/>
          <a:p>
            <a:pPr algn="ctr" indent="0" marL="0">
              <a:buNone/>
            </a:pPr>
            <a:r>
              <a:rPr lang="en-US" sz="1100" b="1" dirty="0">
                <a:solidFill>
                  <a:schemeClr val="tx1"/>
                </a:solidFill>
              </a:rPr>
              <a:t>UI only</a:t>
            </a:r>
            <a:endParaRPr lang="en-US" sz="1100" dirty="0"/>
          </a:p>
        </p:txBody>
      </p:sp>
      <p:sp>
        <p:nvSpPr>
          <p:cNvPr id="31" name="Status text 4"/>
          <p:cNvSpPr txBox="1"/>
          <p:nvPr/>
        </p:nvSpPr>
        <p:spPr>
          <a:xfrm>
            <a:off x="6949440" y="2606040"/>
            <a:ext cx="1554480" cy="1097280"/>
          </a:xfrm>
          <a:prstGeom prst="rect">
            <a:avLst/>
          </a:prstGeom>
          <a:noFill/>
          <a:ln/>
        </p:spPr>
        <p:txBody>
          <a:bodyPr wrap="square" lIns="0" tIns="0" rIns="0" bIns="0" rtlCol="0" anchor="ctr"/>
          <a:lstStyle/>
          <a:p>
            <a:pPr indent="0" marL="0">
              <a:buNone/>
            </a:pPr>
            <a:r>
              <a:rPr lang="en-US" sz="1200" dirty="0">
                <a:solidFill>
                  <a:schemeClr val="tx1"/>
                </a:solidFill>
              </a:rPr>
              <a:t>Screens exist but no real Bluetooth yet. Needs a development build.</a:t>
            </a:r>
            <a:endParaRPr lang="en-US" sz="1200" dirty="0"/>
          </a:p>
        </p:txBody>
      </p:sp>
      <p:sp>
        <p:nvSpPr>
          <p:cNvPr id="32" name="Stat 1"/>
          <p:cNvSpPr txBox="1"/>
          <p:nvPr/>
        </p:nvSpPr>
        <p:spPr>
          <a:xfrm>
            <a:off x="457200" y="3886200"/>
            <a:ext cx="1097280" cy="548640"/>
          </a:xfrm>
          <a:prstGeom prst="rect">
            <a:avLst/>
          </a:prstGeom>
          <a:noFill/>
          <a:ln/>
        </p:spPr>
        <p:txBody>
          <a:bodyPr wrap="square" lIns="0" tIns="0" rIns="0" bIns="0" rtlCol="0" anchor="ctr"/>
          <a:lstStyle/>
          <a:p>
            <a:pPr indent="0" marL="0">
              <a:buNone/>
            </a:pPr>
            <a:r>
              <a:rPr lang="en-US" sz="3200" b="1" dirty="0">
                <a:solidFill>
                  <a:schemeClr val="accent2"/>
                </a:solidFill>
              </a:rPr>
              <a:t>8 + 1</a:t>
            </a:r>
            <a:endParaRPr lang="en-US" sz="3200" dirty="0"/>
          </a:p>
        </p:txBody>
      </p:sp>
      <p:sp>
        <p:nvSpPr>
          <p:cNvPr id="33" name="Stat label 1"/>
          <p:cNvSpPr txBox="1"/>
          <p:nvPr/>
        </p:nvSpPr>
        <p:spPr>
          <a:xfrm>
            <a:off x="1600200" y="3886200"/>
            <a:ext cx="1554480" cy="548640"/>
          </a:xfrm>
          <a:prstGeom prst="rect">
            <a:avLst/>
          </a:prstGeom>
          <a:noFill/>
          <a:ln/>
        </p:spPr>
        <p:txBody>
          <a:bodyPr wrap="square" lIns="0" tIns="0" rIns="0" bIns="0" rtlCol="0" anchor="ctr"/>
          <a:lstStyle/>
          <a:p>
            <a:pPr indent="0" marL="0">
              <a:buNone/>
            </a:pPr>
            <a:r>
              <a:rPr lang="en-US" sz="1300" dirty="0">
                <a:solidFill>
                  <a:schemeClr val="tx1"/>
                </a:solidFill>
              </a:rPr>
              <a:t>tables and one view</a:t>
            </a:r>
            <a:endParaRPr lang="en-US" sz="1300" dirty="0"/>
          </a:p>
        </p:txBody>
      </p:sp>
      <p:sp>
        <p:nvSpPr>
          <p:cNvPr id="34" name="Stat 2"/>
          <p:cNvSpPr txBox="1"/>
          <p:nvPr/>
        </p:nvSpPr>
        <p:spPr>
          <a:xfrm>
            <a:off x="3268980" y="3886200"/>
            <a:ext cx="1097280" cy="548640"/>
          </a:xfrm>
          <a:prstGeom prst="rect">
            <a:avLst/>
          </a:prstGeom>
          <a:noFill/>
          <a:ln/>
        </p:spPr>
        <p:txBody>
          <a:bodyPr wrap="square" lIns="0" tIns="0" rIns="0" bIns="0" rtlCol="0" anchor="ctr"/>
          <a:lstStyle/>
          <a:p>
            <a:pPr indent="0" marL="0">
              <a:buNone/>
            </a:pPr>
            <a:r>
              <a:rPr lang="en-US" sz="3200" b="1" dirty="0">
                <a:solidFill>
                  <a:schemeClr val="accent2"/>
                </a:solidFill>
              </a:rPr>
              <a:t>6</a:t>
            </a:r>
            <a:endParaRPr lang="en-US" sz="3200" dirty="0"/>
          </a:p>
        </p:txBody>
      </p:sp>
      <p:sp>
        <p:nvSpPr>
          <p:cNvPr id="35" name="Stat label 2"/>
          <p:cNvSpPr txBox="1"/>
          <p:nvPr/>
        </p:nvSpPr>
        <p:spPr>
          <a:xfrm>
            <a:off x="4411980" y="3886200"/>
            <a:ext cx="1554480" cy="548640"/>
          </a:xfrm>
          <a:prstGeom prst="rect">
            <a:avLst/>
          </a:prstGeom>
          <a:noFill/>
          <a:ln/>
        </p:spPr>
        <p:txBody>
          <a:bodyPr wrap="square" lIns="0" tIns="0" rIns="0" bIns="0" rtlCol="0" anchor="ctr"/>
          <a:lstStyle/>
          <a:p>
            <a:pPr indent="0" marL="0">
              <a:buNone/>
            </a:pPr>
            <a:r>
              <a:rPr lang="en-US" sz="1300" dirty="0">
                <a:solidFill>
                  <a:schemeClr val="tx1"/>
                </a:solidFill>
              </a:rPr>
              <a:t>API functions</a:t>
            </a:r>
            <a:endParaRPr lang="en-US" sz="1300" dirty="0"/>
          </a:p>
        </p:txBody>
      </p:sp>
      <p:sp>
        <p:nvSpPr>
          <p:cNvPr id="36" name="Stat 3"/>
          <p:cNvSpPr txBox="1"/>
          <p:nvPr/>
        </p:nvSpPr>
        <p:spPr>
          <a:xfrm>
            <a:off x="6080760" y="3886200"/>
            <a:ext cx="1097280" cy="548640"/>
          </a:xfrm>
          <a:prstGeom prst="rect">
            <a:avLst/>
          </a:prstGeom>
          <a:noFill/>
          <a:ln/>
        </p:spPr>
        <p:txBody>
          <a:bodyPr wrap="square" lIns="0" tIns="0" rIns="0" bIns="0" rtlCol="0" anchor="ctr"/>
          <a:lstStyle/>
          <a:p>
            <a:pPr indent="0" marL="0">
              <a:buNone/>
            </a:pPr>
            <a:r>
              <a:rPr lang="en-US" sz="3200" b="1" dirty="0">
                <a:solidFill>
                  <a:schemeClr val="accent2"/>
                </a:solidFill>
              </a:rPr>
              <a:t>7</a:t>
            </a:r>
            <a:endParaRPr lang="en-US" sz="3200" dirty="0"/>
          </a:p>
        </p:txBody>
      </p:sp>
      <p:sp>
        <p:nvSpPr>
          <p:cNvPr id="37" name="Stat label 3"/>
          <p:cNvSpPr txBox="1"/>
          <p:nvPr/>
        </p:nvSpPr>
        <p:spPr>
          <a:xfrm>
            <a:off x="7223760" y="3886200"/>
            <a:ext cx="1554480" cy="548640"/>
          </a:xfrm>
          <a:prstGeom prst="rect">
            <a:avLst/>
          </a:prstGeom>
          <a:noFill/>
          <a:ln/>
        </p:spPr>
        <p:txBody>
          <a:bodyPr wrap="square" lIns="0" tIns="0" rIns="0" bIns="0" rtlCol="0" anchor="ctr"/>
          <a:lstStyle/>
          <a:p>
            <a:pPr indent="0" marL="0">
              <a:buNone/>
            </a:pPr>
            <a:r>
              <a:rPr lang="en-US" sz="1300" dirty="0">
                <a:solidFill>
                  <a:schemeClr val="tx1"/>
                </a:solidFill>
              </a:rPr>
              <a:t>database migrations</a:t>
            </a:r>
            <a:endParaRPr lang="en-US" sz="13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400" b="1" dirty="0">
                <a:solidFill>
                  <a:schemeClr val="tx1"/>
                </a:solidFill>
              </a:rPr>
              <a:t>Backend and database</a:t>
            </a:r>
            <a:endParaRPr lang="en-US" sz="3400" dirty="0"/>
          </a:p>
        </p:txBody>
      </p:sp>
      <p:sp>
        <p:nvSpPr>
          <p:cNvPr id="4" name="Function provision"/>
          <p:cNvSpPr txBox="1"/>
          <p:nvPr/>
        </p:nvSpPr>
        <p:spPr>
          <a:xfrm>
            <a:off x="457200" y="1234440"/>
            <a:ext cx="1188720" cy="457200"/>
          </a:xfrm>
          <a:prstGeom prst="rect">
            <a:avLst/>
          </a:prstGeom>
          <a:noFill/>
          <a:ln/>
        </p:spPr>
        <p:txBody>
          <a:bodyPr wrap="square" lIns="0" tIns="0" rIns="0" bIns="0" rtlCol="0" anchor="ctr"/>
          <a:lstStyle/>
          <a:p>
            <a:pPr indent="0" marL="0">
              <a:buNone/>
            </a:pPr>
            <a:r>
              <a:rPr lang="en-US" sz="1500" b="1" dirty="0">
                <a:solidFill>
                  <a:schemeClr val="accent2"/>
                </a:solidFill>
              </a:rPr>
              <a:t>provision</a:t>
            </a:r>
            <a:endParaRPr lang="en-US" sz="1500" dirty="0"/>
          </a:p>
        </p:txBody>
      </p:sp>
      <p:sp>
        <p:nvSpPr>
          <p:cNvPr id="5" name="Function desc 1"/>
          <p:cNvSpPr txBox="1"/>
          <p:nvPr/>
        </p:nvSpPr>
        <p:spPr>
          <a:xfrm>
            <a:off x="1691640" y="1234440"/>
            <a:ext cx="3566160" cy="457200"/>
          </a:xfrm>
          <a:prstGeom prst="rect">
            <a:avLst/>
          </a:prstGeom>
          <a:noFill/>
          <a:ln/>
        </p:spPr>
        <p:txBody>
          <a:bodyPr wrap="square" lIns="0" tIns="0" rIns="0" bIns="0" rtlCol="0" anchor="ctr"/>
          <a:lstStyle/>
          <a:p>
            <a:pPr indent="0" marL="0">
              <a:buNone/>
            </a:pPr>
            <a:r>
              <a:rPr lang="en-US" sz="1400" dirty="0">
                <a:solidFill>
                  <a:schemeClr val="tx1"/>
                </a:solidFill>
              </a:rPr>
              <a:t>Gives a phone or station its ID</a:t>
            </a:r>
            <a:endParaRPr lang="en-US" sz="1400" dirty="0"/>
          </a:p>
        </p:txBody>
      </p:sp>
      <p:sp>
        <p:nvSpPr>
          <p:cNvPr id="6" name="Function ingest"/>
          <p:cNvSpPr txBox="1"/>
          <p:nvPr/>
        </p:nvSpPr>
        <p:spPr>
          <a:xfrm>
            <a:off x="457200" y="1783080"/>
            <a:ext cx="1188720" cy="457200"/>
          </a:xfrm>
          <a:prstGeom prst="rect">
            <a:avLst/>
          </a:prstGeom>
          <a:noFill/>
          <a:ln/>
        </p:spPr>
        <p:txBody>
          <a:bodyPr wrap="square" lIns="0" tIns="0" rIns="0" bIns="0" rtlCol="0" anchor="ctr"/>
          <a:lstStyle/>
          <a:p>
            <a:pPr indent="0" marL="0">
              <a:buNone/>
            </a:pPr>
            <a:r>
              <a:rPr lang="en-US" sz="1500" b="1" dirty="0">
                <a:solidFill>
                  <a:schemeClr val="accent2"/>
                </a:solidFill>
              </a:rPr>
              <a:t>ingest</a:t>
            </a:r>
            <a:endParaRPr lang="en-US" sz="1500" dirty="0"/>
          </a:p>
        </p:txBody>
      </p:sp>
      <p:sp>
        <p:nvSpPr>
          <p:cNvPr id="7" name="Function desc 2"/>
          <p:cNvSpPr txBox="1"/>
          <p:nvPr/>
        </p:nvSpPr>
        <p:spPr>
          <a:xfrm>
            <a:off x="1691640" y="1783080"/>
            <a:ext cx="3566160" cy="457200"/>
          </a:xfrm>
          <a:prstGeom prst="rect">
            <a:avLst/>
          </a:prstGeom>
          <a:noFill/>
          <a:ln/>
        </p:spPr>
        <p:txBody>
          <a:bodyPr wrap="square" lIns="0" tIns="0" rIns="0" bIns="0" rtlCol="0" anchor="ctr"/>
          <a:lstStyle/>
          <a:p>
            <a:pPr indent="0" marL="0">
              <a:buNone/>
            </a:pPr>
            <a:r>
              <a:rPr lang="en-US" sz="1400" dirty="0">
                <a:solidFill>
                  <a:schemeClr val="tx1"/>
                </a:solidFill>
              </a:rPr>
              <a:t>Takes packets from a gateway and checks signatures</a:t>
            </a:r>
            <a:endParaRPr lang="en-US" sz="1400" dirty="0"/>
          </a:p>
        </p:txBody>
      </p:sp>
      <p:sp>
        <p:nvSpPr>
          <p:cNvPr id="8" name="Function sos"/>
          <p:cNvSpPr txBox="1"/>
          <p:nvPr/>
        </p:nvSpPr>
        <p:spPr>
          <a:xfrm>
            <a:off x="457200" y="2331720"/>
            <a:ext cx="1188720" cy="457200"/>
          </a:xfrm>
          <a:prstGeom prst="rect">
            <a:avLst/>
          </a:prstGeom>
          <a:noFill/>
          <a:ln/>
        </p:spPr>
        <p:txBody>
          <a:bodyPr wrap="square" lIns="0" tIns="0" rIns="0" bIns="0" rtlCol="0" anchor="ctr"/>
          <a:lstStyle/>
          <a:p>
            <a:pPr indent="0" marL="0">
              <a:buNone/>
            </a:pPr>
            <a:r>
              <a:rPr lang="en-US" sz="1500" b="1" dirty="0">
                <a:solidFill>
                  <a:schemeClr val="accent2"/>
                </a:solidFill>
              </a:rPr>
              <a:t>sos</a:t>
            </a:r>
            <a:endParaRPr lang="en-US" sz="1500" dirty="0"/>
          </a:p>
        </p:txBody>
      </p:sp>
      <p:sp>
        <p:nvSpPr>
          <p:cNvPr id="9" name="Function desc 3"/>
          <p:cNvSpPr txBox="1"/>
          <p:nvPr/>
        </p:nvSpPr>
        <p:spPr>
          <a:xfrm>
            <a:off x="1691640" y="2331720"/>
            <a:ext cx="3566160" cy="457200"/>
          </a:xfrm>
          <a:prstGeom prst="rect">
            <a:avLst/>
          </a:prstGeom>
          <a:noFill/>
          <a:ln/>
        </p:spPr>
        <p:txBody>
          <a:bodyPr wrap="square" lIns="0" tIns="0" rIns="0" bIns="0" rtlCol="0" anchor="ctr"/>
          <a:lstStyle/>
          <a:p>
            <a:pPr indent="0" marL="0">
              <a:buNone/>
            </a:pPr>
            <a:r>
              <a:rPr lang="en-US" sz="1400" dirty="0">
                <a:solidFill>
                  <a:schemeClr val="tx1"/>
                </a:solidFill>
              </a:rPr>
              <a:t>Direct SOS from a rider with internet</a:t>
            </a:r>
            <a:endParaRPr lang="en-US" sz="1400" dirty="0"/>
          </a:p>
        </p:txBody>
      </p:sp>
      <p:sp>
        <p:nvSpPr>
          <p:cNvPr id="10" name="Function vehicle"/>
          <p:cNvSpPr txBox="1"/>
          <p:nvPr/>
        </p:nvSpPr>
        <p:spPr>
          <a:xfrm>
            <a:off x="457200" y="2880360"/>
            <a:ext cx="1188720" cy="457200"/>
          </a:xfrm>
          <a:prstGeom prst="rect">
            <a:avLst/>
          </a:prstGeom>
          <a:noFill/>
          <a:ln/>
        </p:spPr>
        <p:txBody>
          <a:bodyPr wrap="square" lIns="0" tIns="0" rIns="0" bIns="0" rtlCol="0" anchor="ctr"/>
          <a:lstStyle/>
          <a:p>
            <a:pPr indent="0" marL="0">
              <a:buNone/>
            </a:pPr>
            <a:r>
              <a:rPr lang="en-US" sz="1500" b="1" dirty="0">
                <a:solidFill>
                  <a:schemeClr val="accent2"/>
                </a:solidFill>
              </a:rPr>
              <a:t>vehicle</a:t>
            </a:r>
            <a:endParaRPr lang="en-US" sz="1500" dirty="0"/>
          </a:p>
        </p:txBody>
      </p:sp>
      <p:sp>
        <p:nvSpPr>
          <p:cNvPr id="11" name="Function desc 4"/>
          <p:cNvSpPr txBox="1"/>
          <p:nvPr/>
        </p:nvSpPr>
        <p:spPr>
          <a:xfrm>
            <a:off x="1691640" y="2880360"/>
            <a:ext cx="3566160" cy="457200"/>
          </a:xfrm>
          <a:prstGeom prst="rect">
            <a:avLst/>
          </a:prstGeom>
          <a:noFill/>
          <a:ln/>
        </p:spPr>
        <p:txBody>
          <a:bodyPr wrap="square" lIns="0" tIns="0" rIns="0" bIns="0" rtlCol="0" anchor="ctr"/>
          <a:lstStyle/>
          <a:p>
            <a:pPr indent="0" marL="0">
              <a:buNone/>
            </a:pPr>
            <a:r>
              <a:rPr lang="en-US" sz="1400" dirty="0">
                <a:solidFill>
                  <a:schemeClr val="tx1"/>
                </a:solidFill>
              </a:rPr>
              <a:t>Scooter API: battery, events, holds</a:t>
            </a:r>
            <a:endParaRPr lang="en-US" sz="1400" dirty="0"/>
          </a:p>
        </p:txBody>
      </p:sp>
      <p:sp>
        <p:nvSpPr>
          <p:cNvPr id="12" name="Function admin"/>
          <p:cNvSpPr txBox="1"/>
          <p:nvPr/>
        </p:nvSpPr>
        <p:spPr>
          <a:xfrm>
            <a:off x="457200" y="3429000"/>
            <a:ext cx="1188720" cy="457200"/>
          </a:xfrm>
          <a:prstGeom prst="rect">
            <a:avLst/>
          </a:prstGeom>
          <a:noFill/>
          <a:ln/>
        </p:spPr>
        <p:txBody>
          <a:bodyPr wrap="square" lIns="0" tIns="0" rIns="0" bIns="0" rtlCol="0" anchor="ctr"/>
          <a:lstStyle/>
          <a:p>
            <a:pPr indent="0" marL="0">
              <a:buNone/>
            </a:pPr>
            <a:r>
              <a:rPr lang="en-US" sz="1500" b="1" dirty="0">
                <a:solidFill>
                  <a:schemeClr val="accent2"/>
                </a:solidFill>
              </a:rPr>
              <a:t>admin</a:t>
            </a:r>
            <a:endParaRPr lang="en-US" sz="1500" dirty="0"/>
          </a:p>
        </p:txBody>
      </p:sp>
      <p:sp>
        <p:nvSpPr>
          <p:cNvPr id="13" name="Function desc 5"/>
          <p:cNvSpPr txBox="1"/>
          <p:nvPr/>
        </p:nvSpPr>
        <p:spPr>
          <a:xfrm>
            <a:off x="1691640" y="3429000"/>
            <a:ext cx="3566160" cy="457200"/>
          </a:xfrm>
          <a:prstGeom prst="rect">
            <a:avLst/>
          </a:prstGeom>
          <a:noFill/>
          <a:ln/>
        </p:spPr>
        <p:txBody>
          <a:bodyPr wrap="square" lIns="0" tIns="0" rIns="0" bIns="0" rtlCol="0" anchor="ctr"/>
          <a:lstStyle/>
          <a:p>
            <a:pPr indent="0" marL="0">
              <a:buNone/>
            </a:pPr>
            <a:r>
              <a:rPr lang="en-US" sz="1400" dirty="0">
                <a:solidFill>
                  <a:schemeClr val="tx1"/>
                </a:solidFill>
              </a:rPr>
              <a:t>Portal actions: holds, stock, vehicles</a:t>
            </a:r>
            <a:endParaRPr lang="en-US" sz="1400" dirty="0"/>
          </a:p>
        </p:txBody>
      </p:sp>
      <p:sp>
        <p:nvSpPr>
          <p:cNvPr id="14" name="Function help"/>
          <p:cNvSpPr txBox="1"/>
          <p:nvPr/>
        </p:nvSpPr>
        <p:spPr>
          <a:xfrm>
            <a:off x="457200" y="3977640"/>
            <a:ext cx="1188720" cy="457200"/>
          </a:xfrm>
          <a:prstGeom prst="rect">
            <a:avLst/>
          </a:prstGeom>
          <a:noFill/>
          <a:ln/>
        </p:spPr>
        <p:txBody>
          <a:bodyPr wrap="square" lIns="0" tIns="0" rIns="0" bIns="0" rtlCol="0" anchor="ctr"/>
          <a:lstStyle/>
          <a:p>
            <a:pPr indent="0" marL="0">
              <a:buNone/>
            </a:pPr>
            <a:r>
              <a:rPr lang="en-US" sz="1500" b="1" dirty="0">
                <a:solidFill>
                  <a:schemeClr val="accent2"/>
                </a:solidFill>
              </a:rPr>
              <a:t>help</a:t>
            </a:r>
            <a:endParaRPr lang="en-US" sz="1500" dirty="0"/>
          </a:p>
        </p:txBody>
      </p:sp>
      <p:sp>
        <p:nvSpPr>
          <p:cNvPr id="15" name="Function desc 6"/>
          <p:cNvSpPr txBox="1"/>
          <p:nvPr/>
        </p:nvSpPr>
        <p:spPr>
          <a:xfrm>
            <a:off x="1691640" y="3977640"/>
            <a:ext cx="3566160" cy="457200"/>
          </a:xfrm>
          <a:prstGeom prst="rect">
            <a:avLst/>
          </a:prstGeom>
          <a:noFill/>
          <a:ln/>
        </p:spPr>
        <p:txBody>
          <a:bodyPr wrap="square" lIns="0" tIns="0" rIns="0" bIns="0" rtlCol="0" anchor="ctr"/>
          <a:lstStyle/>
          <a:p>
            <a:pPr indent="0" marL="0">
              <a:buNone/>
            </a:pPr>
            <a:r>
              <a:rPr lang="en-US" sz="1400" dirty="0">
                <a:solidFill>
                  <a:schemeClr val="tx1"/>
                </a:solidFill>
              </a:rPr>
              <a:t>A rider offers to help a stranded peer</a:t>
            </a:r>
            <a:endParaRPr lang="en-US" sz="1400" dirty="0"/>
          </a:p>
        </p:txBody>
      </p:sp>
      <p:sp>
        <p:nvSpPr>
          <p:cNvPr id="16" name="Database panel"/>
          <p:cNvSpPr/>
          <p:nvPr/>
        </p:nvSpPr>
        <p:spPr>
          <a:xfrm>
            <a:off x="5486400" y="1234440"/>
            <a:ext cx="3200400" cy="3291840"/>
          </a:xfrm>
          <a:prstGeom prst="roundRect">
            <a:avLst>
              <a:gd name="adj" fmla="val 2286"/>
            </a:avLst>
          </a:prstGeom>
          <a:solidFill>
            <a:schemeClr val="tx2"/>
          </a:solidFill>
          <a:ln w="12700">
            <a:solidFill>
              <a:schemeClr val="tx2"/>
            </a:solidFill>
            <a:prstDash val="solid"/>
          </a:ln>
        </p:spPr>
      </p:sp>
      <p:sp>
        <p:nvSpPr>
          <p:cNvPr id="17" name="DB heading"/>
          <p:cNvSpPr txBox="1"/>
          <p:nvPr/>
        </p:nvSpPr>
        <p:spPr>
          <a:xfrm>
            <a:off x="5715000" y="1371600"/>
            <a:ext cx="2743200" cy="274320"/>
          </a:xfrm>
          <a:prstGeom prst="rect">
            <a:avLst/>
          </a:prstGeom>
          <a:noFill/>
          <a:ln/>
        </p:spPr>
        <p:txBody>
          <a:bodyPr wrap="square" lIns="0" tIns="0" rIns="0" bIns="0" rtlCol="0" anchor="ctr"/>
          <a:lstStyle/>
          <a:p>
            <a:pPr indent="0" marL="0">
              <a:buNone/>
            </a:pPr>
            <a:r>
              <a:rPr lang="en-US" sz="1600" b="1" dirty="0">
                <a:solidFill>
                  <a:schemeClr val="bg1"/>
                </a:solidFill>
              </a:rPr>
              <a:t>PostgreSQL on Supabase</a:t>
            </a:r>
            <a:endParaRPr lang="en-US" sz="1600" dirty="0"/>
          </a:p>
        </p:txBody>
      </p:sp>
      <p:sp>
        <p:nvSpPr>
          <p:cNvPr id="18" name="Chip alerts"/>
          <p:cNvSpPr/>
          <p:nvPr/>
        </p:nvSpPr>
        <p:spPr>
          <a:xfrm>
            <a:off x="5715000" y="1783080"/>
            <a:ext cx="1353312" cy="310896"/>
          </a:xfrm>
          <a:prstGeom prst="roundRect">
            <a:avLst>
              <a:gd name="adj" fmla="val 50000"/>
            </a:avLst>
          </a:prstGeom>
          <a:solidFill>
            <a:srgbClr val="1F8A80"/>
          </a:solidFill>
          <a:ln w="12700">
            <a:solidFill>
              <a:srgbClr val="1F8A80"/>
            </a:solidFill>
            <a:prstDash val="solid"/>
          </a:ln>
        </p:spPr>
      </p:sp>
      <p:sp>
        <p:nvSpPr>
          <p:cNvPr id="19" name="Chip text 1"/>
          <p:cNvSpPr txBox="1"/>
          <p:nvPr/>
        </p:nvSpPr>
        <p:spPr>
          <a:xfrm>
            <a:off x="5715000" y="1783080"/>
            <a:ext cx="1353312" cy="310896"/>
          </a:xfrm>
          <a:prstGeom prst="rect">
            <a:avLst/>
          </a:prstGeom>
          <a:noFill/>
          <a:ln/>
        </p:spPr>
        <p:txBody>
          <a:bodyPr wrap="square" lIns="0" tIns="0" rIns="0" bIns="0" rtlCol="0" anchor="ctr"/>
          <a:lstStyle/>
          <a:p>
            <a:pPr algn="ctr" indent="0" marL="0">
              <a:buNone/>
            </a:pPr>
            <a:r>
              <a:rPr lang="en-US" sz="1100" b="1" dirty="0">
                <a:solidFill>
                  <a:schemeClr val="bg1"/>
                </a:solidFill>
              </a:rPr>
              <a:t>alerts</a:t>
            </a:r>
            <a:endParaRPr lang="en-US" sz="1100" dirty="0"/>
          </a:p>
        </p:txBody>
      </p:sp>
      <p:sp>
        <p:nvSpPr>
          <p:cNvPr id="20" name="Chip stations"/>
          <p:cNvSpPr/>
          <p:nvPr/>
        </p:nvSpPr>
        <p:spPr>
          <a:xfrm>
            <a:off x="7150608" y="1783080"/>
            <a:ext cx="1353312" cy="310896"/>
          </a:xfrm>
          <a:prstGeom prst="roundRect">
            <a:avLst>
              <a:gd name="adj" fmla="val 50000"/>
            </a:avLst>
          </a:prstGeom>
          <a:solidFill>
            <a:srgbClr val="1F8A80"/>
          </a:solidFill>
          <a:ln w="12700">
            <a:solidFill>
              <a:srgbClr val="1F8A80"/>
            </a:solidFill>
            <a:prstDash val="solid"/>
          </a:ln>
        </p:spPr>
      </p:sp>
      <p:sp>
        <p:nvSpPr>
          <p:cNvPr id="21" name="Chip text 2"/>
          <p:cNvSpPr txBox="1"/>
          <p:nvPr/>
        </p:nvSpPr>
        <p:spPr>
          <a:xfrm>
            <a:off x="7150608" y="1783080"/>
            <a:ext cx="1353312" cy="310896"/>
          </a:xfrm>
          <a:prstGeom prst="rect">
            <a:avLst/>
          </a:prstGeom>
          <a:noFill/>
          <a:ln/>
        </p:spPr>
        <p:txBody>
          <a:bodyPr wrap="square" lIns="0" tIns="0" rIns="0" bIns="0" rtlCol="0" anchor="ctr"/>
          <a:lstStyle/>
          <a:p>
            <a:pPr algn="ctr" indent="0" marL="0">
              <a:buNone/>
            </a:pPr>
            <a:r>
              <a:rPr lang="en-US" sz="1100" b="1" dirty="0">
                <a:solidFill>
                  <a:schemeClr val="bg1"/>
                </a:solidFill>
              </a:rPr>
              <a:t>stations</a:t>
            </a:r>
            <a:endParaRPr lang="en-US" sz="1100" dirty="0"/>
          </a:p>
        </p:txBody>
      </p:sp>
      <p:sp>
        <p:nvSpPr>
          <p:cNvPr id="22" name="Chip relay_hops"/>
          <p:cNvSpPr/>
          <p:nvPr/>
        </p:nvSpPr>
        <p:spPr>
          <a:xfrm>
            <a:off x="5715000" y="2203704"/>
            <a:ext cx="1353312" cy="310896"/>
          </a:xfrm>
          <a:prstGeom prst="roundRect">
            <a:avLst>
              <a:gd name="adj" fmla="val 50000"/>
            </a:avLst>
          </a:prstGeom>
          <a:solidFill>
            <a:srgbClr val="1F8A80"/>
          </a:solidFill>
          <a:ln w="12700">
            <a:solidFill>
              <a:srgbClr val="1F8A80"/>
            </a:solidFill>
            <a:prstDash val="solid"/>
          </a:ln>
        </p:spPr>
      </p:sp>
      <p:sp>
        <p:nvSpPr>
          <p:cNvPr id="23" name="Chip text 3"/>
          <p:cNvSpPr txBox="1"/>
          <p:nvPr/>
        </p:nvSpPr>
        <p:spPr>
          <a:xfrm>
            <a:off x="5715000" y="2203704"/>
            <a:ext cx="1353312" cy="310896"/>
          </a:xfrm>
          <a:prstGeom prst="rect">
            <a:avLst/>
          </a:prstGeom>
          <a:noFill/>
          <a:ln/>
        </p:spPr>
        <p:txBody>
          <a:bodyPr wrap="square" lIns="0" tIns="0" rIns="0" bIns="0" rtlCol="0" anchor="ctr"/>
          <a:lstStyle/>
          <a:p>
            <a:pPr algn="ctr" indent="0" marL="0">
              <a:buNone/>
            </a:pPr>
            <a:r>
              <a:rPr lang="en-US" sz="1100" b="1" dirty="0">
                <a:solidFill>
                  <a:schemeClr val="bg1"/>
                </a:solidFill>
              </a:rPr>
              <a:t>relay_hops</a:t>
            </a:r>
            <a:endParaRPr lang="en-US" sz="1100" dirty="0"/>
          </a:p>
        </p:txBody>
      </p:sp>
      <p:sp>
        <p:nvSpPr>
          <p:cNvPr id="24" name="Chip vehicles"/>
          <p:cNvSpPr/>
          <p:nvPr/>
        </p:nvSpPr>
        <p:spPr>
          <a:xfrm>
            <a:off x="7150608" y="2203704"/>
            <a:ext cx="1353312" cy="310896"/>
          </a:xfrm>
          <a:prstGeom prst="roundRect">
            <a:avLst>
              <a:gd name="adj" fmla="val 50000"/>
            </a:avLst>
          </a:prstGeom>
          <a:solidFill>
            <a:srgbClr val="1F8A80"/>
          </a:solidFill>
          <a:ln w="12700">
            <a:solidFill>
              <a:srgbClr val="1F8A80"/>
            </a:solidFill>
            <a:prstDash val="solid"/>
          </a:ln>
        </p:spPr>
      </p:sp>
      <p:sp>
        <p:nvSpPr>
          <p:cNvPr id="25" name="Chip text 4"/>
          <p:cNvSpPr txBox="1"/>
          <p:nvPr/>
        </p:nvSpPr>
        <p:spPr>
          <a:xfrm>
            <a:off x="7150608" y="2203704"/>
            <a:ext cx="1353312" cy="310896"/>
          </a:xfrm>
          <a:prstGeom prst="rect">
            <a:avLst/>
          </a:prstGeom>
          <a:noFill/>
          <a:ln/>
        </p:spPr>
        <p:txBody>
          <a:bodyPr wrap="square" lIns="0" tIns="0" rIns="0" bIns="0" rtlCol="0" anchor="ctr"/>
          <a:lstStyle/>
          <a:p>
            <a:pPr algn="ctr" indent="0" marL="0">
              <a:buNone/>
            </a:pPr>
            <a:r>
              <a:rPr lang="en-US" sz="1100" b="1" dirty="0">
                <a:solidFill>
                  <a:schemeClr val="bg1"/>
                </a:solidFill>
              </a:rPr>
              <a:t>vehicles</a:t>
            </a:r>
            <a:endParaRPr lang="en-US" sz="1100" dirty="0"/>
          </a:p>
        </p:txBody>
      </p:sp>
      <p:sp>
        <p:nvSpPr>
          <p:cNvPr id="26" name="Chip vehicle_telemetry"/>
          <p:cNvSpPr/>
          <p:nvPr/>
        </p:nvSpPr>
        <p:spPr>
          <a:xfrm>
            <a:off x="5715000" y="2624328"/>
            <a:ext cx="1353312" cy="310896"/>
          </a:xfrm>
          <a:prstGeom prst="roundRect">
            <a:avLst>
              <a:gd name="adj" fmla="val 50000"/>
            </a:avLst>
          </a:prstGeom>
          <a:solidFill>
            <a:srgbClr val="1F8A80"/>
          </a:solidFill>
          <a:ln w="12700">
            <a:solidFill>
              <a:srgbClr val="1F8A80"/>
            </a:solidFill>
            <a:prstDash val="solid"/>
          </a:ln>
        </p:spPr>
      </p:sp>
      <p:sp>
        <p:nvSpPr>
          <p:cNvPr id="27" name="Chip text 5"/>
          <p:cNvSpPr txBox="1"/>
          <p:nvPr/>
        </p:nvSpPr>
        <p:spPr>
          <a:xfrm>
            <a:off x="5715000" y="2624328"/>
            <a:ext cx="1353312" cy="310896"/>
          </a:xfrm>
          <a:prstGeom prst="rect">
            <a:avLst/>
          </a:prstGeom>
          <a:noFill/>
          <a:ln/>
        </p:spPr>
        <p:txBody>
          <a:bodyPr wrap="square" lIns="0" tIns="0" rIns="0" bIns="0" rtlCol="0" anchor="ctr"/>
          <a:lstStyle/>
          <a:p>
            <a:pPr algn="ctr" indent="0" marL="0">
              <a:buNone/>
            </a:pPr>
            <a:r>
              <a:rPr lang="en-US" sz="1100" b="1" dirty="0">
                <a:solidFill>
                  <a:schemeClr val="bg1"/>
                </a:solidFill>
              </a:rPr>
              <a:t>vehicle_telemetry</a:t>
            </a:r>
            <a:endParaRPr lang="en-US" sz="1100" dirty="0"/>
          </a:p>
        </p:txBody>
      </p:sp>
      <p:sp>
        <p:nvSpPr>
          <p:cNvPr id="28" name="Chip reservations"/>
          <p:cNvSpPr/>
          <p:nvPr/>
        </p:nvSpPr>
        <p:spPr>
          <a:xfrm>
            <a:off x="7150608" y="2624328"/>
            <a:ext cx="1353312" cy="310896"/>
          </a:xfrm>
          <a:prstGeom prst="roundRect">
            <a:avLst>
              <a:gd name="adj" fmla="val 50000"/>
            </a:avLst>
          </a:prstGeom>
          <a:solidFill>
            <a:srgbClr val="1F8A80"/>
          </a:solidFill>
          <a:ln w="12700">
            <a:solidFill>
              <a:srgbClr val="1F8A80"/>
            </a:solidFill>
            <a:prstDash val="solid"/>
          </a:ln>
        </p:spPr>
      </p:sp>
      <p:sp>
        <p:nvSpPr>
          <p:cNvPr id="29" name="Chip text 6"/>
          <p:cNvSpPr txBox="1"/>
          <p:nvPr/>
        </p:nvSpPr>
        <p:spPr>
          <a:xfrm>
            <a:off x="7150608" y="2624328"/>
            <a:ext cx="1353312" cy="310896"/>
          </a:xfrm>
          <a:prstGeom prst="rect">
            <a:avLst/>
          </a:prstGeom>
          <a:noFill/>
          <a:ln/>
        </p:spPr>
        <p:txBody>
          <a:bodyPr wrap="square" lIns="0" tIns="0" rIns="0" bIns="0" rtlCol="0" anchor="ctr"/>
          <a:lstStyle/>
          <a:p>
            <a:pPr algn="ctr" indent="0" marL="0">
              <a:buNone/>
            </a:pPr>
            <a:r>
              <a:rPr lang="en-US" sz="1100" b="1" dirty="0">
                <a:solidFill>
                  <a:schemeClr val="bg1"/>
                </a:solidFill>
              </a:rPr>
              <a:t>reservations</a:t>
            </a:r>
            <a:endParaRPr lang="en-US" sz="1100" dirty="0"/>
          </a:p>
        </p:txBody>
      </p:sp>
      <p:sp>
        <p:nvSpPr>
          <p:cNvPr id="30" name="Chip help_offers"/>
          <p:cNvSpPr/>
          <p:nvPr/>
        </p:nvSpPr>
        <p:spPr>
          <a:xfrm>
            <a:off x="5715000" y="3044952"/>
            <a:ext cx="1353312" cy="310896"/>
          </a:xfrm>
          <a:prstGeom prst="roundRect">
            <a:avLst>
              <a:gd name="adj" fmla="val 50000"/>
            </a:avLst>
          </a:prstGeom>
          <a:solidFill>
            <a:srgbClr val="1F8A80"/>
          </a:solidFill>
          <a:ln w="12700">
            <a:solidFill>
              <a:srgbClr val="1F8A80"/>
            </a:solidFill>
            <a:prstDash val="solid"/>
          </a:ln>
        </p:spPr>
      </p:sp>
      <p:sp>
        <p:nvSpPr>
          <p:cNvPr id="31" name="Chip text 7"/>
          <p:cNvSpPr txBox="1"/>
          <p:nvPr/>
        </p:nvSpPr>
        <p:spPr>
          <a:xfrm>
            <a:off x="5715000" y="3044952"/>
            <a:ext cx="1353312" cy="310896"/>
          </a:xfrm>
          <a:prstGeom prst="rect">
            <a:avLst/>
          </a:prstGeom>
          <a:noFill/>
          <a:ln/>
        </p:spPr>
        <p:txBody>
          <a:bodyPr wrap="square" lIns="0" tIns="0" rIns="0" bIns="0" rtlCol="0" anchor="ctr"/>
          <a:lstStyle/>
          <a:p>
            <a:pPr algn="ctr" indent="0" marL="0">
              <a:buNone/>
            </a:pPr>
            <a:r>
              <a:rPr lang="en-US" sz="1100" b="1" dirty="0">
                <a:solidFill>
                  <a:schemeClr val="bg1"/>
                </a:solidFill>
              </a:rPr>
              <a:t>help_offers</a:t>
            </a:r>
            <a:endParaRPr lang="en-US" sz="1100" dirty="0"/>
          </a:p>
        </p:txBody>
      </p:sp>
      <p:sp>
        <p:nvSpPr>
          <p:cNvPr id="32" name="Chip riders"/>
          <p:cNvSpPr/>
          <p:nvPr/>
        </p:nvSpPr>
        <p:spPr>
          <a:xfrm>
            <a:off x="7150608" y="3044952"/>
            <a:ext cx="1353312" cy="310896"/>
          </a:xfrm>
          <a:prstGeom prst="roundRect">
            <a:avLst>
              <a:gd name="adj" fmla="val 50000"/>
            </a:avLst>
          </a:prstGeom>
          <a:solidFill>
            <a:srgbClr val="1F8A80"/>
          </a:solidFill>
          <a:ln w="12700">
            <a:solidFill>
              <a:srgbClr val="1F8A80"/>
            </a:solidFill>
            <a:prstDash val="solid"/>
          </a:ln>
        </p:spPr>
      </p:sp>
      <p:sp>
        <p:nvSpPr>
          <p:cNvPr id="33" name="Chip text 8"/>
          <p:cNvSpPr txBox="1"/>
          <p:nvPr/>
        </p:nvSpPr>
        <p:spPr>
          <a:xfrm>
            <a:off x="7150608" y="3044952"/>
            <a:ext cx="1353312" cy="310896"/>
          </a:xfrm>
          <a:prstGeom prst="rect">
            <a:avLst/>
          </a:prstGeom>
          <a:noFill/>
          <a:ln/>
        </p:spPr>
        <p:txBody>
          <a:bodyPr wrap="square" lIns="0" tIns="0" rIns="0" bIns="0" rtlCol="0" anchor="ctr"/>
          <a:lstStyle/>
          <a:p>
            <a:pPr algn="ctr" indent="0" marL="0">
              <a:buNone/>
            </a:pPr>
            <a:r>
              <a:rPr lang="en-US" sz="1100" b="1" dirty="0">
                <a:solidFill>
                  <a:schemeClr val="bg1"/>
                </a:solidFill>
              </a:rPr>
              <a:t>riders</a:t>
            </a:r>
            <a:endParaRPr lang="en-US" sz="1100" dirty="0"/>
          </a:p>
        </p:txBody>
      </p:sp>
      <p:sp>
        <p:nvSpPr>
          <p:cNvPr id="34" name="Chip PostGIS"/>
          <p:cNvSpPr/>
          <p:nvPr/>
        </p:nvSpPr>
        <p:spPr>
          <a:xfrm>
            <a:off x="5715000" y="3465576"/>
            <a:ext cx="1353312" cy="310896"/>
          </a:xfrm>
          <a:prstGeom prst="roundRect">
            <a:avLst>
              <a:gd name="adj" fmla="val 50000"/>
            </a:avLst>
          </a:prstGeom>
          <a:solidFill>
            <a:srgbClr val="F5B700"/>
          </a:solidFill>
          <a:ln w="12700">
            <a:solidFill>
              <a:srgbClr val="F5B700"/>
            </a:solidFill>
            <a:prstDash val="solid"/>
          </a:ln>
        </p:spPr>
      </p:sp>
      <p:sp>
        <p:nvSpPr>
          <p:cNvPr id="35" name="Chip text 9"/>
          <p:cNvSpPr txBox="1"/>
          <p:nvPr/>
        </p:nvSpPr>
        <p:spPr>
          <a:xfrm>
            <a:off x="5715000" y="3465576"/>
            <a:ext cx="1353312" cy="310896"/>
          </a:xfrm>
          <a:prstGeom prst="rect">
            <a:avLst/>
          </a:prstGeom>
          <a:noFill/>
          <a:ln/>
        </p:spPr>
        <p:txBody>
          <a:bodyPr wrap="square" lIns="0" tIns="0" rIns="0" bIns="0" rtlCol="0" anchor="ctr"/>
          <a:lstStyle/>
          <a:p>
            <a:pPr algn="ctr" indent="0" marL="0">
              <a:buNone/>
            </a:pPr>
            <a:r>
              <a:rPr lang="en-US" sz="1100" b="1" dirty="0">
                <a:solidFill>
                  <a:schemeClr val="tx1"/>
                </a:solidFill>
              </a:rPr>
              <a:t>PostGIS</a:t>
            </a:r>
            <a:endParaRPr lang="en-US" sz="1100" dirty="0"/>
          </a:p>
        </p:txBody>
      </p:sp>
      <p:sp>
        <p:nvSpPr>
          <p:cNvPr id="36" name="Chip Row-level security"/>
          <p:cNvSpPr/>
          <p:nvPr/>
        </p:nvSpPr>
        <p:spPr>
          <a:xfrm>
            <a:off x="7150608" y="3465576"/>
            <a:ext cx="1353312" cy="310896"/>
          </a:xfrm>
          <a:prstGeom prst="roundRect">
            <a:avLst>
              <a:gd name="adj" fmla="val 50000"/>
            </a:avLst>
          </a:prstGeom>
          <a:solidFill>
            <a:srgbClr val="F5B700"/>
          </a:solidFill>
          <a:ln w="12700">
            <a:solidFill>
              <a:srgbClr val="F5B700"/>
            </a:solidFill>
            <a:prstDash val="solid"/>
          </a:ln>
        </p:spPr>
      </p:sp>
      <p:sp>
        <p:nvSpPr>
          <p:cNvPr id="37" name="Chip text 10"/>
          <p:cNvSpPr txBox="1"/>
          <p:nvPr/>
        </p:nvSpPr>
        <p:spPr>
          <a:xfrm>
            <a:off x="7150608" y="3465576"/>
            <a:ext cx="1353312" cy="310896"/>
          </a:xfrm>
          <a:prstGeom prst="rect">
            <a:avLst/>
          </a:prstGeom>
          <a:noFill/>
          <a:ln/>
        </p:spPr>
        <p:txBody>
          <a:bodyPr wrap="square" lIns="0" tIns="0" rIns="0" bIns="0" rtlCol="0" anchor="ctr"/>
          <a:lstStyle/>
          <a:p>
            <a:pPr algn="ctr" indent="0" marL="0">
              <a:buNone/>
            </a:pPr>
            <a:r>
              <a:rPr lang="en-US" sz="1100" b="1" dirty="0">
                <a:solidFill>
                  <a:schemeClr val="tx1"/>
                </a:solidFill>
              </a:rPr>
              <a:t>Row-level security</a:t>
            </a:r>
            <a:endParaRPr lang="en-US" sz="1100" dirty="0"/>
          </a:p>
        </p:txBody>
      </p:sp>
      <p:sp>
        <p:nvSpPr>
          <p:cNvPr id="38" name="Chip Realtime"/>
          <p:cNvSpPr/>
          <p:nvPr/>
        </p:nvSpPr>
        <p:spPr>
          <a:xfrm>
            <a:off x="5715000" y="3886200"/>
            <a:ext cx="1353312" cy="310896"/>
          </a:xfrm>
          <a:prstGeom prst="roundRect">
            <a:avLst>
              <a:gd name="adj" fmla="val 50000"/>
            </a:avLst>
          </a:prstGeom>
          <a:solidFill>
            <a:srgbClr val="F5B700"/>
          </a:solidFill>
          <a:ln w="12700">
            <a:solidFill>
              <a:srgbClr val="F5B700"/>
            </a:solidFill>
            <a:prstDash val="solid"/>
          </a:ln>
        </p:spPr>
      </p:sp>
      <p:sp>
        <p:nvSpPr>
          <p:cNvPr id="39" name="Chip text 11"/>
          <p:cNvSpPr txBox="1"/>
          <p:nvPr/>
        </p:nvSpPr>
        <p:spPr>
          <a:xfrm>
            <a:off x="5715000" y="3886200"/>
            <a:ext cx="1353312" cy="310896"/>
          </a:xfrm>
          <a:prstGeom prst="rect">
            <a:avLst/>
          </a:prstGeom>
          <a:noFill/>
          <a:ln/>
        </p:spPr>
        <p:txBody>
          <a:bodyPr wrap="square" lIns="0" tIns="0" rIns="0" bIns="0" rtlCol="0" anchor="ctr"/>
          <a:lstStyle/>
          <a:p>
            <a:pPr algn="ctr" indent="0" marL="0">
              <a:buNone/>
            </a:pPr>
            <a:r>
              <a:rPr lang="en-US" sz="1100" b="1" dirty="0">
                <a:solidFill>
                  <a:schemeClr val="tx1"/>
                </a:solidFill>
              </a:rPr>
              <a:t>Realtime</a:t>
            </a:r>
            <a:endParaRPr lang="en-US" sz="1100" dirty="0"/>
          </a:p>
        </p:txBody>
      </p:sp>
      <p:sp>
        <p:nvSpPr>
          <p:cNvPr id="40" name="Chip Storage"/>
          <p:cNvSpPr/>
          <p:nvPr/>
        </p:nvSpPr>
        <p:spPr>
          <a:xfrm>
            <a:off x="7150608" y="3886200"/>
            <a:ext cx="1353312" cy="310896"/>
          </a:xfrm>
          <a:prstGeom prst="roundRect">
            <a:avLst>
              <a:gd name="adj" fmla="val 50000"/>
            </a:avLst>
          </a:prstGeom>
          <a:solidFill>
            <a:srgbClr val="F5B700"/>
          </a:solidFill>
          <a:ln w="12700">
            <a:solidFill>
              <a:srgbClr val="F5B700"/>
            </a:solidFill>
            <a:prstDash val="solid"/>
          </a:ln>
        </p:spPr>
      </p:sp>
      <p:sp>
        <p:nvSpPr>
          <p:cNvPr id="41" name="Chip text 12"/>
          <p:cNvSpPr txBox="1"/>
          <p:nvPr/>
        </p:nvSpPr>
        <p:spPr>
          <a:xfrm>
            <a:off x="7150608" y="3886200"/>
            <a:ext cx="1353312" cy="310896"/>
          </a:xfrm>
          <a:prstGeom prst="rect">
            <a:avLst/>
          </a:prstGeom>
          <a:noFill/>
          <a:ln/>
        </p:spPr>
        <p:txBody>
          <a:bodyPr wrap="square" lIns="0" tIns="0" rIns="0" bIns="0" rtlCol="0" anchor="ctr"/>
          <a:lstStyle/>
          <a:p>
            <a:pPr algn="ctr" indent="0" marL="0">
              <a:buNone/>
            </a:pPr>
            <a:r>
              <a:rPr lang="en-US" sz="1100" b="1" dirty="0">
                <a:solidFill>
                  <a:schemeClr val="tx1"/>
                </a:solidFill>
              </a:rPr>
              <a:t>Storage</a:t>
            </a:r>
            <a:endParaRPr lang="en-US" sz="11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400" b="1" dirty="0">
                <a:solidFill>
                  <a:schemeClr val="tx1"/>
                </a:solidFill>
              </a:rPr>
              <a:t>Admin portal</a:t>
            </a:r>
            <a:endParaRPr lang="en-US" sz="3400" dirty="0"/>
          </a:p>
        </p:txBody>
      </p:sp>
      <p:sp>
        <p:nvSpPr>
          <p:cNvPr id="4" name="Tile Live map"/>
          <p:cNvSpPr/>
          <p:nvPr/>
        </p:nvSpPr>
        <p:spPr>
          <a:xfrm>
            <a:off x="457200" y="1234440"/>
            <a:ext cx="2651760" cy="1554480"/>
          </a:xfrm>
          <a:prstGeom prst="roundRect">
            <a:avLst>
              <a:gd name="adj" fmla="val 4706"/>
            </a:avLst>
          </a:prstGeom>
          <a:solidFill>
            <a:schemeClr val="bg2"/>
          </a:solidFill>
          <a:ln w="12700">
            <a:solidFill>
              <a:schemeClr val="bg2"/>
            </a:solidFill>
            <a:prstDash val="solid"/>
          </a:ln>
        </p:spPr>
      </p:sp>
      <p:sp>
        <p:nvSpPr>
          <p:cNvPr id="5" name="Live map badge"/>
          <p:cNvSpPr/>
          <p:nvPr/>
        </p:nvSpPr>
        <p:spPr>
          <a:xfrm>
            <a:off x="640080" y="1399032"/>
            <a:ext cx="457200" cy="457200"/>
          </a:xfrm>
          <a:prstGeom prst="ellipse">
            <a:avLst/>
          </a:prstGeom>
          <a:solidFill>
            <a:srgbClr val="1F8A80"/>
          </a:solidFill>
          <a:ln w="12700">
            <a:solidFill>
              <a:srgbClr val="1F8A80"/>
            </a:solidFill>
            <a:prstDash val="solid"/>
          </a:ln>
        </p:spPr>
      </p:sp>
      <p:pic>
        <p:nvPicPr>
          <p:cNvPr id="6" name="FaMapMarkedAlt" descr="MapMarkedAlt icon">    </p:cNvPr>
          <p:cNvPicPr>
            <a:picLocks noChangeAspect="1"/>
          </p:cNvPicPr>
          <p:nvPr/>
        </p:nvPicPr>
        <p:blipFill>
          <a:blip r:embed="rId1"/>
          <a:stretch>
            <a:fillRect/>
          </a:stretch>
        </p:blipFill>
        <p:spPr>
          <a:xfrm>
            <a:off x="749808" y="1508760"/>
            <a:ext cx="237744" cy="237744"/>
          </a:xfrm>
          <a:prstGeom prst="rect">
            <a:avLst/>
          </a:prstGeom>
        </p:spPr>
      </p:pic>
      <p:sp>
        <p:nvSpPr>
          <p:cNvPr id="7" name="Tile title 1"/>
          <p:cNvSpPr txBox="1"/>
          <p:nvPr/>
        </p:nvSpPr>
        <p:spPr>
          <a:xfrm>
            <a:off x="1234440" y="1417320"/>
            <a:ext cx="1737360" cy="420624"/>
          </a:xfrm>
          <a:prstGeom prst="rect">
            <a:avLst/>
          </a:prstGeom>
          <a:noFill/>
          <a:ln/>
        </p:spPr>
        <p:txBody>
          <a:bodyPr wrap="square" lIns="0" tIns="0" rIns="0" bIns="0" rtlCol="0" anchor="ctr"/>
          <a:lstStyle/>
          <a:p>
            <a:pPr indent="0" marL="0">
              <a:buNone/>
            </a:pPr>
            <a:r>
              <a:rPr lang="en-US" sz="1500" b="1" dirty="0">
                <a:solidFill>
                  <a:schemeClr val="tx1"/>
                </a:solidFill>
              </a:rPr>
              <a:t>Live map</a:t>
            </a:r>
            <a:endParaRPr lang="en-US" sz="1500" dirty="0"/>
          </a:p>
        </p:txBody>
      </p:sp>
      <p:sp>
        <p:nvSpPr>
          <p:cNvPr id="8" name="Tile text 1"/>
          <p:cNvSpPr txBox="1"/>
          <p:nvPr/>
        </p:nvSpPr>
        <p:spPr>
          <a:xfrm>
            <a:off x="640080" y="1984248"/>
            <a:ext cx="2331720" cy="731520"/>
          </a:xfrm>
          <a:prstGeom prst="rect">
            <a:avLst/>
          </a:prstGeom>
          <a:noFill/>
          <a:ln/>
        </p:spPr>
        <p:txBody>
          <a:bodyPr wrap="square" lIns="0" tIns="0" rIns="0" bIns="0" rtlCol="0" anchor="ctr"/>
          <a:lstStyle/>
          <a:p>
            <a:pPr indent="0" marL="0">
              <a:buNone/>
            </a:pPr>
            <a:r>
              <a:rPr lang="en-US" sz="1200" dirty="0">
                <a:solidFill>
                  <a:schemeClr val="tx1"/>
                </a:solidFill>
              </a:rPr>
              <a:t>Dark or light map, alert clusters, stations with stock and a relay path line.</a:t>
            </a:r>
            <a:endParaRPr lang="en-US" sz="1200" dirty="0"/>
          </a:p>
        </p:txBody>
      </p:sp>
      <p:sp>
        <p:nvSpPr>
          <p:cNvPr id="9" name="Tile Alert response"/>
          <p:cNvSpPr/>
          <p:nvPr/>
        </p:nvSpPr>
        <p:spPr>
          <a:xfrm>
            <a:off x="3246120" y="1234440"/>
            <a:ext cx="2651760" cy="1554480"/>
          </a:xfrm>
          <a:prstGeom prst="roundRect">
            <a:avLst>
              <a:gd name="adj" fmla="val 4706"/>
            </a:avLst>
          </a:prstGeom>
          <a:solidFill>
            <a:schemeClr val="bg2"/>
          </a:solidFill>
          <a:ln w="12700">
            <a:solidFill>
              <a:schemeClr val="bg2"/>
            </a:solidFill>
            <a:prstDash val="solid"/>
          </a:ln>
        </p:spPr>
      </p:sp>
      <p:sp>
        <p:nvSpPr>
          <p:cNvPr id="10" name="Alert response badge"/>
          <p:cNvSpPr/>
          <p:nvPr/>
        </p:nvSpPr>
        <p:spPr>
          <a:xfrm>
            <a:off x="3429000" y="1399032"/>
            <a:ext cx="457200" cy="457200"/>
          </a:xfrm>
          <a:prstGeom prst="ellipse">
            <a:avLst/>
          </a:prstGeom>
          <a:solidFill>
            <a:srgbClr val="1F8A80"/>
          </a:solidFill>
          <a:ln w="12700">
            <a:solidFill>
              <a:srgbClr val="1F8A80"/>
            </a:solidFill>
            <a:prstDash val="solid"/>
          </a:ln>
        </p:spPr>
      </p:sp>
      <p:pic>
        <p:nvPicPr>
          <p:cNvPr id="11" name="FaBell" descr="Bell icon">    </p:cNvPr>
          <p:cNvPicPr>
            <a:picLocks noChangeAspect="1"/>
          </p:cNvPicPr>
          <p:nvPr/>
        </p:nvPicPr>
        <p:blipFill>
          <a:blip r:embed="rId2"/>
          <a:stretch>
            <a:fillRect/>
          </a:stretch>
        </p:blipFill>
        <p:spPr>
          <a:xfrm>
            <a:off x="3538728" y="1508760"/>
            <a:ext cx="237744" cy="237744"/>
          </a:xfrm>
          <a:prstGeom prst="rect">
            <a:avLst/>
          </a:prstGeom>
        </p:spPr>
      </p:pic>
      <p:sp>
        <p:nvSpPr>
          <p:cNvPr id="12" name="Tile title 2"/>
          <p:cNvSpPr txBox="1"/>
          <p:nvPr/>
        </p:nvSpPr>
        <p:spPr>
          <a:xfrm>
            <a:off x="4023360" y="1417320"/>
            <a:ext cx="1737360" cy="420624"/>
          </a:xfrm>
          <a:prstGeom prst="rect">
            <a:avLst/>
          </a:prstGeom>
          <a:noFill/>
          <a:ln/>
        </p:spPr>
        <p:txBody>
          <a:bodyPr wrap="square" lIns="0" tIns="0" rIns="0" bIns="0" rtlCol="0" anchor="ctr"/>
          <a:lstStyle/>
          <a:p>
            <a:pPr indent="0" marL="0">
              <a:buNone/>
            </a:pPr>
            <a:r>
              <a:rPr lang="en-US" sz="1500" b="1" dirty="0">
                <a:solidFill>
                  <a:schemeClr val="tx1"/>
                </a:solidFill>
              </a:rPr>
              <a:t>Alert response</a:t>
            </a:r>
            <a:endParaRPr lang="en-US" sz="1500" dirty="0"/>
          </a:p>
        </p:txBody>
      </p:sp>
      <p:sp>
        <p:nvSpPr>
          <p:cNvPr id="13" name="Tile text 2"/>
          <p:cNvSpPr txBox="1"/>
          <p:nvPr/>
        </p:nvSpPr>
        <p:spPr>
          <a:xfrm>
            <a:off x="3429000" y="1984248"/>
            <a:ext cx="2331720" cy="731520"/>
          </a:xfrm>
          <a:prstGeom prst="rect">
            <a:avLst/>
          </a:prstGeom>
          <a:noFill/>
          <a:ln/>
        </p:spPr>
        <p:txBody>
          <a:bodyPr wrap="square" lIns="0" tIns="0" rIns="0" bIns="0" rtlCol="0" anchor="ctr"/>
          <a:lstStyle/>
          <a:p>
            <a:pPr indent="0" marL="0">
              <a:buNone/>
            </a:pPr>
            <a:r>
              <a:rPr lang="en-US" sz="1200" dirty="0">
                <a:solidFill>
                  <a:schemeClr val="tx1"/>
                </a:solidFill>
              </a:rPr>
              <a:t>Filter alerts, mark help sent or resolved, and hold a battery at a station.</a:t>
            </a:r>
            <a:endParaRPr lang="en-US" sz="1200" dirty="0"/>
          </a:p>
        </p:txBody>
      </p:sp>
      <p:sp>
        <p:nvSpPr>
          <p:cNvPr id="14" name="Tile Stations and stock"/>
          <p:cNvSpPr/>
          <p:nvPr/>
        </p:nvSpPr>
        <p:spPr>
          <a:xfrm>
            <a:off x="6035040" y="1234440"/>
            <a:ext cx="2651760" cy="1554480"/>
          </a:xfrm>
          <a:prstGeom prst="roundRect">
            <a:avLst>
              <a:gd name="adj" fmla="val 4706"/>
            </a:avLst>
          </a:prstGeom>
          <a:solidFill>
            <a:schemeClr val="bg2"/>
          </a:solidFill>
          <a:ln w="12700">
            <a:solidFill>
              <a:schemeClr val="bg2"/>
            </a:solidFill>
            <a:prstDash val="solid"/>
          </a:ln>
        </p:spPr>
      </p:sp>
      <p:sp>
        <p:nvSpPr>
          <p:cNvPr id="15" name="Stations and stock badge"/>
          <p:cNvSpPr/>
          <p:nvPr/>
        </p:nvSpPr>
        <p:spPr>
          <a:xfrm>
            <a:off x="6217920" y="1399032"/>
            <a:ext cx="457200" cy="457200"/>
          </a:xfrm>
          <a:prstGeom prst="ellipse">
            <a:avLst/>
          </a:prstGeom>
          <a:solidFill>
            <a:srgbClr val="1F8A80"/>
          </a:solidFill>
          <a:ln w="12700">
            <a:solidFill>
              <a:srgbClr val="1F8A80"/>
            </a:solidFill>
            <a:prstDash val="solid"/>
          </a:ln>
        </p:spPr>
      </p:sp>
      <p:pic>
        <p:nvPicPr>
          <p:cNvPr id="16" name="FaChargingStation" descr="ChargingStation icon">    </p:cNvPr>
          <p:cNvPicPr>
            <a:picLocks noChangeAspect="1"/>
          </p:cNvPicPr>
          <p:nvPr/>
        </p:nvPicPr>
        <p:blipFill>
          <a:blip r:embed="rId3"/>
          <a:stretch>
            <a:fillRect/>
          </a:stretch>
        </p:blipFill>
        <p:spPr>
          <a:xfrm>
            <a:off x="6327648" y="1508760"/>
            <a:ext cx="237744" cy="237744"/>
          </a:xfrm>
          <a:prstGeom prst="rect">
            <a:avLst/>
          </a:prstGeom>
        </p:spPr>
      </p:pic>
      <p:sp>
        <p:nvSpPr>
          <p:cNvPr id="17" name="Tile title 3"/>
          <p:cNvSpPr txBox="1"/>
          <p:nvPr/>
        </p:nvSpPr>
        <p:spPr>
          <a:xfrm>
            <a:off x="6812280" y="1417320"/>
            <a:ext cx="1737360" cy="420624"/>
          </a:xfrm>
          <a:prstGeom prst="rect">
            <a:avLst/>
          </a:prstGeom>
          <a:noFill/>
          <a:ln/>
        </p:spPr>
        <p:txBody>
          <a:bodyPr wrap="square" lIns="0" tIns="0" rIns="0" bIns="0" rtlCol="0" anchor="ctr"/>
          <a:lstStyle/>
          <a:p>
            <a:pPr indent="0" marL="0">
              <a:buNone/>
            </a:pPr>
            <a:r>
              <a:rPr lang="en-US" sz="1500" b="1" dirty="0">
                <a:solidFill>
                  <a:schemeClr val="tx1"/>
                </a:solidFill>
              </a:rPr>
              <a:t>Stations and stock</a:t>
            </a:r>
            <a:endParaRPr lang="en-US" sz="1500" dirty="0"/>
          </a:p>
        </p:txBody>
      </p:sp>
      <p:sp>
        <p:nvSpPr>
          <p:cNvPr id="18" name="Tile text 3"/>
          <p:cNvSpPr txBox="1"/>
          <p:nvPr/>
        </p:nvSpPr>
        <p:spPr>
          <a:xfrm>
            <a:off x="6217920" y="1984248"/>
            <a:ext cx="2331720" cy="731520"/>
          </a:xfrm>
          <a:prstGeom prst="rect">
            <a:avLst/>
          </a:prstGeom>
          <a:noFill/>
          <a:ln/>
        </p:spPr>
        <p:txBody>
          <a:bodyPr wrap="square" lIns="0" tIns="0" rIns="0" bIns="0" rtlCol="0" anchor="ctr"/>
          <a:lstStyle/>
          <a:p>
            <a:pPr indent="0" marL="0">
              <a:buNone/>
            </a:pPr>
            <a:r>
              <a:rPr lang="en-US" sz="1200" dirty="0">
                <a:solidFill>
                  <a:schemeClr val="tx1"/>
                </a:solidFill>
              </a:rPr>
              <a:t>Plus and minus stock buttons. Held batteries are counted out automatically.</a:t>
            </a:r>
            <a:endParaRPr lang="en-US" sz="1200" dirty="0"/>
          </a:p>
        </p:txBody>
      </p:sp>
      <p:sp>
        <p:nvSpPr>
          <p:cNvPr id="19" name="Tile Road routes"/>
          <p:cNvSpPr/>
          <p:nvPr/>
        </p:nvSpPr>
        <p:spPr>
          <a:xfrm>
            <a:off x="457200" y="2926080"/>
            <a:ext cx="2651760" cy="1554480"/>
          </a:xfrm>
          <a:prstGeom prst="roundRect">
            <a:avLst>
              <a:gd name="adj" fmla="val 4706"/>
            </a:avLst>
          </a:prstGeom>
          <a:solidFill>
            <a:schemeClr val="bg2"/>
          </a:solidFill>
          <a:ln w="12700">
            <a:solidFill>
              <a:schemeClr val="bg2"/>
            </a:solidFill>
            <a:prstDash val="solid"/>
          </a:ln>
        </p:spPr>
      </p:sp>
      <p:sp>
        <p:nvSpPr>
          <p:cNvPr id="20" name="Road routes badge"/>
          <p:cNvSpPr/>
          <p:nvPr/>
        </p:nvSpPr>
        <p:spPr>
          <a:xfrm>
            <a:off x="640080" y="3090672"/>
            <a:ext cx="457200" cy="457200"/>
          </a:xfrm>
          <a:prstGeom prst="ellipse">
            <a:avLst/>
          </a:prstGeom>
          <a:solidFill>
            <a:srgbClr val="1F8A80"/>
          </a:solidFill>
          <a:ln w="12700">
            <a:solidFill>
              <a:srgbClr val="1F8A80"/>
            </a:solidFill>
            <a:prstDash val="solid"/>
          </a:ln>
        </p:spPr>
      </p:sp>
      <p:pic>
        <p:nvPicPr>
          <p:cNvPr id="21" name="FaRoute" descr="Route icon">    </p:cNvPr>
          <p:cNvPicPr>
            <a:picLocks noChangeAspect="1"/>
          </p:cNvPicPr>
          <p:nvPr/>
        </p:nvPicPr>
        <p:blipFill>
          <a:blip r:embed="rId4"/>
          <a:stretch>
            <a:fillRect/>
          </a:stretch>
        </p:blipFill>
        <p:spPr>
          <a:xfrm>
            <a:off x="749808" y="3200400"/>
            <a:ext cx="237744" cy="237744"/>
          </a:xfrm>
          <a:prstGeom prst="rect">
            <a:avLst/>
          </a:prstGeom>
        </p:spPr>
      </p:pic>
      <p:sp>
        <p:nvSpPr>
          <p:cNvPr id="22" name="Tile title 4"/>
          <p:cNvSpPr txBox="1"/>
          <p:nvPr/>
        </p:nvSpPr>
        <p:spPr>
          <a:xfrm>
            <a:off x="1234440" y="3108960"/>
            <a:ext cx="1737360" cy="420624"/>
          </a:xfrm>
          <a:prstGeom prst="rect">
            <a:avLst/>
          </a:prstGeom>
          <a:noFill/>
          <a:ln/>
        </p:spPr>
        <p:txBody>
          <a:bodyPr wrap="square" lIns="0" tIns="0" rIns="0" bIns="0" rtlCol="0" anchor="ctr"/>
          <a:lstStyle/>
          <a:p>
            <a:pPr indent="0" marL="0">
              <a:buNone/>
            </a:pPr>
            <a:r>
              <a:rPr lang="en-US" sz="1500" b="1" dirty="0">
                <a:solidFill>
                  <a:schemeClr val="tx1"/>
                </a:solidFill>
              </a:rPr>
              <a:t>Road routes</a:t>
            </a:r>
            <a:endParaRPr lang="en-US" sz="1500" dirty="0"/>
          </a:p>
        </p:txBody>
      </p:sp>
      <p:sp>
        <p:nvSpPr>
          <p:cNvPr id="23" name="Tile text 4"/>
          <p:cNvSpPr txBox="1"/>
          <p:nvPr/>
        </p:nvSpPr>
        <p:spPr>
          <a:xfrm>
            <a:off x="640080" y="3675888"/>
            <a:ext cx="2331720" cy="731520"/>
          </a:xfrm>
          <a:prstGeom prst="rect">
            <a:avLst/>
          </a:prstGeom>
          <a:noFill/>
          <a:ln/>
        </p:spPr>
        <p:txBody>
          <a:bodyPr wrap="square" lIns="0" tIns="0" rIns="0" bIns="0" rtlCol="0" anchor="ctr"/>
          <a:lstStyle/>
          <a:p>
            <a:pPr indent="0" marL="0">
              <a:buNone/>
            </a:pPr>
            <a:r>
              <a:rPr lang="en-US" sz="1200" dirty="0">
                <a:solidFill>
                  <a:schemeClr val="tx1"/>
                </a:solidFill>
              </a:rPr>
              <a:t>OSRM routes to the nearest stations with stock, checked against battery range.</a:t>
            </a:r>
            <a:endParaRPr lang="en-US" sz="1200" dirty="0"/>
          </a:p>
        </p:txBody>
      </p:sp>
      <p:sp>
        <p:nvSpPr>
          <p:cNvPr id="24" name="Tile Vehicles and keys"/>
          <p:cNvSpPr/>
          <p:nvPr/>
        </p:nvSpPr>
        <p:spPr>
          <a:xfrm>
            <a:off x="3246120" y="2926080"/>
            <a:ext cx="2651760" cy="1554480"/>
          </a:xfrm>
          <a:prstGeom prst="roundRect">
            <a:avLst>
              <a:gd name="adj" fmla="val 4706"/>
            </a:avLst>
          </a:prstGeom>
          <a:solidFill>
            <a:schemeClr val="bg2"/>
          </a:solidFill>
          <a:ln w="12700">
            <a:solidFill>
              <a:schemeClr val="bg2"/>
            </a:solidFill>
            <a:prstDash val="solid"/>
          </a:ln>
        </p:spPr>
      </p:sp>
      <p:sp>
        <p:nvSpPr>
          <p:cNvPr id="25" name="Vehicles and keys badge"/>
          <p:cNvSpPr/>
          <p:nvPr/>
        </p:nvSpPr>
        <p:spPr>
          <a:xfrm>
            <a:off x="3429000" y="3090672"/>
            <a:ext cx="457200" cy="457200"/>
          </a:xfrm>
          <a:prstGeom prst="ellipse">
            <a:avLst/>
          </a:prstGeom>
          <a:solidFill>
            <a:srgbClr val="1F8A80"/>
          </a:solidFill>
          <a:ln w="12700">
            <a:solidFill>
              <a:srgbClr val="1F8A80"/>
            </a:solidFill>
            <a:prstDash val="solid"/>
          </a:ln>
        </p:spPr>
      </p:sp>
      <p:pic>
        <p:nvPicPr>
          <p:cNvPr id="26" name="FaKey" descr="Key icon">    </p:cNvPr>
          <p:cNvPicPr>
            <a:picLocks noChangeAspect="1"/>
          </p:cNvPicPr>
          <p:nvPr/>
        </p:nvPicPr>
        <p:blipFill>
          <a:blip r:embed="rId5"/>
          <a:stretch>
            <a:fillRect/>
          </a:stretch>
        </p:blipFill>
        <p:spPr>
          <a:xfrm>
            <a:off x="3538728" y="3200400"/>
            <a:ext cx="237744" cy="237744"/>
          </a:xfrm>
          <a:prstGeom prst="rect">
            <a:avLst/>
          </a:prstGeom>
        </p:spPr>
      </p:pic>
      <p:sp>
        <p:nvSpPr>
          <p:cNvPr id="27" name="Tile title 5"/>
          <p:cNvSpPr txBox="1"/>
          <p:nvPr/>
        </p:nvSpPr>
        <p:spPr>
          <a:xfrm>
            <a:off x="4023360" y="3108960"/>
            <a:ext cx="1737360" cy="420624"/>
          </a:xfrm>
          <a:prstGeom prst="rect">
            <a:avLst/>
          </a:prstGeom>
          <a:noFill/>
          <a:ln/>
        </p:spPr>
        <p:txBody>
          <a:bodyPr wrap="square" lIns="0" tIns="0" rIns="0" bIns="0" rtlCol="0" anchor="ctr"/>
          <a:lstStyle/>
          <a:p>
            <a:pPr indent="0" marL="0">
              <a:buNone/>
            </a:pPr>
            <a:r>
              <a:rPr lang="en-US" sz="1500" b="1" dirty="0">
                <a:solidFill>
                  <a:schemeClr val="tx1"/>
                </a:solidFill>
              </a:rPr>
              <a:t>Vehicles and keys</a:t>
            </a:r>
            <a:endParaRPr lang="en-US" sz="1500" dirty="0"/>
          </a:p>
        </p:txBody>
      </p:sp>
      <p:sp>
        <p:nvSpPr>
          <p:cNvPr id="28" name="Tile text 5"/>
          <p:cNvSpPr txBox="1"/>
          <p:nvPr/>
        </p:nvSpPr>
        <p:spPr>
          <a:xfrm>
            <a:off x="3429000" y="3675888"/>
            <a:ext cx="2331720" cy="731520"/>
          </a:xfrm>
          <a:prstGeom prst="rect">
            <a:avLst/>
          </a:prstGeom>
          <a:noFill/>
          <a:ln/>
        </p:spPr>
        <p:txBody>
          <a:bodyPr wrap="square" lIns="0" tIns="0" rIns="0" bIns="0" rtlCol="0" anchor="ctr"/>
          <a:lstStyle/>
          <a:p>
            <a:pPr indent="0" marL="0">
              <a:buNone/>
            </a:pPr>
            <a:r>
              <a:rPr lang="en-US" sz="1200" dirty="0">
                <a:solidFill>
                  <a:schemeClr val="tx1"/>
                </a:solidFill>
              </a:rPr>
              <a:t>Register scooters, issue and rotate API keys, set each range profile.</a:t>
            </a:r>
            <a:endParaRPr lang="en-US" sz="1200" dirty="0"/>
          </a:p>
        </p:txBody>
      </p:sp>
      <p:sp>
        <p:nvSpPr>
          <p:cNvPr id="29" name="Tile Bluetooth devices"/>
          <p:cNvSpPr/>
          <p:nvPr/>
        </p:nvSpPr>
        <p:spPr>
          <a:xfrm>
            <a:off x="6035040" y="2926080"/>
            <a:ext cx="2651760" cy="1554480"/>
          </a:xfrm>
          <a:prstGeom prst="roundRect">
            <a:avLst>
              <a:gd name="adj" fmla="val 4706"/>
            </a:avLst>
          </a:prstGeom>
          <a:solidFill>
            <a:schemeClr val="bg2"/>
          </a:solidFill>
          <a:ln w="12700">
            <a:solidFill>
              <a:schemeClr val="bg2"/>
            </a:solidFill>
            <a:prstDash val="solid"/>
          </a:ln>
        </p:spPr>
      </p:sp>
      <p:sp>
        <p:nvSpPr>
          <p:cNvPr id="30" name="Bluetooth devices badge"/>
          <p:cNvSpPr/>
          <p:nvPr/>
        </p:nvSpPr>
        <p:spPr>
          <a:xfrm>
            <a:off x="6217920" y="3090672"/>
            <a:ext cx="457200" cy="457200"/>
          </a:xfrm>
          <a:prstGeom prst="ellipse">
            <a:avLst/>
          </a:prstGeom>
          <a:solidFill>
            <a:srgbClr val="1F8A80"/>
          </a:solidFill>
          <a:ln w="12700">
            <a:solidFill>
              <a:srgbClr val="1F8A80"/>
            </a:solidFill>
            <a:prstDash val="solid"/>
          </a:ln>
        </p:spPr>
      </p:sp>
      <p:pic>
        <p:nvPicPr>
          <p:cNvPr id="31" name="FaBluetoothB" descr="BluetoothB icon">    </p:cNvPr>
          <p:cNvPicPr>
            <a:picLocks noChangeAspect="1"/>
          </p:cNvPicPr>
          <p:nvPr/>
        </p:nvPicPr>
        <p:blipFill>
          <a:blip r:embed="rId6"/>
          <a:stretch>
            <a:fillRect/>
          </a:stretch>
        </p:blipFill>
        <p:spPr>
          <a:xfrm>
            <a:off x="6327648" y="3200400"/>
            <a:ext cx="237744" cy="237744"/>
          </a:xfrm>
          <a:prstGeom prst="rect">
            <a:avLst/>
          </a:prstGeom>
        </p:spPr>
      </p:pic>
      <p:sp>
        <p:nvSpPr>
          <p:cNvPr id="32" name="Tile title 6"/>
          <p:cNvSpPr txBox="1"/>
          <p:nvPr/>
        </p:nvSpPr>
        <p:spPr>
          <a:xfrm>
            <a:off x="6812280" y="3108960"/>
            <a:ext cx="1737360" cy="420624"/>
          </a:xfrm>
          <a:prstGeom prst="rect">
            <a:avLst/>
          </a:prstGeom>
          <a:noFill/>
          <a:ln/>
        </p:spPr>
        <p:txBody>
          <a:bodyPr wrap="square" lIns="0" tIns="0" rIns="0" bIns="0" rtlCol="0" anchor="ctr"/>
          <a:lstStyle/>
          <a:p>
            <a:pPr indent="0" marL="0">
              <a:buNone/>
            </a:pPr>
            <a:r>
              <a:rPr lang="en-US" sz="1500" b="1" dirty="0">
                <a:solidFill>
                  <a:schemeClr val="tx1"/>
                </a:solidFill>
              </a:rPr>
              <a:t>Bluetooth devices</a:t>
            </a:r>
            <a:endParaRPr lang="en-US" sz="1500" dirty="0"/>
          </a:p>
        </p:txBody>
      </p:sp>
      <p:sp>
        <p:nvSpPr>
          <p:cNvPr id="33" name="Tile text 6"/>
          <p:cNvSpPr txBox="1"/>
          <p:nvPr/>
        </p:nvSpPr>
        <p:spPr>
          <a:xfrm>
            <a:off x="6217920" y="3675888"/>
            <a:ext cx="2331720" cy="731520"/>
          </a:xfrm>
          <a:prstGeom prst="rect">
            <a:avLst/>
          </a:prstGeom>
          <a:noFill/>
          <a:ln/>
        </p:spPr>
        <p:txBody>
          <a:bodyPr wrap="square" lIns="0" tIns="0" rIns="0" bIns="0" rtlCol="0" anchor="ctr"/>
          <a:lstStyle/>
          <a:p>
            <a:pPr indent="0" marL="0">
              <a:buNone/>
            </a:pPr>
            <a:r>
              <a:rPr lang="en-US" sz="1200" dirty="0">
                <a:solidFill>
                  <a:schemeClr val="tx1"/>
                </a:solidFill>
              </a:rPr>
              <a:t>Scan, connect and read nearby low-energy devices from the browser.</a:t>
            </a:r>
            <a:endParaRPr lang="en-US" sz="12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400" b="1" dirty="0">
                <a:solidFill>
                  <a:schemeClr val="tx1"/>
                </a:solidFill>
              </a:rPr>
              <a:t>Plug into any scooter</a:t>
            </a:r>
            <a:endParaRPr lang="en-US" sz="3400" dirty="0"/>
          </a:p>
        </p:txBody>
      </p:sp>
      <p:sp>
        <p:nvSpPr>
          <p:cNvPr id="4" name="Endpoint 1"/>
          <p:cNvSpPr/>
          <p:nvPr/>
        </p:nvSpPr>
        <p:spPr>
          <a:xfrm>
            <a:off x="457200" y="1234440"/>
            <a:ext cx="5120640" cy="658368"/>
          </a:xfrm>
          <a:prstGeom prst="roundRect">
            <a:avLst>
              <a:gd name="adj" fmla="val 11111"/>
            </a:avLst>
          </a:prstGeom>
          <a:solidFill>
            <a:schemeClr val="bg2"/>
          </a:solidFill>
          <a:ln w="12700">
            <a:solidFill>
              <a:schemeClr val="bg2"/>
            </a:solidFill>
            <a:prstDash val="solid"/>
          </a:ln>
        </p:spPr>
      </p:sp>
      <p:sp>
        <p:nvSpPr>
          <p:cNvPr id="5" name="Method 1"/>
          <p:cNvSpPr/>
          <p:nvPr/>
        </p:nvSpPr>
        <p:spPr>
          <a:xfrm>
            <a:off x="594360" y="1417320"/>
            <a:ext cx="548640" cy="274320"/>
          </a:xfrm>
          <a:prstGeom prst="roundRect">
            <a:avLst>
              <a:gd name="adj" fmla="val 20000"/>
            </a:avLst>
          </a:prstGeom>
          <a:solidFill>
            <a:srgbClr val="F5B700"/>
          </a:solidFill>
          <a:ln w="12700">
            <a:solidFill>
              <a:srgbClr val="F5B700"/>
            </a:solidFill>
            <a:prstDash val="solid"/>
          </a:ln>
        </p:spPr>
      </p:sp>
      <p:sp>
        <p:nvSpPr>
          <p:cNvPr id="6" name="Method text 1"/>
          <p:cNvSpPr txBox="1"/>
          <p:nvPr/>
        </p:nvSpPr>
        <p:spPr>
          <a:xfrm>
            <a:off x="594360" y="1417320"/>
            <a:ext cx="548640" cy="274320"/>
          </a:xfrm>
          <a:prstGeom prst="rect">
            <a:avLst/>
          </a:prstGeom>
          <a:noFill/>
          <a:ln/>
        </p:spPr>
        <p:txBody>
          <a:bodyPr wrap="square" lIns="0" tIns="0" rIns="0" bIns="0" rtlCol="0" anchor="ctr"/>
          <a:lstStyle/>
          <a:p>
            <a:pPr algn="ctr" indent="0" marL="0">
              <a:buNone/>
            </a:pPr>
            <a:r>
              <a:rPr lang="en-US" sz="1100" b="1" dirty="0">
                <a:solidFill>
                  <a:schemeClr val="tx1"/>
                </a:solidFill>
              </a:rPr>
              <a:t>POST</a:t>
            </a:r>
            <a:endParaRPr lang="en-US" sz="1100" dirty="0"/>
          </a:p>
        </p:txBody>
      </p:sp>
      <p:sp>
        <p:nvSpPr>
          <p:cNvPr id="7" name="Path 1"/>
          <p:cNvSpPr txBox="1"/>
          <p:nvPr/>
        </p:nvSpPr>
        <p:spPr>
          <a:xfrm>
            <a:off x="1280160" y="1298448"/>
            <a:ext cx="4114800" cy="256032"/>
          </a:xfrm>
          <a:prstGeom prst="rect">
            <a:avLst/>
          </a:prstGeom>
          <a:noFill/>
          <a:ln/>
        </p:spPr>
        <p:txBody>
          <a:bodyPr wrap="square" lIns="0" tIns="0" rIns="0" bIns="0" rtlCol="0" anchor="ctr"/>
          <a:lstStyle/>
          <a:p>
            <a:pPr indent="0" marL="0">
              <a:buNone/>
            </a:pPr>
            <a:r>
              <a:rPr lang="en-US" sz="1400" b="1" dirty="0">
                <a:solidFill>
                  <a:schemeClr val="tx1"/>
                </a:solidFill>
              </a:rPr>
              <a:t>/v1/telemetry</a:t>
            </a:r>
            <a:endParaRPr lang="en-US" sz="1400" dirty="0"/>
          </a:p>
        </p:txBody>
      </p:sp>
      <p:sp>
        <p:nvSpPr>
          <p:cNvPr id="8" name="Path desc 1"/>
          <p:cNvSpPr txBox="1"/>
          <p:nvPr/>
        </p:nvSpPr>
        <p:spPr>
          <a:xfrm>
            <a:off x="1280160" y="1581912"/>
            <a:ext cx="4114800" cy="228600"/>
          </a:xfrm>
          <a:prstGeom prst="rect">
            <a:avLst/>
          </a:prstGeom>
          <a:noFill/>
          <a:ln/>
        </p:spPr>
        <p:txBody>
          <a:bodyPr wrap="square" lIns="0" tIns="0" rIns="0" bIns="0" rtlCol="0" anchor="ctr"/>
          <a:lstStyle/>
          <a:p>
            <a:pPr indent="0" marL="0">
              <a:buNone/>
            </a:pPr>
            <a:r>
              <a:rPr lang="en-US" sz="1200" dirty="0">
                <a:solidFill>
                  <a:schemeClr val="accent5"/>
                </a:solidFill>
              </a:rPr>
              <a:t>Battery %, temperature, position. Runs the range check.</a:t>
            </a:r>
            <a:endParaRPr lang="en-US" sz="1200" dirty="0"/>
          </a:p>
        </p:txBody>
      </p:sp>
      <p:sp>
        <p:nvSpPr>
          <p:cNvPr id="9" name="Endpoint 2"/>
          <p:cNvSpPr/>
          <p:nvPr/>
        </p:nvSpPr>
        <p:spPr>
          <a:xfrm>
            <a:off x="457200" y="2011680"/>
            <a:ext cx="5120640" cy="658368"/>
          </a:xfrm>
          <a:prstGeom prst="roundRect">
            <a:avLst>
              <a:gd name="adj" fmla="val 11111"/>
            </a:avLst>
          </a:prstGeom>
          <a:solidFill>
            <a:schemeClr val="bg2"/>
          </a:solidFill>
          <a:ln w="12700">
            <a:solidFill>
              <a:schemeClr val="bg2"/>
            </a:solidFill>
            <a:prstDash val="solid"/>
          </a:ln>
        </p:spPr>
      </p:sp>
      <p:sp>
        <p:nvSpPr>
          <p:cNvPr id="10" name="Method 2"/>
          <p:cNvSpPr/>
          <p:nvPr/>
        </p:nvSpPr>
        <p:spPr>
          <a:xfrm>
            <a:off x="594360" y="2194560"/>
            <a:ext cx="548640" cy="274320"/>
          </a:xfrm>
          <a:prstGeom prst="roundRect">
            <a:avLst>
              <a:gd name="adj" fmla="val 20000"/>
            </a:avLst>
          </a:prstGeom>
          <a:solidFill>
            <a:srgbClr val="F5B700"/>
          </a:solidFill>
          <a:ln w="12700">
            <a:solidFill>
              <a:srgbClr val="F5B700"/>
            </a:solidFill>
            <a:prstDash val="solid"/>
          </a:ln>
        </p:spPr>
      </p:sp>
      <p:sp>
        <p:nvSpPr>
          <p:cNvPr id="11" name="Method text 2"/>
          <p:cNvSpPr txBox="1"/>
          <p:nvPr/>
        </p:nvSpPr>
        <p:spPr>
          <a:xfrm>
            <a:off x="594360" y="2194560"/>
            <a:ext cx="548640" cy="274320"/>
          </a:xfrm>
          <a:prstGeom prst="rect">
            <a:avLst/>
          </a:prstGeom>
          <a:noFill/>
          <a:ln/>
        </p:spPr>
        <p:txBody>
          <a:bodyPr wrap="square" lIns="0" tIns="0" rIns="0" bIns="0" rtlCol="0" anchor="ctr"/>
          <a:lstStyle/>
          <a:p>
            <a:pPr algn="ctr" indent="0" marL="0">
              <a:buNone/>
            </a:pPr>
            <a:r>
              <a:rPr lang="en-US" sz="1100" b="1" dirty="0">
                <a:solidFill>
                  <a:schemeClr val="tx1"/>
                </a:solidFill>
              </a:rPr>
              <a:t>POST</a:t>
            </a:r>
            <a:endParaRPr lang="en-US" sz="1100" dirty="0"/>
          </a:p>
        </p:txBody>
      </p:sp>
      <p:sp>
        <p:nvSpPr>
          <p:cNvPr id="12" name="Path 2"/>
          <p:cNvSpPr txBox="1"/>
          <p:nvPr/>
        </p:nvSpPr>
        <p:spPr>
          <a:xfrm>
            <a:off x="1280160" y="2075688"/>
            <a:ext cx="4114800" cy="256032"/>
          </a:xfrm>
          <a:prstGeom prst="rect">
            <a:avLst/>
          </a:prstGeom>
          <a:noFill/>
          <a:ln/>
        </p:spPr>
        <p:txBody>
          <a:bodyPr wrap="square" lIns="0" tIns="0" rIns="0" bIns="0" rtlCol="0" anchor="ctr"/>
          <a:lstStyle/>
          <a:p>
            <a:pPr indent="0" marL="0">
              <a:buNone/>
            </a:pPr>
            <a:r>
              <a:rPr lang="en-US" sz="1400" b="1" dirty="0">
                <a:solidFill>
                  <a:schemeClr val="tx1"/>
                </a:solidFill>
              </a:rPr>
              <a:t>/v1/events</a:t>
            </a:r>
            <a:endParaRPr lang="en-US" sz="1400" dirty="0"/>
          </a:p>
        </p:txBody>
      </p:sp>
      <p:sp>
        <p:nvSpPr>
          <p:cNvPr id="13" name="Path desc 2"/>
          <p:cNvSpPr txBox="1"/>
          <p:nvPr/>
        </p:nvSpPr>
        <p:spPr>
          <a:xfrm>
            <a:off x="1280160" y="2359152"/>
            <a:ext cx="4114800" cy="228600"/>
          </a:xfrm>
          <a:prstGeom prst="rect">
            <a:avLst/>
          </a:prstGeom>
          <a:noFill/>
          <a:ln/>
        </p:spPr>
        <p:txBody>
          <a:bodyPr wrap="square" lIns="0" tIns="0" rIns="0" bIns="0" rtlCol="0" anchor="ctr"/>
          <a:lstStyle/>
          <a:p>
            <a:pPr indent="0" marL="0">
              <a:buNone/>
            </a:pPr>
            <a:r>
              <a:rPr lang="en-US" sz="1200" dirty="0">
                <a:solidFill>
                  <a:schemeClr val="accent5"/>
                </a:solidFill>
              </a:rPr>
              <a:t>Crash, stranded, thermal or other.</a:t>
            </a:r>
            <a:endParaRPr lang="en-US" sz="1200" dirty="0"/>
          </a:p>
        </p:txBody>
      </p:sp>
      <p:sp>
        <p:nvSpPr>
          <p:cNvPr id="14" name="Endpoint 3"/>
          <p:cNvSpPr/>
          <p:nvPr/>
        </p:nvSpPr>
        <p:spPr>
          <a:xfrm>
            <a:off x="457200" y="2788920"/>
            <a:ext cx="5120640" cy="658368"/>
          </a:xfrm>
          <a:prstGeom prst="roundRect">
            <a:avLst>
              <a:gd name="adj" fmla="val 11111"/>
            </a:avLst>
          </a:prstGeom>
          <a:solidFill>
            <a:schemeClr val="bg2"/>
          </a:solidFill>
          <a:ln w="12700">
            <a:solidFill>
              <a:schemeClr val="bg2"/>
            </a:solidFill>
            <a:prstDash val="solid"/>
          </a:ln>
        </p:spPr>
      </p:sp>
      <p:sp>
        <p:nvSpPr>
          <p:cNvPr id="15" name="Method 3"/>
          <p:cNvSpPr/>
          <p:nvPr/>
        </p:nvSpPr>
        <p:spPr>
          <a:xfrm>
            <a:off x="594360" y="2971800"/>
            <a:ext cx="548640" cy="274320"/>
          </a:xfrm>
          <a:prstGeom prst="roundRect">
            <a:avLst>
              <a:gd name="adj" fmla="val 20000"/>
            </a:avLst>
          </a:prstGeom>
          <a:solidFill>
            <a:srgbClr val="1F8A80"/>
          </a:solidFill>
          <a:ln w="12700">
            <a:solidFill>
              <a:srgbClr val="1F8A80"/>
            </a:solidFill>
            <a:prstDash val="solid"/>
          </a:ln>
        </p:spPr>
      </p:sp>
      <p:sp>
        <p:nvSpPr>
          <p:cNvPr id="16" name="Method text 3"/>
          <p:cNvSpPr txBox="1"/>
          <p:nvPr/>
        </p:nvSpPr>
        <p:spPr>
          <a:xfrm>
            <a:off x="594360" y="2971800"/>
            <a:ext cx="548640" cy="274320"/>
          </a:xfrm>
          <a:prstGeom prst="rect">
            <a:avLst/>
          </a:prstGeom>
          <a:noFill/>
          <a:ln/>
        </p:spPr>
        <p:txBody>
          <a:bodyPr wrap="square" lIns="0" tIns="0" rIns="0" bIns="0" rtlCol="0" anchor="ctr"/>
          <a:lstStyle/>
          <a:p>
            <a:pPr algn="ctr" indent="0" marL="0">
              <a:buNone/>
            </a:pPr>
            <a:r>
              <a:rPr lang="en-US" sz="1100" b="1" dirty="0">
                <a:solidFill>
                  <a:schemeClr val="bg1"/>
                </a:solidFill>
              </a:rPr>
              <a:t>GET</a:t>
            </a:r>
            <a:endParaRPr lang="en-US" sz="1100" dirty="0"/>
          </a:p>
        </p:txBody>
      </p:sp>
      <p:sp>
        <p:nvSpPr>
          <p:cNvPr id="17" name="Path 3"/>
          <p:cNvSpPr txBox="1"/>
          <p:nvPr/>
        </p:nvSpPr>
        <p:spPr>
          <a:xfrm>
            <a:off x="1280160" y="2852928"/>
            <a:ext cx="4114800" cy="256032"/>
          </a:xfrm>
          <a:prstGeom prst="rect">
            <a:avLst/>
          </a:prstGeom>
          <a:noFill/>
          <a:ln/>
        </p:spPr>
        <p:txBody>
          <a:bodyPr wrap="square" lIns="0" tIns="0" rIns="0" bIns="0" rtlCol="0" anchor="ctr"/>
          <a:lstStyle/>
          <a:p>
            <a:pPr indent="0" marL="0">
              <a:buNone/>
            </a:pPr>
            <a:r>
              <a:rPr lang="en-US" sz="1400" b="1" dirty="0">
                <a:solidFill>
                  <a:schemeClr val="tx1"/>
                </a:solidFill>
              </a:rPr>
              <a:t>/v1/stations/nearby</a:t>
            </a:r>
            <a:endParaRPr lang="en-US" sz="1400" dirty="0"/>
          </a:p>
        </p:txBody>
      </p:sp>
      <p:sp>
        <p:nvSpPr>
          <p:cNvPr id="18" name="Path desc 3"/>
          <p:cNvSpPr txBox="1"/>
          <p:nvPr/>
        </p:nvSpPr>
        <p:spPr>
          <a:xfrm>
            <a:off x="1280160" y="3136392"/>
            <a:ext cx="4114800" cy="228600"/>
          </a:xfrm>
          <a:prstGeom prst="rect">
            <a:avLst/>
          </a:prstGeom>
          <a:noFill/>
          <a:ln/>
        </p:spPr>
        <p:txBody>
          <a:bodyPr wrap="square" lIns="0" tIns="0" rIns="0" bIns="0" rtlCol="0" anchor="ctr"/>
          <a:lstStyle/>
          <a:p>
            <a:pPr indent="0" marL="0">
              <a:buNone/>
            </a:pPr>
            <a:r>
              <a:rPr lang="en-US" sz="1200" dirty="0">
                <a:solidFill>
                  <a:schemeClr val="accent5"/>
                </a:solidFill>
              </a:rPr>
              <a:t>Stations with batteries available.</a:t>
            </a:r>
            <a:endParaRPr lang="en-US" sz="1200" dirty="0"/>
          </a:p>
        </p:txBody>
      </p:sp>
      <p:sp>
        <p:nvSpPr>
          <p:cNvPr id="19" name="Endpoint 4"/>
          <p:cNvSpPr/>
          <p:nvPr/>
        </p:nvSpPr>
        <p:spPr>
          <a:xfrm>
            <a:off x="457200" y="3566160"/>
            <a:ext cx="5120640" cy="658368"/>
          </a:xfrm>
          <a:prstGeom prst="roundRect">
            <a:avLst>
              <a:gd name="adj" fmla="val 11111"/>
            </a:avLst>
          </a:prstGeom>
          <a:solidFill>
            <a:schemeClr val="bg2"/>
          </a:solidFill>
          <a:ln w="12700">
            <a:solidFill>
              <a:schemeClr val="bg2"/>
            </a:solidFill>
            <a:prstDash val="solid"/>
          </a:ln>
        </p:spPr>
      </p:sp>
      <p:sp>
        <p:nvSpPr>
          <p:cNvPr id="20" name="Method 4"/>
          <p:cNvSpPr/>
          <p:nvPr/>
        </p:nvSpPr>
        <p:spPr>
          <a:xfrm>
            <a:off x="594360" y="3749040"/>
            <a:ext cx="548640" cy="274320"/>
          </a:xfrm>
          <a:prstGeom prst="roundRect">
            <a:avLst>
              <a:gd name="adj" fmla="val 20000"/>
            </a:avLst>
          </a:prstGeom>
          <a:solidFill>
            <a:srgbClr val="F5B700"/>
          </a:solidFill>
          <a:ln w="12700">
            <a:solidFill>
              <a:srgbClr val="F5B700"/>
            </a:solidFill>
            <a:prstDash val="solid"/>
          </a:ln>
        </p:spPr>
      </p:sp>
      <p:sp>
        <p:nvSpPr>
          <p:cNvPr id="21" name="Method text 4"/>
          <p:cNvSpPr txBox="1"/>
          <p:nvPr/>
        </p:nvSpPr>
        <p:spPr>
          <a:xfrm>
            <a:off x="594360" y="3749040"/>
            <a:ext cx="548640" cy="274320"/>
          </a:xfrm>
          <a:prstGeom prst="rect">
            <a:avLst/>
          </a:prstGeom>
          <a:noFill/>
          <a:ln/>
        </p:spPr>
        <p:txBody>
          <a:bodyPr wrap="square" lIns="0" tIns="0" rIns="0" bIns="0" rtlCol="0" anchor="ctr"/>
          <a:lstStyle/>
          <a:p>
            <a:pPr algn="ctr" indent="0" marL="0">
              <a:buNone/>
            </a:pPr>
            <a:r>
              <a:rPr lang="en-US" sz="1100" b="1" dirty="0">
                <a:solidFill>
                  <a:schemeClr val="tx1"/>
                </a:solidFill>
              </a:rPr>
              <a:t>POST</a:t>
            </a:r>
            <a:endParaRPr lang="en-US" sz="1100" dirty="0"/>
          </a:p>
        </p:txBody>
      </p:sp>
      <p:sp>
        <p:nvSpPr>
          <p:cNvPr id="22" name="Path 4"/>
          <p:cNvSpPr txBox="1"/>
          <p:nvPr/>
        </p:nvSpPr>
        <p:spPr>
          <a:xfrm>
            <a:off x="1280160" y="3630168"/>
            <a:ext cx="4114800" cy="256032"/>
          </a:xfrm>
          <a:prstGeom prst="rect">
            <a:avLst/>
          </a:prstGeom>
          <a:noFill/>
          <a:ln/>
        </p:spPr>
        <p:txBody>
          <a:bodyPr wrap="square" lIns="0" tIns="0" rIns="0" bIns="0" rtlCol="0" anchor="ctr"/>
          <a:lstStyle/>
          <a:p>
            <a:pPr indent="0" marL="0">
              <a:buNone/>
            </a:pPr>
            <a:r>
              <a:rPr lang="en-US" sz="1400" b="1" dirty="0">
                <a:solidFill>
                  <a:schemeClr val="tx1"/>
                </a:solidFill>
              </a:rPr>
              <a:t>/v1/reservations</a:t>
            </a:r>
            <a:endParaRPr lang="en-US" sz="1400" dirty="0"/>
          </a:p>
        </p:txBody>
      </p:sp>
      <p:sp>
        <p:nvSpPr>
          <p:cNvPr id="23" name="Path desc 4"/>
          <p:cNvSpPr txBox="1"/>
          <p:nvPr/>
        </p:nvSpPr>
        <p:spPr>
          <a:xfrm>
            <a:off x="1280160" y="3913632"/>
            <a:ext cx="4114800" cy="228600"/>
          </a:xfrm>
          <a:prstGeom prst="rect">
            <a:avLst/>
          </a:prstGeom>
          <a:noFill/>
          <a:ln/>
        </p:spPr>
        <p:txBody>
          <a:bodyPr wrap="square" lIns="0" tIns="0" rIns="0" bIns="0" rtlCol="0" anchor="ctr"/>
          <a:lstStyle/>
          <a:p>
            <a:pPr indent="0" marL="0">
              <a:buNone/>
            </a:pPr>
            <a:r>
              <a:rPr lang="en-US" sz="1200" dirty="0">
                <a:solidFill>
                  <a:schemeClr val="accent5"/>
                </a:solidFill>
              </a:rPr>
              <a:t>Ask a station to hold a swappable battery.</a:t>
            </a:r>
            <a:endParaRPr lang="en-US" sz="1200" dirty="0"/>
          </a:p>
        </p:txBody>
      </p:sp>
      <p:sp>
        <p:nvSpPr>
          <p:cNvPr id="24" name="Ways heading"/>
          <p:cNvSpPr txBox="1"/>
          <p:nvPr/>
        </p:nvSpPr>
        <p:spPr>
          <a:xfrm>
            <a:off x="5943600" y="1234440"/>
            <a:ext cx="2743200" cy="320040"/>
          </a:xfrm>
          <a:prstGeom prst="rect">
            <a:avLst/>
          </a:prstGeom>
          <a:noFill/>
          <a:ln/>
        </p:spPr>
        <p:txBody>
          <a:bodyPr wrap="square" lIns="0" tIns="0" rIns="0" bIns="0" rtlCol="0" anchor="ctr"/>
          <a:lstStyle/>
          <a:p>
            <a:pPr indent="0" marL="0">
              <a:buNone/>
            </a:pPr>
            <a:r>
              <a:rPr lang="en-US" sz="1800" b="1" dirty="0">
                <a:solidFill>
                  <a:schemeClr val="tx1"/>
                </a:solidFill>
              </a:rPr>
              <a:t>Three ways in</a:t>
            </a:r>
            <a:endParaRPr lang="en-US" sz="1800" dirty="0"/>
          </a:p>
        </p:txBody>
      </p:sp>
      <p:sp>
        <p:nvSpPr>
          <p:cNvPr id="25" name="Ways list"/>
          <p:cNvSpPr txBox="1"/>
          <p:nvPr/>
        </p:nvSpPr>
        <p:spPr>
          <a:xfrm>
            <a:off x="5943600" y="1645920"/>
            <a:ext cx="2743200" cy="14630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Telematics unit on the scooter</a:t>
            </a:r>
            <a:endParaRPr lang="en-US" sz="1400" dirty="0"/>
          </a:p>
          <a:p>
            <a:pPr marL="342900" indent="-342900">
              <a:spcAft>
                <a:spcPts val="800"/>
              </a:spcAft>
              <a:buSzPct val="100000"/>
              <a:buChar char="•"/>
            </a:pPr>
            <a:r>
              <a:rPr lang="en-US" sz="1400" dirty="0">
                <a:solidFill>
                  <a:schemeClr val="tx1"/>
                </a:solidFill>
              </a:rPr>
              <a:t>Rider's phone as a bridge</a:t>
            </a:r>
            <a:endParaRPr lang="en-US" sz="1400" dirty="0"/>
          </a:p>
          <a:p>
            <a:pPr marL="342900" indent="-342900">
              <a:spcAft>
                <a:spcPts val="800"/>
              </a:spcAft>
              <a:buSzPct val="100000"/>
              <a:buChar char="•"/>
            </a:pPr>
            <a:r>
              <a:rPr lang="en-US" sz="1400" dirty="0">
                <a:solidFill>
                  <a:schemeClr val="tx1"/>
                </a:solidFill>
              </a:rPr>
              <a:t>A fleet's existing back office</a:t>
            </a:r>
            <a:endParaRPr lang="en-US" sz="1400" dirty="0"/>
          </a:p>
        </p:txBody>
      </p:sp>
      <p:sp>
        <p:nvSpPr>
          <p:cNvPr id="26" name="API caveat"/>
          <p:cNvSpPr txBox="1"/>
          <p:nvPr/>
        </p:nvSpPr>
        <p:spPr>
          <a:xfrm>
            <a:off x="457200" y="4434840"/>
            <a:ext cx="8229600" cy="274320"/>
          </a:xfrm>
          <a:prstGeom prst="rect">
            <a:avLst/>
          </a:prstGeom>
          <a:noFill/>
          <a:ln/>
        </p:spPr>
        <p:txBody>
          <a:bodyPr wrap="square" lIns="0" tIns="0" rIns="0" bIns="0" rtlCol="0" anchor="ctr"/>
          <a:lstStyle/>
          <a:p>
            <a:pPr indent="0" marL="0">
              <a:buNone/>
            </a:pPr>
            <a:r>
              <a:rPr lang="en-US" sz="1200" dirty="0">
                <a:solidFill>
                  <a:schemeClr val="accent5"/>
                </a:solidFill>
              </a:rPr>
              <a:t>Reading a scooter's battery needs an adapter per maker. This API is the stable target it posts to.</a:t>
            </a:r>
            <a:endParaRPr lang="en-US" sz="12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400" b="1" dirty="0">
                <a:solidFill>
                  <a:schemeClr val="tx1"/>
                </a:solidFill>
              </a:rPr>
              <a:t>Stranding protection</a:t>
            </a:r>
            <a:endParaRPr lang="en-US" sz="3400" dirty="0"/>
          </a:p>
        </p:txBody>
      </p:sp>
      <p:sp>
        <p:nvSpPr>
          <p:cNvPr id="4" name="Formula"/>
          <p:cNvSpPr/>
          <p:nvPr/>
        </p:nvSpPr>
        <p:spPr>
          <a:xfrm>
            <a:off x="457200" y="1188720"/>
            <a:ext cx="8229600" cy="777240"/>
          </a:xfrm>
          <a:prstGeom prst="roundRect">
            <a:avLst>
              <a:gd name="adj" fmla="val 9412"/>
            </a:avLst>
          </a:prstGeom>
          <a:solidFill>
            <a:schemeClr val="tx2"/>
          </a:solidFill>
          <a:ln w="12700">
            <a:solidFill>
              <a:schemeClr val="tx2"/>
            </a:solidFill>
            <a:prstDash val="solid"/>
          </a:ln>
        </p:spPr>
      </p:sp>
      <p:sp>
        <p:nvSpPr>
          <p:cNvPr id="5" name="Formula text"/>
          <p:cNvSpPr txBox="1"/>
          <p:nvPr/>
        </p:nvSpPr>
        <p:spPr>
          <a:xfrm>
            <a:off x="685800" y="1234440"/>
            <a:ext cx="7772400" cy="685800"/>
          </a:xfrm>
          <a:prstGeom prst="rect">
            <a:avLst/>
          </a:prstGeom>
          <a:noFill/>
          <a:ln/>
        </p:spPr>
        <p:txBody>
          <a:bodyPr wrap="square" lIns="0" tIns="0" rIns="0" bIns="0" rtlCol="0" anchor="ctr"/>
          <a:lstStyle/>
          <a:p>
            <a:pPr indent="0" marL="0">
              <a:buNone/>
            </a:pPr>
            <a:r>
              <a:rPr lang="en-US" sz="2100" b="1" dirty="0">
                <a:solidFill>
                  <a:schemeClr val="bg1"/>
                </a:solidFill>
              </a:rPr>
              <a:t>usable range = battery % × km per % × (1 − safety margin)</a:t>
            </a:r>
            <a:endParaRPr lang="en-US" sz="2100" dirty="0"/>
          </a:p>
        </p:txBody>
      </p:sp>
      <p:sp>
        <p:nvSpPr>
          <p:cNvPr id="6" name="Step 1"/>
          <p:cNvSpPr/>
          <p:nvPr/>
        </p:nvSpPr>
        <p:spPr>
          <a:xfrm>
            <a:off x="457200" y="2194560"/>
            <a:ext cx="2606040" cy="2103120"/>
          </a:xfrm>
          <a:prstGeom prst="roundRect">
            <a:avLst>
              <a:gd name="adj" fmla="val 3478"/>
            </a:avLst>
          </a:prstGeom>
          <a:solidFill>
            <a:schemeClr val="bg2"/>
          </a:solidFill>
          <a:ln w="12700">
            <a:solidFill>
              <a:schemeClr val="bg2"/>
            </a:solidFill>
            <a:prstDash val="solid"/>
          </a:ln>
        </p:spPr>
      </p:sp>
      <p:sp>
        <p:nvSpPr>
          <p:cNvPr id="7" name="Step number badge 1"/>
          <p:cNvSpPr/>
          <p:nvPr/>
        </p:nvSpPr>
        <p:spPr>
          <a:xfrm>
            <a:off x="640080" y="2359152"/>
            <a:ext cx="457200" cy="457200"/>
          </a:xfrm>
          <a:prstGeom prst="ellipse">
            <a:avLst/>
          </a:prstGeom>
          <a:solidFill>
            <a:schemeClr val="accent1"/>
          </a:solidFill>
          <a:ln w="12700">
            <a:solidFill>
              <a:schemeClr val="accent1"/>
            </a:solidFill>
            <a:prstDash val="solid"/>
          </a:ln>
        </p:spPr>
      </p:sp>
      <p:sp>
        <p:nvSpPr>
          <p:cNvPr id="8" name="Step number 1"/>
          <p:cNvSpPr txBox="1"/>
          <p:nvPr/>
        </p:nvSpPr>
        <p:spPr>
          <a:xfrm>
            <a:off x="640080" y="2359152"/>
            <a:ext cx="457200" cy="457200"/>
          </a:xfrm>
          <a:prstGeom prst="rect">
            <a:avLst/>
          </a:prstGeom>
          <a:noFill/>
          <a:ln/>
        </p:spPr>
        <p:txBody>
          <a:bodyPr wrap="square" lIns="0" tIns="0" rIns="0" bIns="0" rtlCol="0" anchor="ctr"/>
          <a:lstStyle/>
          <a:p>
            <a:pPr algn="ctr" indent="0" marL="0">
              <a:buNone/>
            </a:pPr>
            <a:r>
              <a:rPr lang="en-US" sz="1800" b="1" dirty="0">
                <a:solidFill>
                  <a:schemeClr val="tx1"/>
                </a:solidFill>
              </a:rPr>
              <a:t>1</a:t>
            </a:r>
            <a:endParaRPr lang="en-US" sz="1800" dirty="0"/>
          </a:p>
        </p:txBody>
      </p:sp>
      <p:sp>
        <p:nvSpPr>
          <p:cNvPr id="9" name="Step title 1"/>
          <p:cNvSpPr txBox="1"/>
          <p:nvPr/>
        </p:nvSpPr>
        <p:spPr>
          <a:xfrm>
            <a:off x="1234440" y="2377440"/>
            <a:ext cx="1691640" cy="420624"/>
          </a:xfrm>
          <a:prstGeom prst="rect">
            <a:avLst/>
          </a:prstGeom>
          <a:noFill/>
          <a:ln/>
        </p:spPr>
        <p:txBody>
          <a:bodyPr wrap="square" lIns="0" tIns="0" rIns="0" bIns="0" rtlCol="0" anchor="ctr"/>
          <a:lstStyle/>
          <a:p>
            <a:pPr indent="0" marL="0">
              <a:buNone/>
            </a:pPr>
            <a:r>
              <a:rPr lang="en-US" sz="1600" b="1" dirty="0">
                <a:solidFill>
                  <a:schemeClr val="tx1"/>
                </a:solidFill>
              </a:rPr>
              <a:t>Check range</a:t>
            </a:r>
            <a:endParaRPr lang="en-US" sz="1600" dirty="0"/>
          </a:p>
        </p:txBody>
      </p:sp>
      <p:sp>
        <p:nvSpPr>
          <p:cNvPr id="10" name="Step text 1"/>
          <p:cNvSpPr txBox="1"/>
          <p:nvPr/>
        </p:nvSpPr>
        <p:spPr>
          <a:xfrm>
            <a:off x="640080" y="3017520"/>
            <a:ext cx="2240280" cy="1188720"/>
          </a:xfrm>
          <a:prstGeom prst="rect">
            <a:avLst/>
          </a:prstGeom>
          <a:noFill/>
          <a:ln/>
        </p:spPr>
        <p:txBody>
          <a:bodyPr wrap="square" lIns="0" tIns="0" rIns="0" bIns="0" rtlCol="0" anchor="ctr"/>
          <a:lstStyle/>
          <a:p>
            <a:pPr indent="0" marL="0">
              <a:buNone/>
            </a:pPr>
            <a:r>
              <a:rPr lang="en-US" sz="1300" dirty="0">
                <a:solidFill>
                  <a:schemeClr val="tx1"/>
                </a:solidFill>
              </a:rPr>
              <a:t>The scooter reports battery and position. The server finds stations with stock inside usable range.</a:t>
            </a:r>
            <a:endParaRPr lang="en-US" sz="1300" dirty="0"/>
          </a:p>
        </p:txBody>
      </p:sp>
      <p:sp>
        <p:nvSpPr>
          <p:cNvPr id="11" name="Step 2"/>
          <p:cNvSpPr/>
          <p:nvPr/>
        </p:nvSpPr>
        <p:spPr>
          <a:xfrm>
            <a:off x="3268980" y="2194560"/>
            <a:ext cx="2606040" cy="2103120"/>
          </a:xfrm>
          <a:prstGeom prst="roundRect">
            <a:avLst>
              <a:gd name="adj" fmla="val 3478"/>
            </a:avLst>
          </a:prstGeom>
          <a:solidFill>
            <a:schemeClr val="bg2"/>
          </a:solidFill>
          <a:ln w="12700">
            <a:solidFill>
              <a:schemeClr val="bg2"/>
            </a:solidFill>
            <a:prstDash val="solid"/>
          </a:ln>
        </p:spPr>
      </p:sp>
      <p:sp>
        <p:nvSpPr>
          <p:cNvPr id="12" name="Step number badge 2"/>
          <p:cNvSpPr/>
          <p:nvPr/>
        </p:nvSpPr>
        <p:spPr>
          <a:xfrm>
            <a:off x="3451860" y="2359152"/>
            <a:ext cx="457200" cy="457200"/>
          </a:xfrm>
          <a:prstGeom prst="ellipse">
            <a:avLst/>
          </a:prstGeom>
          <a:solidFill>
            <a:schemeClr val="accent1"/>
          </a:solidFill>
          <a:ln w="12700">
            <a:solidFill>
              <a:schemeClr val="accent1"/>
            </a:solidFill>
            <a:prstDash val="solid"/>
          </a:ln>
        </p:spPr>
      </p:sp>
      <p:sp>
        <p:nvSpPr>
          <p:cNvPr id="13" name="Step number 2"/>
          <p:cNvSpPr txBox="1"/>
          <p:nvPr/>
        </p:nvSpPr>
        <p:spPr>
          <a:xfrm>
            <a:off x="3451860" y="2359152"/>
            <a:ext cx="457200" cy="457200"/>
          </a:xfrm>
          <a:prstGeom prst="rect">
            <a:avLst/>
          </a:prstGeom>
          <a:noFill/>
          <a:ln/>
        </p:spPr>
        <p:txBody>
          <a:bodyPr wrap="square" lIns="0" tIns="0" rIns="0" bIns="0" rtlCol="0" anchor="ctr"/>
          <a:lstStyle/>
          <a:p>
            <a:pPr algn="ctr" indent="0" marL="0">
              <a:buNone/>
            </a:pPr>
            <a:r>
              <a:rPr lang="en-US" sz="1800" b="1" dirty="0">
                <a:solidFill>
                  <a:schemeClr val="tx1"/>
                </a:solidFill>
              </a:rPr>
              <a:t>2</a:t>
            </a:r>
            <a:endParaRPr lang="en-US" sz="1800" dirty="0"/>
          </a:p>
        </p:txBody>
      </p:sp>
      <p:sp>
        <p:nvSpPr>
          <p:cNvPr id="14" name="Step title 2"/>
          <p:cNvSpPr txBox="1"/>
          <p:nvPr/>
        </p:nvSpPr>
        <p:spPr>
          <a:xfrm>
            <a:off x="4046220" y="2377440"/>
            <a:ext cx="1691640" cy="420624"/>
          </a:xfrm>
          <a:prstGeom prst="rect">
            <a:avLst/>
          </a:prstGeom>
          <a:noFill/>
          <a:ln/>
        </p:spPr>
        <p:txBody>
          <a:bodyPr wrap="square" lIns="0" tIns="0" rIns="0" bIns="0" rtlCol="0" anchor="ctr"/>
          <a:lstStyle/>
          <a:p>
            <a:pPr indent="0" marL="0">
              <a:buNone/>
            </a:pPr>
            <a:r>
              <a:rPr lang="en-US" sz="1600" b="1" dirty="0">
                <a:solidFill>
                  <a:schemeClr val="tx1"/>
                </a:solidFill>
              </a:rPr>
              <a:t>Warn early</a:t>
            </a:r>
            <a:endParaRPr lang="en-US" sz="1600" dirty="0"/>
          </a:p>
        </p:txBody>
      </p:sp>
      <p:sp>
        <p:nvSpPr>
          <p:cNvPr id="15" name="Step text 2"/>
          <p:cNvSpPr txBox="1"/>
          <p:nvPr/>
        </p:nvSpPr>
        <p:spPr>
          <a:xfrm>
            <a:off x="3451860" y="3017520"/>
            <a:ext cx="2240280" cy="1188720"/>
          </a:xfrm>
          <a:prstGeom prst="rect">
            <a:avLst/>
          </a:prstGeom>
          <a:noFill/>
          <a:ln/>
        </p:spPr>
        <p:txBody>
          <a:bodyPr wrap="square" lIns="0" tIns="0" rIns="0" bIns="0" rtlCol="0" anchor="ctr"/>
          <a:lstStyle/>
          <a:p>
            <a:pPr indent="0" marL="0">
              <a:buNone/>
            </a:pPr>
            <a:r>
              <a:rPr lang="en-US" sz="1300" dirty="0">
                <a:solidFill>
                  <a:schemeClr val="tx1"/>
                </a:solidFill>
              </a:rPr>
              <a:t>If none is reachable, a low-battery alert is raised, once, before the rider is stranded.</a:t>
            </a:r>
            <a:endParaRPr lang="en-US" sz="1300" dirty="0"/>
          </a:p>
        </p:txBody>
      </p:sp>
      <p:sp>
        <p:nvSpPr>
          <p:cNvPr id="16" name="Step 3"/>
          <p:cNvSpPr/>
          <p:nvPr/>
        </p:nvSpPr>
        <p:spPr>
          <a:xfrm>
            <a:off x="6080760" y="2194560"/>
            <a:ext cx="2606040" cy="2103120"/>
          </a:xfrm>
          <a:prstGeom prst="roundRect">
            <a:avLst>
              <a:gd name="adj" fmla="val 3478"/>
            </a:avLst>
          </a:prstGeom>
          <a:solidFill>
            <a:schemeClr val="bg2"/>
          </a:solidFill>
          <a:ln w="12700">
            <a:solidFill>
              <a:schemeClr val="bg2"/>
            </a:solidFill>
            <a:prstDash val="solid"/>
          </a:ln>
        </p:spPr>
      </p:sp>
      <p:sp>
        <p:nvSpPr>
          <p:cNvPr id="17" name="Step number badge 3"/>
          <p:cNvSpPr/>
          <p:nvPr/>
        </p:nvSpPr>
        <p:spPr>
          <a:xfrm>
            <a:off x="6263640" y="2359152"/>
            <a:ext cx="457200" cy="457200"/>
          </a:xfrm>
          <a:prstGeom prst="ellipse">
            <a:avLst/>
          </a:prstGeom>
          <a:solidFill>
            <a:schemeClr val="accent1"/>
          </a:solidFill>
          <a:ln w="12700">
            <a:solidFill>
              <a:schemeClr val="accent1"/>
            </a:solidFill>
            <a:prstDash val="solid"/>
          </a:ln>
        </p:spPr>
      </p:sp>
      <p:sp>
        <p:nvSpPr>
          <p:cNvPr id="18" name="Step number 3"/>
          <p:cNvSpPr txBox="1"/>
          <p:nvPr/>
        </p:nvSpPr>
        <p:spPr>
          <a:xfrm>
            <a:off x="6263640" y="2359152"/>
            <a:ext cx="457200" cy="457200"/>
          </a:xfrm>
          <a:prstGeom prst="rect">
            <a:avLst/>
          </a:prstGeom>
          <a:noFill/>
          <a:ln/>
        </p:spPr>
        <p:txBody>
          <a:bodyPr wrap="square" lIns="0" tIns="0" rIns="0" bIns="0" rtlCol="0" anchor="ctr"/>
          <a:lstStyle/>
          <a:p>
            <a:pPr algn="ctr" indent="0" marL="0">
              <a:buNone/>
            </a:pPr>
            <a:r>
              <a:rPr lang="en-US" sz="1800" b="1" dirty="0">
                <a:solidFill>
                  <a:schemeClr val="tx1"/>
                </a:solidFill>
              </a:rPr>
              <a:t>3</a:t>
            </a:r>
            <a:endParaRPr lang="en-US" sz="1800" dirty="0"/>
          </a:p>
        </p:txBody>
      </p:sp>
      <p:sp>
        <p:nvSpPr>
          <p:cNvPr id="19" name="Step title 3"/>
          <p:cNvSpPr txBox="1"/>
          <p:nvPr/>
        </p:nvSpPr>
        <p:spPr>
          <a:xfrm>
            <a:off x="6858000" y="2377440"/>
            <a:ext cx="1691640" cy="420624"/>
          </a:xfrm>
          <a:prstGeom prst="rect">
            <a:avLst/>
          </a:prstGeom>
          <a:noFill/>
          <a:ln/>
        </p:spPr>
        <p:txBody>
          <a:bodyPr wrap="square" lIns="0" tIns="0" rIns="0" bIns="0" rtlCol="0" anchor="ctr"/>
          <a:lstStyle/>
          <a:p>
            <a:pPr indent="0" marL="0">
              <a:buNone/>
            </a:pPr>
            <a:r>
              <a:rPr lang="en-US" sz="1600" b="1" dirty="0">
                <a:solidFill>
                  <a:schemeClr val="tx1"/>
                </a:solidFill>
              </a:rPr>
              <a:t>Hold a battery</a:t>
            </a:r>
            <a:endParaRPr lang="en-US" sz="1600" dirty="0"/>
          </a:p>
        </p:txBody>
      </p:sp>
      <p:sp>
        <p:nvSpPr>
          <p:cNvPr id="20" name="Step text 3"/>
          <p:cNvSpPr txBox="1"/>
          <p:nvPr/>
        </p:nvSpPr>
        <p:spPr>
          <a:xfrm>
            <a:off x="6263640" y="3017520"/>
            <a:ext cx="2240280" cy="1188720"/>
          </a:xfrm>
          <a:prstGeom prst="rect">
            <a:avLst/>
          </a:prstGeom>
          <a:noFill/>
          <a:ln/>
        </p:spPr>
        <p:txBody>
          <a:bodyPr wrap="square" lIns="0" tIns="0" rIns="0" bIns="0" rtlCol="0" anchor="ctr"/>
          <a:lstStyle/>
          <a:p>
            <a:pPr indent="0" marL="0">
              <a:buNone/>
            </a:pPr>
            <a:r>
              <a:rPr lang="en-US" sz="1300" dirty="0">
                <a:solidFill>
                  <a:schemeClr val="tx1"/>
                </a:solidFill>
              </a:rPr>
              <a:t>A station is asked to hold a swappable battery. Stock drops while held, then it expires.</a:t>
            </a:r>
            <a:endParaRPr lang="en-US" sz="1300" dirty="0"/>
          </a:p>
        </p:txBody>
      </p:sp>
      <p:sp>
        <p:nvSpPr>
          <p:cNvPr id="21" name="Range caveat"/>
          <p:cNvSpPr txBox="1"/>
          <p:nvPr/>
        </p:nvSpPr>
        <p:spPr>
          <a:xfrm>
            <a:off x="457200" y="4434840"/>
            <a:ext cx="8229600" cy="274320"/>
          </a:xfrm>
          <a:prstGeom prst="rect">
            <a:avLst/>
          </a:prstGeom>
          <a:noFill/>
          <a:ln/>
        </p:spPr>
        <p:txBody>
          <a:bodyPr wrap="square" lIns="0" tIns="0" rIns="0" bIns="0" rtlCol="0" anchor="ctr"/>
          <a:lstStyle/>
          <a:p>
            <a:pPr indent="0" marL="0">
              <a:buNone/>
            </a:pPr>
            <a:r>
              <a:rPr lang="en-US" sz="1200" dirty="0">
                <a:solidFill>
                  <a:schemeClr val="accent5"/>
                </a:solidFill>
              </a:rPr>
              <a:t>Range is a heuristic from a per-scooter figure, not a measurement. The phone app uses 1.2 km per % today.</a:t>
            </a:r>
            <a:endParaRPr lang="en-US" sz="12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400" b="1" dirty="0">
                <a:solidFill>
                  <a:schemeClr val="tx1"/>
                </a:solidFill>
              </a:rPr>
              <a:t>Algorithms and method</a:t>
            </a:r>
            <a:endParaRPr lang="en-US" sz="3400" dirty="0"/>
          </a:p>
        </p:txBody>
      </p:sp>
      <p:sp>
        <p:nvSpPr>
          <p:cNvPr id="4" name="Method banner"/>
          <p:cNvSpPr txBox="1"/>
          <p:nvPr/>
        </p:nvSpPr>
        <p:spPr>
          <a:xfrm>
            <a:off x="457200" y="1097280"/>
            <a:ext cx="8229600" cy="320040"/>
          </a:xfrm>
          <a:prstGeom prst="rect">
            <a:avLst/>
          </a:prstGeom>
          <a:noFill/>
          <a:ln/>
        </p:spPr>
        <p:txBody>
          <a:bodyPr wrap="square" lIns="0" tIns="0" rIns="0" bIns="0" rtlCol="0" anchor="ctr"/>
          <a:lstStyle/>
          <a:p>
            <a:pPr indent="0" marL="0">
              <a:buNone/>
            </a:pPr>
            <a:r>
              <a:rPr lang="en-US" sz="1500" b="1" dirty="0">
                <a:solidFill>
                  <a:schemeClr val="accent2"/>
                </a:solidFill>
              </a:rPr>
              <a:t>No machine learning: deterministic rules that can be explained and verified.</a:t>
            </a:r>
            <a:endParaRPr lang="en-US" sz="1500" dirty="0"/>
          </a:p>
        </p:txBody>
      </p:sp>
      <p:sp>
        <p:nvSpPr>
          <p:cNvPr id="5" name="Range check badge"/>
          <p:cNvSpPr/>
          <p:nvPr/>
        </p:nvSpPr>
        <p:spPr>
          <a:xfrm>
            <a:off x="457200" y="1691640"/>
            <a:ext cx="457200" cy="457200"/>
          </a:xfrm>
          <a:prstGeom prst="ellipse">
            <a:avLst/>
          </a:prstGeom>
          <a:solidFill>
            <a:srgbClr val="1F8A80"/>
          </a:solidFill>
          <a:ln w="12700">
            <a:solidFill>
              <a:srgbClr val="1F8A80"/>
            </a:solidFill>
            <a:prstDash val="solid"/>
          </a:ln>
        </p:spPr>
      </p:sp>
      <p:pic>
        <p:nvPicPr>
          <p:cNvPr id="6" name="FaCalculator" descr="Calculator icon">    </p:cNvPr>
          <p:cNvPicPr>
            <a:picLocks noChangeAspect="1"/>
          </p:cNvPicPr>
          <p:nvPr/>
        </p:nvPicPr>
        <p:blipFill>
          <a:blip r:embed="rId1"/>
          <a:stretch>
            <a:fillRect/>
          </a:stretch>
        </p:blipFill>
        <p:spPr>
          <a:xfrm>
            <a:off x="566928" y="1801368"/>
            <a:ext cx="237744" cy="237744"/>
          </a:xfrm>
          <a:prstGeom prst="rect">
            <a:avLst/>
          </a:prstGeom>
        </p:spPr>
      </p:pic>
      <p:sp>
        <p:nvSpPr>
          <p:cNvPr id="7" name="Algo title 00"/>
          <p:cNvSpPr txBox="1"/>
          <p:nvPr/>
        </p:nvSpPr>
        <p:spPr>
          <a:xfrm>
            <a:off x="1051560" y="1645920"/>
            <a:ext cx="3383280" cy="256032"/>
          </a:xfrm>
          <a:prstGeom prst="rect">
            <a:avLst/>
          </a:prstGeom>
          <a:noFill/>
          <a:ln/>
        </p:spPr>
        <p:txBody>
          <a:bodyPr wrap="square" lIns="0" tIns="0" rIns="0" bIns="0" rtlCol="0" anchor="ctr"/>
          <a:lstStyle/>
          <a:p>
            <a:pPr indent="0" marL="0">
              <a:buNone/>
            </a:pPr>
            <a:r>
              <a:rPr lang="en-US" sz="1400" b="1" dirty="0">
                <a:solidFill>
                  <a:schemeClr val="tx1"/>
                </a:solidFill>
              </a:rPr>
              <a:t>Range check</a:t>
            </a:r>
            <a:endParaRPr lang="en-US" sz="1400" dirty="0"/>
          </a:p>
        </p:txBody>
      </p:sp>
      <p:sp>
        <p:nvSpPr>
          <p:cNvPr id="8" name="Algo desc 00"/>
          <p:cNvSpPr txBox="1"/>
          <p:nvPr/>
        </p:nvSpPr>
        <p:spPr>
          <a:xfrm>
            <a:off x="1051560" y="1911096"/>
            <a:ext cx="3383280" cy="384048"/>
          </a:xfrm>
          <a:prstGeom prst="rect">
            <a:avLst/>
          </a:prstGeom>
          <a:noFill/>
          <a:ln/>
        </p:spPr>
        <p:txBody>
          <a:bodyPr wrap="square" lIns="0" tIns="0" rIns="0" bIns="0" rtlCol="0" anchor="ctr"/>
          <a:lstStyle/>
          <a:p>
            <a:pPr indent="0" marL="0">
              <a:buNone/>
            </a:pPr>
            <a:r>
              <a:rPr lang="en-US" sz="1200" dirty="0">
                <a:solidFill>
                  <a:schemeClr val="accent5"/>
                </a:solidFill>
              </a:rPr>
              <a:t>Battery % × km per % × (1 − margin) against stations with stock</a:t>
            </a:r>
            <a:endParaRPr lang="en-US" sz="1200" dirty="0"/>
          </a:p>
        </p:txBody>
      </p:sp>
      <p:sp>
        <p:nvSpPr>
          <p:cNvPr id="9" name="Haversine distance badge"/>
          <p:cNvSpPr/>
          <p:nvPr/>
        </p:nvSpPr>
        <p:spPr>
          <a:xfrm>
            <a:off x="457200" y="2423160"/>
            <a:ext cx="457200" cy="457200"/>
          </a:xfrm>
          <a:prstGeom prst="ellipse">
            <a:avLst/>
          </a:prstGeom>
          <a:solidFill>
            <a:srgbClr val="1F8A80"/>
          </a:solidFill>
          <a:ln w="12700">
            <a:solidFill>
              <a:srgbClr val="1F8A80"/>
            </a:solidFill>
            <a:prstDash val="solid"/>
          </a:ln>
        </p:spPr>
      </p:sp>
      <p:pic>
        <p:nvPicPr>
          <p:cNvPr id="10" name="FaGlobeAsia" descr="GlobeAsia icon">    </p:cNvPr>
          <p:cNvPicPr>
            <a:picLocks noChangeAspect="1"/>
          </p:cNvPicPr>
          <p:nvPr/>
        </p:nvPicPr>
        <p:blipFill>
          <a:blip r:embed="rId2"/>
          <a:stretch>
            <a:fillRect/>
          </a:stretch>
        </p:blipFill>
        <p:spPr>
          <a:xfrm>
            <a:off x="566928" y="2532888"/>
            <a:ext cx="237744" cy="237744"/>
          </a:xfrm>
          <a:prstGeom prst="rect">
            <a:avLst/>
          </a:prstGeom>
        </p:spPr>
      </p:pic>
      <p:sp>
        <p:nvSpPr>
          <p:cNvPr id="11" name="Algo title 01"/>
          <p:cNvSpPr txBox="1"/>
          <p:nvPr/>
        </p:nvSpPr>
        <p:spPr>
          <a:xfrm>
            <a:off x="1051560" y="2377440"/>
            <a:ext cx="3383280" cy="256032"/>
          </a:xfrm>
          <a:prstGeom prst="rect">
            <a:avLst/>
          </a:prstGeom>
          <a:noFill/>
          <a:ln/>
        </p:spPr>
        <p:txBody>
          <a:bodyPr wrap="square" lIns="0" tIns="0" rIns="0" bIns="0" rtlCol="0" anchor="ctr"/>
          <a:lstStyle/>
          <a:p>
            <a:pPr indent="0" marL="0">
              <a:buNone/>
            </a:pPr>
            <a:r>
              <a:rPr lang="en-US" sz="1400" b="1" dirty="0">
                <a:solidFill>
                  <a:schemeClr val="tx1"/>
                </a:solidFill>
              </a:rPr>
              <a:t>Haversine distance</a:t>
            </a:r>
            <a:endParaRPr lang="en-US" sz="1400" dirty="0"/>
          </a:p>
        </p:txBody>
      </p:sp>
      <p:sp>
        <p:nvSpPr>
          <p:cNvPr id="12" name="Algo desc 01"/>
          <p:cNvSpPr txBox="1"/>
          <p:nvPr/>
        </p:nvSpPr>
        <p:spPr>
          <a:xfrm>
            <a:off x="1051560" y="2642616"/>
            <a:ext cx="3383280" cy="384048"/>
          </a:xfrm>
          <a:prstGeom prst="rect">
            <a:avLst/>
          </a:prstGeom>
          <a:noFill/>
          <a:ln/>
        </p:spPr>
        <p:txBody>
          <a:bodyPr wrap="square" lIns="0" tIns="0" rIns="0" bIns="0" rtlCol="0" anchor="ctr"/>
          <a:lstStyle/>
          <a:p>
            <a:pPr indent="0" marL="0">
              <a:buNone/>
            </a:pPr>
            <a:r>
              <a:rPr lang="en-US" sz="1200" dirty="0">
                <a:solidFill>
                  <a:schemeClr val="accent5"/>
                </a:solidFill>
              </a:rPr>
              <a:t>Great-circle distance between two coordinates</a:t>
            </a:r>
            <a:endParaRPr lang="en-US" sz="1200" dirty="0"/>
          </a:p>
        </p:txBody>
      </p:sp>
      <p:sp>
        <p:nvSpPr>
          <p:cNvPr id="13" name="HMAC-SHA256 tag badge"/>
          <p:cNvSpPr/>
          <p:nvPr/>
        </p:nvSpPr>
        <p:spPr>
          <a:xfrm>
            <a:off x="457200" y="3154680"/>
            <a:ext cx="457200" cy="457200"/>
          </a:xfrm>
          <a:prstGeom prst="ellipse">
            <a:avLst/>
          </a:prstGeom>
          <a:solidFill>
            <a:srgbClr val="1F8A80"/>
          </a:solidFill>
          <a:ln w="12700">
            <a:solidFill>
              <a:srgbClr val="1F8A80"/>
            </a:solidFill>
            <a:prstDash val="solid"/>
          </a:ln>
        </p:spPr>
      </p:sp>
      <p:pic>
        <p:nvPicPr>
          <p:cNvPr id="14" name="FaLock" descr="Lock icon">    </p:cNvPr>
          <p:cNvPicPr>
            <a:picLocks noChangeAspect="1"/>
          </p:cNvPicPr>
          <p:nvPr/>
        </p:nvPicPr>
        <p:blipFill>
          <a:blip r:embed="rId3"/>
          <a:stretch>
            <a:fillRect/>
          </a:stretch>
        </p:blipFill>
        <p:spPr>
          <a:xfrm>
            <a:off x="566928" y="3264408"/>
            <a:ext cx="237744" cy="237744"/>
          </a:xfrm>
          <a:prstGeom prst="rect">
            <a:avLst/>
          </a:prstGeom>
        </p:spPr>
      </p:pic>
      <p:sp>
        <p:nvSpPr>
          <p:cNvPr id="15" name="Algo title 02"/>
          <p:cNvSpPr txBox="1"/>
          <p:nvPr/>
        </p:nvSpPr>
        <p:spPr>
          <a:xfrm>
            <a:off x="1051560" y="3108960"/>
            <a:ext cx="3383280" cy="256032"/>
          </a:xfrm>
          <a:prstGeom prst="rect">
            <a:avLst/>
          </a:prstGeom>
          <a:noFill/>
          <a:ln/>
        </p:spPr>
        <p:txBody>
          <a:bodyPr wrap="square" lIns="0" tIns="0" rIns="0" bIns="0" rtlCol="0" anchor="ctr"/>
          <a:lstStyle/>
          <a:p>
            <a:pPr indent="0" marL="0">
              <a:buNone/>
            </a:pPr>
            <a:r>
              <a:rPr lang="en-US" sz="1400" b="1" dirty="0">
                <a:solidFill>
                  <a:schemeClr val="tx1"/>
                </a:solidFill>
              </a:rPr>
              <a:t>HMAC-SHA256 tag</a:t>
            </a:r>
            <a:endParaRPr lang="en-US" sz="1400" dirty="0"/>
          </a:p>
        </p:txBody>
      </p:sp>
      <p:sp>
        <p:nvSpPr>
          <p:cNvPr id="16" name="Algo desc 02"/>
          <p:cNvSpPr txBox="1"/>
          <p:nvPr/>
        </p:nvSpPr>
        <p:spPr>
          <a:xfrm>
            <a:off x="1051560" y="3374136"/>
            <a:ext cx="3383280" cy="384048"/>
          </a:xfrm>
          <a:prstGeom prst="rect">
            <a:avLst/>
          </a:prstGeom>
          <a:noFill/>
          <a:ln/>
        </p:spPr>
        <p:txBody>
          <a:bodyPr wrap="square" lIns="0" tIns="0" rIns="0" bIns="0" rtlCol="0" anchor="ctr"/>
          <a:lstStyle/>
          <a:p>
            <a:pPr indent="0" marL="0">
              <a:buNone/>
            </a:pPr>
            <a:r>
              <a:rPr lang="en-US" sz="1200" dirty="0">
                <a:solidFill>
                  <a:schemeClr val="accent5"/>
                </a:solidFill>
              </a:rPr>
              <a:t>A 3-byte signature that fits the 24-byte Bluetooth packet</a:t>
            </a:r>
            <a:endParaRPr lang="en-US" sz="1200" dirty="0"/>
          </a:p>
        </p:txBody>
      </p:sp>
      <p:sp>
        <p:nvSpPr>
          <p:cNvPr id="17" name="Duplicate handling badge"/>
          <p:cNvSpPr/>
          <p:nvPr/>
        </p:nvSpPr>
        <p:spPr>
          <a:xfrm>
            <a:off x="457200" y="3886200"/>
            <a:ext cx="457200" cy="457200"/>
          </a:xfrm>
          <a:prstGeom prst="ellipse">
            <a:avLst/>
          </a:prstGeom>
          <a:solidFill>
            <a:srgbClr val="1F8A80"/>
          </a:solidFill>
          <a:ln w="12700">
            <a:solidFill>
              <a:srgbClr val="1F8A80"/>
            </a:solidFill>
            <a:prstDash val="solid"/>
          </a:ln>
        </p:spPr>
      </p:sp>
      <p:pic>
        <p:nvPicPr>
          <p:cNvPr id="18" name="FaClipboardList" descr="ClipboardList icon">    </p:cNvPr>
          <p:cNvPicPr>
            <a:picLocks noChangeAspect="1"/>
          </p:cNvPicPr>
          <p:nvPr/>
        </p:nvPicPr>
        <p:blipFill>
          <a:blip r:embed="rId4"/>
          <a:stretch>
            <a:fillRect/>
          </a:stretch>
        </p:blipFill>
        <p:spPr>
          <a:xfrm>
            <a:off x="566928" y="3995928"/>
            <a:ext cx="237744" cy="237744"/>
          </a:xfrm>
          <a:prstGeom prst="rect">
            <a:avLst/>
          </a:prstGeom>
        </p:spPr>
      </p:pic>
      <p:sp>
        <p:nvSpPr>
          <p:cNvPr id="19" name="Algo title 03"/>
          <p:cNvSpPr txBox="1"/>
          <p:nvPr/>
        </p:nvSpPr>
        <p:spPr>
          <a:xfrm>
            <a:off x="1051560" y="3840480"/>
            <a:ext cx="3383280" cy="256032"/>
          </a:xfrm>
          <a:prstGeom prst="rect">
            <a:avLst/>
          </a:prstGeom>
          <a:noFill/>
          <a:ln/>
        </p:spPr>
        <p:txBody>
          <a:bodyPr wrap="square" lIns="0" tIns="0" rIns="0" bIns="0" rtlCol="0" anchor="ctr"/>
          <a:lstStyle/>
          <a:p>
            <a:pPr indent="0" marL="0">
              <a:buNone/>
            </a:pPr>
            <a:r>
              <a:rPr lang="en-US" sz="1400" b="1" dirty="0">
                <a:solidFill>
                  <a:schemeClr val="tx1"/>
                </a:solidFill>
              </a:rPr>
              <a:t>Duplicate handling</a:t>
            </a:r>
            <a:endParaRPr lang="en-US" sz="1400" dirty="0"/>
          </a:p>
        </p:txBody>
      </p:sp>
      <p:sp>
        <p:nvSpPr>
          <p:cNvPr id="20" name="Algo desc 03"/>
          <p:cNvSpPr txBox="1"/>
          <p:nvPr/>
        </p:nvSpPr>
        <p:spPr>
          <a:xfrm>
            <a:off x="1051560" y="4105656"/>
            <a:ext cx="3383280" cy="384048"/>
          </a:xfrm>
          <a:prstGeom prst="rect">
            <a:avLst/>
          </a:prstGeom>
          <a:noFill/>
          <a:ln/>
        </p:spPr>
        <p:txBody>
          <a:bodyPr wrap="square" lIns="0" tIns="0" rIns="0" bIns="0" rtlCol="0" anchor="ctr"/>
          <a:lstStyle/>
          <a:p>
            <a:pPr indent="0" marL="0">
              <a:buNone/>
            </a:pPr>
            <a:r>
              <a:rPr lang="en-US" sz="1200" dirty="0">
                <a:solidFill>
                  <a:schemeClr val="accent5"/>
                </a:solidFill>
              </a:rPr>
              <a:t>Random alert ID as the key, so mesh and direct copies merge</a:t>
            </a:r>
            <a:endParaRPr lang="en-US" sz="1200" dirty="0"/>
          </a:p>
        </p:txBody>
      </p:sp>
      <p:sp>
        <p:nvSpPr>
          <p:cNvPr id="21" name="Controlled flooding badge"/>
          <p:cNvSpPr/>
          <p:nvPr/>
        </p:nvSpPr>
        <p:spPr>
          <a:xfrm>
            <a:off x="4663440" y="1691640"/>
            <a:ext cx="457200" cy="457200"/>
          </a:xfrm>
          <a:prstGeom prst="ellipse">
            <a:avLst/>
          </a:prstGeom>
          <a:solidFill>
            <a:srgbClr val="1F8A80"/>
          </a:solidFill>
          <a:ln w="12700">
            <a:solidFill>
              <a:srgbClr val="1F8A80"/>
            </a:solidFill>
            <a:prstDash val="solid"/>
          </a:ln>
        </p:spPr>
      </p:sp>
      <p:pic>
        <p:nvPicPr>
          <p:cNvPr id="22" name="FaProjectDiagram" descr="ProjectDiagram icon">    </p:cNvPr>
          <p:cNvPicPr>
            <a:picLocks noChangeAspect="1"/>
          </p:cNvPicPr>
          <p:nvPr/>
        </p:nvPicPr>
        <p:blipFill>
          <a:blip r:embed="rId5"/>
          <a:stretch>
            <a:fillRect/>
          </a:stretch>
        </p:blipFill>
        <p:spPr>
          <a:xfrm>
            <a:off x="4773168" y="1801368"/>
            <a:ext cx="237744" cy="237744"/>
          </a:xfrm>
          <a:prstGeom prst="rect">
            <a:avLst/>
          </a:prstGeom>
        </p:spPr>
      </p:pic>
      <p:sp>
        <p:nvSpPr>
          <p:cNvPr id="23" name="Algo title 10"/>
          <p:cNvSpPr txBox="1"/>
          <p:nvPr/>
        </p:nvSpPr>
        <p:spPr>
          <a:xfrm>
            <a:off x="5257800" y="1645920"/>
            <a:ext cx="3383280" cy="256032"/>
          </a:xfrm>
          <a:prstGeom prst="rect">
            <a:avLst/>
          </a:prstGeom>
          <a:noFill/>
          <a:ln/>
        </p:spPr>
        <p:txBody>
          <a:bodyPr wrap="square" lIns="0" tIns="0" rIns="0" bIns="0" rtlCol="0" anchor="ctr"/>
          <a:lstStyle/>
          <a:p>
            <a:pPr indent="0" marL="0">
              <a:buNone/>
            </a:pPr>
            <a:r>
              <a:rPr lang="en-US" sz="1400" b="1" dirty="0">
                <a:solidFill>
                  <a:schemeClr val="tx1"/>
                </a:solidFill>
              </a:rPr>
              <a:t>Controlled flooding</a:t>
            </a:r>
            <a:endParaRPr lang="en-US" sz="1400" dirty="0"/>
          </a:p>
        </p:txBody>
      </p:sp>
      <p:sp>
        <p:nvSpPr>
          <p:cNvPr id="24" name="Algo desc 10"/>
          <p:cNvSpPr txBox="1"/>
          <p:nvPr/>
        </p:nvSpPr>
        <p:spPr>
          <a:xfrm>
            <a:off x="5257800" y="1911096"/>
            <a:ext cx="3383280" cy="384048"/>
          </a:xfrm>
          <a:prstGeom prst="rect">
            <a:avLst/>
          </a:prstGeom>
          <a:noFill/>
          <a:ln/>
        </p:spPr>
        <p:txBody>
          <a:bodyPr wrap="square" lIns="0" tIns="0" rIns="0" bIns="0" rtlCol="0" anchor="ctr"/>
          <a:lstStyle/>
          <a:p>
            <a:pPr indent="0" marL="0">
              <a:buNone/>
            </a:pPr>
            <a:r>
              <a:rPr lang="en-US" sz="1200" dirty="0">
                <a:solidFill>
                  <a:schemeClr val="accent5"/>
                </a:solidFill>
              </a:rPr>
              <a:t>Drop seen or expired packets, add a hop, rebroadcast (designed, not yet on phones)</a:t>
            </a:r>
            <a:endParaRPr lang="en-US" sz="1200" dirty="0"/>
          </a:p>
        </p:txBody>
      </p:sp>
      <p:sp>
        <p:nvSpPr>
          <p:cNvPr id="25" name="Spatial clustering badge"/>
          <p:cNvSpPr/>
          <p:nvPr/>
        </p:nvSpPr>
        <p:spPr>
          <a:xfrm>
            <a:off x="4663440" y="2423160"/>
            <a:ext cx="457200" cy="457200"/>
          </a:xfrm>
          <a:prstGeom prst="ellipse">
            <a:avLst/>
          </a:prstGeom>
          <a:solidFill>
            <a:srgbClr val="1F8A80"/>
          </a:solidFill>
          <a:ln w="12700">
            <a:solidFill>
              <a:srgbClr val="1F8A80"/>
            </a:solidFill>
            <a:prstDash val="solid"/>
          </a:ln>
        </p:spPr>
      </p:sp>
      <p:pic>
        <p:nvPicPr>
          <p:cNvPr id="26" name="FaThLarge" descr="ThLarge icon">    </p:cNvPr>
          <p:cNvPicPr>
            <a:picLocks noChangeAspect="1"/>
          </p:cNvPicPr>
          <p:nvPr/>
        </p:nvPicPr>
        <p:blipFill>
          <a:blip r:embed="rId6"/>
          <a:stretch>
            <a:fillRect/>
          </a:stretch>
        </p:blipFill>
        <p:spPr>
          <a:xfrm>
            <a:off x="4773168" y="2532888"/>
            <a:ext cx="237744" cy="237744"/>
          </a:xfrm>
          <a:prstGeom prst="rect">
            <a:avLst/>
          </a:prstGeom>
        </p:spPr>
      </p:pic>
      <p:sp>
        <p:nvSpPr>
          <p:cNvPr id="27" name="Algo title 11"/>
          <p:cNvSpPr txBox="1"/>
          <p:nvPr/>
        </p:nvSpPr>
        <p:spPr>
          <a:xfrm>
            <a:off x="5257800" y="2377440"/>
            <a:ext cx="3383280" cy="256032"/>
          </a:xfrm>
          <a:prstGeom prst="rect">
            <a:avLst/>
          </a:prstGeom>
          <a:noFill/>
          <a:ln/>
        </p:spPr>
        <p:txBody>
          <a:bodyPr wrap="square" lIns="0" tIns="0" rIns="0" bIns="0" rtlCol="0" anchor="ctr"/>
          <a:lstStyle/>
          <a:p>
            <a:pPr indent="0" marL="0">
              <a:buNone/>
            </a:pPr>
            <a:r>
              <a:rPr lang="en-US" sz="1400" b="1" dirty="0">
                <a:solidFill>
                  <a:schemeClr val="tx1"/>
                </a:solidFill>
              </a:rPr>
              <a:t>Spatial clustering</a:t>
            </a:r>
            <a:endParaRPr lang="en-US" sz="1400" dirty="0"/>
          </a:p>
        </p:txBody>
      </p:sp>
      <p:sp>
        <p:nvSpPr>
          <p:cNvPr id="28" name="Algo desc 11"/>
          <p:cNvSpPr txBox="1"/>
          <p:nvPr/>
        </p:nvSpPr>
        <p:spPr>
          <a:xfrm>
            <a:off x="5257800" y="2642616"/>
            <a:ext cx="3383280" cy="384048"/>
          </a:xfrm>
          <a:prstGeom prst="rect">
            <a:avLst/>
          </a:prstGeom>
          <a:noFill/>
          <a:ln/>
        </p:spPr>
        <p:txBody>
          <a:bodyPr wrap="square" lIns="0" tIns="0" rIns="0" bIns="0" rtlCol="0" anchor="ctr"/>
          <a:lstStyle/>
          <a:p>
            <a:pPr indent="0" marL="0">
              <a:buNone/>
            </a:pPr>
            <a:r>
              <a:rPr lang="en-US" sz="1200" dirty="0">
                <a:solidFill>
                  <a:schemeClr val="accent5"/>
                </a:solidFill>
              </a:rPr>
              <a:t>Zoom grid and DBSCAN in PostGIS keep the map readable</a:t>
            </a:r>
            <a:endParaRPr lang="en-US" sz="1200" dirty="0"/>
          </a:p>
        </p:txBody>
      </p:sp>
      <p:sp>
        <p:nvSpPr>
          <p:cNvPr id="29" name="Atomic battery holds badge"/>
          <p:cNvSpPr/>
          <p:nvPr/>
        </p:nvSpPr>
        <p:spPr>
          <a:xfrm>
            <a:off x="4663440" y="3154680"/>
            <a:ext cx="457200" cy="457200"/>
          </a:xfrm>
          <a:prstGeom prst="ellipse">
            <a:avLst/>
          </a:prstGeom>
          <a:solidFill>
            <a:srgbClr val="1F8A80"/>
          </a:solidFill>
          <a:ln w="12700">
            <a:solidFill>
              <a:srgbClr val="1F8A80"/>
            </a:solidFill>
            <a:prstDash val="solid"/>
          </a:ln>
        </p:spPr>
      </p:sp>
      <p:pic>
        <p:nvPicPr>
          <p:cNvPr id="30" name="FaBatteryHalf" descr="BatteryHalf icon">    </p:cNvPr>
          <p:cNvPicPr>
            <a:picLocks noChangeAspect="1"/>
          </p:cNvPicPr>
          <p:nvPr/>
        </p:nvPicPr>
        <p:blipFill>
          <a:blip r:embed="rId7"/>
          <a:stretch>
            <a:fillRect/>
          </a:stretch>
        </p:blipFill>
        <p:spPr>
          <a:xfrm>
            <a:off x="4773168" y="3264408"/>
            <a:ext cx="237744" cy="237744"/>
          </a:xfrm>
          <a:prstGeom prst="rect">
            <a:avLst/>
          </a:prstGeom>
        </p:spPr>
      </p:pic>
      <p:sp>
        <p:nvSpPr>
          <p:cNvPr id="31" name="Algo title 12"/>
          <p:cNvSpPr txBox="1"/>
          <p:nvPr/>
        </p:nvSpPr>
        <p:spPr>
          <a:xfrm>
            <a:off x="5257800" y="3108960"/>
            <a:ext cx="3383280" cy="256032"/>
          </a:xfrm>
          <a:prstGeom prst="rect">
            <a:avLst/>
          </a:prstGeom>
          <a:noFill/>
          <a:ln/>
        </p:spPr>
        <p:txBody>
          <a:bodyPr wrap="square" lIns="0" tIns="0" rIns="0" bIns="0" rtlCol="0" anchor="ctr"/>
          <a:lstStyle/>
          <a:p>
            <a:pPr indent="0" marL="0">
              <a:buNone/>
            </a:pPr>
            <a:r>
              <a:rPr lang="en-US" sz="1400" b="1" dirty="0">
                <a:solidFill>
                  <a:schemeClr val="tx1"/>
                </a:solidFill>
              </a:rPr>
              <a:t>Atomic battery holds</a:t>
            </a:r>
            <a:endParaRPr lang="en-US" sz="1400" dirty="0"/>
          </a:p>
        </p:txBody>
      </p:sp>
      <p:sp>
        <p:nvSpPr>
          <p:cNvPr id="32" name="Algo desc 12"/>
          <p:cNvSpPr txBox="1"/>
          <p:nvPr/>
        </p:nvSpPr>
        <p:spPr>
          <a:xfrm>
            <a:off x="5257800" y="3374136"/>
            <a:ext cx="3383280" cy="384048"/>
          </a:xfrm>
          <a:prstGeom prst="rect">
            <a:avLst/>
          </a:prstGeom>
          <a:noFill/>
          <a:ln/>
        </p:spPr>
        <p:txBody>
          <a:bodyPr wrap="square" lIns="0" tIns="0" rIns="0" bIns="0" rtlCol="0" anchor="ctr"/>
          <a:lstStyle/>
          <a:p>
            <a:pPr indent="0" marL="0">
              <a:buNone/>
            </a:pPr>
            <a:r>
              <a:rPr lang="en-US" sz="1200" dirty="0">
                <a:solidFill>
                  <a:schemeClr val="accent5"/>
                </a:solidFill>
              </a:rPr>
              <a:t>Station row is locked so two riders cannot claim the last battery</a:t>
            </a:r>
            <a:endParaRPr lang="en-US" sz="1200" dirty="0"/>
          </a:p>
        </p:txBody>
      </p:sp>
      <p:sp>
        <p:nvSpPr>
          <p:cNvPr id="33" name="OSRM road routing badge"/>
          <p:cNvSpPr/>
          <p:nvPr/>
        </p:nvSpPr>
        <p:spPr>
          <a:xfrm>
            <a:off x="4663440" y="3886200"/>
            <a:ext cx="457200" cy="457200"/>
          </a:xfrm>
          <a:prstGeom prst="ellipse">
            <a:avLst/>
          </a:prstGeom>
          <a:solidFill>
            <a:srgbClr val="1F8A80"/>
          </a:solidFill>
          <a:ln w="12700">
            <a:solidFill>
              <a:srgbClr val="1F8A80"/>
            </a:solidFill>
            <a:prstDash val="solid"/>
          </a:ln>
        </p:spPr>
      </p:sp>
      <p:pic>
        <p:nvPicPr>
          <p:cNvPr id="34" name="FaRoute" descr="Route icon">    </p:cNvPr>
          <p:cNvPicPr>
            <a:picLocks noChangeAspect="1"/>
          </p:cNvPicPr>
          <p:nvPr/>
        </p:nvPicPr>
        <p:blipFill>
          <a:blip r:embed="rId8"/>
          <a:stretch>
            <a:fillRect/>
          </a:stretch>
        </p:blipFill>
        <p:spPr>
          <a:xfrm>
            <a:off x="4773168" y="3995928"/>
            <a:ext cx="237744" cy="237744"/>
          </a:xfrm>
          <a:prstGeom prst="rect">
            <a:avLst/>
          </a:prstGeom>
        </p:spPr>
      </p:pic>
      <p:sp>
        <p:nvSpPr>
          <p:cNvPr id="35" name="Algo title 13"/>
          <p:cNvSpPr txBox="1"/>
          <p:nvPr/>
        </p:nvSpPr>
        <p:spPr>
          <a:xfrm>
            <a:off x="5257800" y="3840480"/>
            <a:ext cx="3383280" cy="256032"/>
          </a:xfrm>
          <a:prstGeom prst="rect">
            <a:avLst/>
          </a:prstGeom>
          <a:noFill/>
          <a:ln/>
        </p:spPr>
        <p:txBody>
          <a:bodyPr wrap="square" lIns="0" tIns="0" rIns="0" bIns="0" rtlCol="0" anchor="ctr"/>
          <a:lstStyle/>
          <a:p>
            <a:pPr indent="0" marL="0">
              <a:buNone/>
            </a:pPr>
            <a:r>
              <a:rPr lang="en-US" sz="1400" b="1" dirty="0">
                <a:solidFill>
                  <a:schemeClr val="tx1"/>
                </a:solidFill>
              </a:rPr>
              <a:t>OSRM road routing</a:t>
            </a:r>
            <a:endParaRPr lang="en-US" sz="1400" dirty="0"/>
          </a:p>
        </p:txBody>
      </p:sp>
      <p:sp>
        <p:nvSpPr>
          <p:cNvPr id="36" name="Algo desc 13"/>
          <p:cNvSpPr txBox="1"/>
          <p:nvPr/>
        </p:nvSpPr>
        <p:spPr>
          <a:xfrm>
            <a:off x="5257800" y="4105656"/>
            <a:ext cx="3383280" cy="384048"/>
          </a:xfrm>
          <a:prstGeom prst="rect">
            <a:avLst/>
          </a:prstGeom>
          <a:noFill/>
          <a:ln/>
        </p:spPr>
        <p:txBody>
          <a:bodyPr wrap="square" lIns="0" tIns="0" rIns="0" bIns="0" rtlCol="0" anchor="ctr"/>
          <a:lstStyle/>
          <a:p>
            <a:pPr indent="0" marL="0">
              <a:buNone/>
            </a:pPr>
            <a:r>
              <a:rPr lang="en-US" sz="1200" dirty="0">
                <a:solidFill>
                  <a:schemeClr val="accent5"/>
                </a:solidFill>
              </a:rPr>
              <a:t>Shortest road path on OpenStreetMap, used for station routes</a:t>
            </a:r>
            <a:endParaRPr lang="en-US" sz="12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400" b="1" dirty="0">
                <a:solidFill>
                  <a:schemeClr val="bg1"/>
                </a:solidFill>
              </a:rPr>
              <a:t>Tested on the live system</a:t>
            </a:r>
            <a:endParaRPr lang="en-US" sz="3400" dirty="0"/>
          </a:p>
        </p:txBody>
      </p:sp>
      <p:sp>
        <p:nvSpPr>
          <p:cNvPr id="4" name="Result 1"/>
          <p:cNvSpPr/>
          <p:nvPr/>
        </p:nvSpPr>
        <p:spPr>
          <a:xfrm>
            <a:off x="457200" y="1325880"/>
            <a:ext cx="1920240" cy="2331720"/>
          </a:xfrm>
          <a:prstGeom prst="roundRect">
            <a:avLst>
              <a:gd name="adj" fmla="val 3810"/>
            </a:avLst>
          </a:prstGeom>
          <a:solidFill>
            <a:schemeClr val="tx2"/>
          </a:solidFill>
          <a:ln w="12700">
            <a:solidFill>
              <a:schemeClr val="tx2"/>
            </a:solidFill>
            <a:prstDash val="solid"/>
          </a:ln>
        </p:spPr>
      </p:sp>
      <p:sp>
        <p:nvSpPr>
          <p:cNvPr id="5" name="Result number 1"/>
          <p:cNvSpPr txBox="1"/>
          <p:nvPr/>
        </p:nvSpPr>
        <p:spPr>
          <a:xfrm>
            <a:off x="640080" y="1508760"/>
            <a:ext cx="1554480" cy="640080"/>
          </a:xfrm>
          <a:prstGeom prst="rect">
            <a:avLst/>
          </a:prstGeom>
          <a:noFill/>
          <a:ln/>
        </p:spPr>
        <p:txBody>
          <a:bodyPr wrap="square" lIns="0" tIns="0" rIns="0" bIns="0" rtlCol="0" anchor="ctr"/>
          <a:lstStyle/>
          <a:p>
            <a:pPr indent="0" marL="0">
              <a:buNone/>
            </a:pPr>
            <a:r>
              <a:rPr lang="en-US" sz="3200" b="1" dirty="0">
                <a:solidFill>
                  <a:schemeClr val="accent1"/>
                </a:solidFill>
              </a:rPr>
              <a:t>33.6 km</a:t>
            </a:r>
            <a:endParaRPr lang="en-US" sz="3200" dirty="0"/>
          </a:p>
        </p:txBody>
      </p:sp>
      <p:sp>
        <p:nvSpPr>
          <p:cNvPr id="6" name="Result label 1"/>
          <p:cNvSpPr txBox="1"/>
          <p:nvPr/>
        </p:nvSpPr>
        <p:spPr>
          <a:xfrm>
            <a:off x="640080" y="2240280"/>
            <a:ext cx="1554480" cy="1280160"/>
          </a:xfrm>
          <a:prstGeom prst="rect">
            <a:avLst/>
          </a:prstGeom>
          <a:noFill/>
          <a:ln/>
        </p:spPr>
        <p:txBody>
          <a:bodyPr wrap="square" lIns="0" tIns="0" rIns="0" bIns="0" rtlCol="0" anchor="ctr"/>
          <a:lstStyle/>
          <a:p>
            <a:pPr indent="0" marL="0">
              <a:buNone/>
            </a:pPr>
            <a:r>
              <a:rPr lang="en-US" sz="1300" dirty="0">
                <a:solidFill>
                  <a:schemeClr val="bg1"/>
                </a:solidFill>
              </a:rPr>
              <a:t>usable range at 42% battery; both test stations reachable</a:t>
            </a:r>
            <a:endParaRPr lang="en-US" sz="1300" dirty="0"/>
          </a:p>
        </p:txBody>
      </p:sp>
      <p:sp>
        <p:nvSpPr>
          <p:cNvPr id="7" name="Result 2"/>
          <p:cNvSpPr/>
          <p:nvPr/>
        </p:nvSpPr>
        <p:spPr>
          <a:xfrm>
            <a:off x="2560320" y="1325880"/>
            <a:ext cx="1920240" cy="2331720"/>
          </a:xfrm>
          <a:prstGeom prst="roundRect">
            <a:avLst>
              <a:gd name="adj" fmla="val 3810"/>
            </a:avLst>
          </a:prstGeom>
          <a:solidFill>
            <a:schemeClr val="tx2"/>
          </a:solidFill>
          <a:ln w="12700">
            <a:solidFill>
              <a:schemeClr val="tx2"/>
            </a:solidFill>
            <a:prstDash val="solid"/>
          </a:ln>
        </p:spPr>
      </p:sp>
      <p:sp>
        <p:nvSpPr>
          <p:cNvPr id="8" name="Result number 2"/>
          <p:cNvSpPr txBox="1"/>
          <p:nvPr/>
        </p:nvSpPr>
        <p:spPr>
          <a:xfrm>
            <a:off x="2743200" y="1508760"/>
            <a:ext cx="1554480" cy="640080"/>
          </a:xfrm>
          <a:prstGeom prst="rect">
            <a:avLst/>
          </a:prstGeom>
          <a:noFill/>
          <a:ln/>
        </p:spPr>
        <p:txBody>
          <a:bodyPr wrap="square" lIns="0" tIns="0" rIns="0" bIns="0" rtlCol="0" anchor="ctr"/>
          <a:lstStyle/>
          <a:p>
            <a:pPr indent="0" marL="0">
              <a:buNone/>
            </a:pPr>
            <a:r>
              <a:rPr lang="en-US" sz="3200" b="1" dirty="0">
                <a:solidFill>
                  <a:schemeClr val="accent1"/>
                </a:solidFill>
              </a:rPr>
              <a:t>0.8 km</a:t>
            </a:r>
            <a:endParaRPr lang="en-US" sz="3200" dirty="0"/>
          </a:p>
        </p:txBody>
      </p:sp>
      <p:sp>
        <p:nvSpPr>
          <p:cNvPr id="9" name="Result label 2"/>
          <p:cNvSpPr txBox="1"/>
          <p:nvPr/>
        </p:nvSpPr>
        <p:spPr>
          <a:xfrm>
            <a:off x="2743200" y="2240280"/>
            <a:ext cx="1554480" cy="1280160"/>
          </a:xfrm>
          <a:prstGeom prst="rect">
            <a:avLst/>
          </a:prstGeom>
          <a:noFill/>
          <a:ln/>
        </p:spPr>
        <p:txBody>
          <a:bodyPr wrap="square" lIns="0" tIns="0" rIns="0" bIns="0" rtlCol="0" anchor="ctr"/>
          <a:lstStyle/>
          <a:p>
            <a:pPr indent="0" marL="0">
              <a:buNone/>
            </a:pPr>
            <a:r>
              <a:rPr lang="en-US" sz="1300" dirty="0">
                <a:solidFill>
                  <a:schemeClr val="bg1"/>
                </a:solidFill>
              </a:rPr>
              <a:t>usable range at 1% battery: no station in range, alert raised</a:t>
            </a:r>
            <a:endParaRPr lang="en-US" sz="1300" dirty="0"/>
          </a:p>
        </p:txBody>
      </p:sp>
      <p:sp>
        <p:nvSpPr>
          <p:cNvPr id="10" name="Result 3"/>
          <p:cNvSpPr/>
          <p:nvPr/>
        </p:nvSpPr>
        <p:spPr>
          <a:xfrm>
            <a:off x="4663440" y="1325880"/>
            <a:ext cx="1920240" cy="2331720"/>
          </a:xfrm>
          <a:prstGeom prst="roundRect">
            <a:avLst>
              <a:gd name="adj" fmla="val 3810"/>
            </a:avLst>
          </a:prstGeom>
          <a:solidFill>
            <a:schemeClr val="tx2"/>
          </a:solidFill>
          <a:ln w="12700">
            <a:solidFill>
              <a:schemeClr val="tx2"/>
            </a:solidFill>
            <a:prstDash val="solid"/>
          </a:ln>
        </p:spPr>
      </p:sp>
      <p:sp>
        <p:nvSpPr>
          <p:cNvPr id="11" name="Result number 3"/>
          <p:cNvSpPr txBox="1"/>
          <p:nvPr/>
        </p:nvSpPr>
        <p:spPr>
          <a:xfrm>
            <a:off x="4846320" y="1508760"/>
            <a:ext cx="1554480" cy="640080"/>
          </a:xfrm>
          <a:prstGeom prst="rect">
            <a:avLst/>
          </a:prstGeom>
          <a:noFill/>
          <a:ln/>
        </p:spPr>
        <p:txBody>
          <a:bodyPr wrap="square" lIns="0" tIns="0" rIns="0" bIns="0" rtlCol="0" anchor="ctr"/>
          <a:lstStyle/>
          <a:p>
            <a:pPr indent="0" marL="0">
              <a:buNone/>
            </a:pPr>
            <a:r>
              <a:rPr lang="en-US" sz="3200" b="1" dirty="0">
                <a:solidFill>
                  <a:schemeClr val="accent1"/>
                </a:solidFill>
              </a:rPr>
              <a:t>3 → 2</a:t>
            </a:r>
            <a:endParaRPr lang="en-US" sz="3200" dirty="0"/>
          </a:p>
        </p:txBody>
      </p:sp>
      <p:sp>
        <p:nvSpPr>
          <p:cNvPr id="12" name="Result label 3"/>
          <p:cNvSpPr txBox="1"/>
          <p:nvPr/>
        </p:nvSpPr>
        <p:spPr>
          <a:xfrm>
            <a:off x="4846320" y="2240280"/>
            <a:ext cx="1554480" cy="1280160"/>
          </a:xfrm>
          <a:prstGeom prst="rect">
            <a:avLst/>
          </a:prstGeom>
          <a:noFill/>
          <a:ln/>
        </p:spPr>
        <p:txBody>
          <a:bodyPr wrap="square" lIns="0" tIns="0" rIns="0" bIns="0" rtlCol="0" anchor="ctr"/>
          <a:lstStyle/>
          <a:p>
            <a:pPr indent="0" marL="0">
              <a:buNone/>
            </a:pPr>
            <a:r>
              <a:rPr lang="en-US" sz="1300" dirty="0">
                <a:solidFill>
                  <a:schemeClr val="bg1"/>
                </a:solidFill>
              </a:rPr>
              <a:t>station stock while a hold is active; back to 3 after cancel</a:t>
            </a:r>
            <a:endParaRPr lang="en-US" sz="1300" dirty="0"/>
          </a:p>
        </p:txBody>
      </p:sp>
      <p:sp>
        <p:nvSpPr>
          <p:cNvPr id="13" name="Result 4"/>
          <p:cNvSpPr/>
          <p:nvPr/>
        </p:nvSpPr>
        <p:spPr>
          <a:xfrm>
            <a:off x="6766560" y="1325880"/>
            <a:ext cx="1920240" cy="2331720"/>
          </a:xfrm>
          <a:prstGeom prst="roundRect">
            <a:avLst>
              <a:gd name="adj" fmla="val 3810"/>
            </a:avLst>
          </a:prstGeom>
          <a:solidFill>
            <a:schemeClr val="tx2"/>
          </a:solidFill>
          <a:ln w="12700">
            <a:solidFill>
              <a:schemeClr val="tx2"/>
            </a:solidFill>
            <a:prstDash val="solid"/>
          </a:ln>
        </p:spPr>
      </p:sp>
      <p:sp>
        <p:nvSpPr>
          <p:cNvPr id="14" name="Result number 4"/>
          <p:cNvSpPr txBox="1"/>
          <p:nvPr/>
        </p:nvSpPr>
        <p:spPr>
          <a:xfrm>
            <a:off x="6949440" y="1508760"/>
            <a:ext cx="1554480" cy="640080"/>
          </a:xfrm>
          <a:prstGeom prst="rect">
            <a:avLst/>
          </a:prstGeom>
          <a:noFill/>
          <a:ln/>
        </p:spPr>
        <p:txBody>
          <a:bodyPr wrap="square" lIns="0" tIns="0" rIns="0" bIns="0" rtlCol="0" anchor="ctr"/>
          <a:lstStyle/>
          <a:p>
            <a:pPr indent="0" marL="0">
              <a:buNone/>
            </a:pPr>
            <a:r>
              <a:rPr lang="en-US" sz="3200" b="1" dirty="0">
                <a:solidFill>
                  <a:schemeClr val="accent1"/>
                </a:solidFill>
              </a:rPr>
              <a:t>409</a:t>
            </a:r>
            <a:endParaRPr lang="en-US" sz="3200" dirty="0"/>
          </a:p>
        </p:txBody>
      </p:sp>
      <p:sp>
        <p:nvSpPr>
          <p:cNvPr id="15" name="Result label 4"/>
          <p:cNvSpPr txBox="1"/>
          <p:nvPr/>
        </p:nvSpPr>
        <p:spPr>
          <a:xfrm>
            <a:off x="6949440" y="2240280"/>
            <a:ext cx="1554480" cy="1280160"/>
          </a:xfrm>
          <a:prstGeom prst="rect">
            <a:avLst/>
          </a:prstGeom>
          <a:noFill/>
          <a:ln/>
        </p:spPr>
        <p:txBody>
          <a:bodyPr wrap="square" lIns="0" tIns="0" rIns="0" bIns="0" rtlCol="0" anchor="ctr"/>
          <a:lstStyle/>
          <a:p>
            <a:pPr indent="0" marL="0">
              <a:buNone/>
            </a:pPr>
            <a:r>
              <a:rPr lang="en-US" sz="1300" dirty="0">
                <a:solidFill>
                  <a:schemeClr val="bg1"/>
                </a:solidFill>
              </a:rPr>
              <a:t>a second hold from the same vehicle is refused</a:t>
            </a:r>
            <a:endParaRPr lang="en-US" sz="1300" dirty="0"/>
          </a:p>
        </p:txBody>
      </p:sp>
      <p:sp>
        <p:nvSpPr>
          <p:cNvPr id="16" name="Also verified"/>
          <p:cNvSpPr txBox="1"/>
          <p:nvPr/>
        </p:nvSpPr>
        <p:spPr>
          <a:xfrm>
            <a:off x="457200" y="3840480"/>
            <a:ext cx="8229600" cy="274320"/>
          </a:xfrm>
          <a:prstGeom prst="rect">
            <a:avLst/>
          </a:prstGeom>
          <a:noFill/>
          <a:ln/>
        </p:spPr>
        <p:txBody>
          <a:bodyPr wrap="square" lIns="0" tIns="0" rIns="0" bIns="0" rtlCol="0" anchor="ctr"/>
          <a:lstStyle/>
          <a:p>
            <a:pPr indent="0" marL="0">
              <a:buNone/>
            </a:pPr>
            <a:r>
              <a:rPr lang="en-US" sz="1300" dirty="0">
                <a:solidFill>
                  <a:schemeClr val="bg2"/>
                </a:solidFill>
              </a:rPr>
              <a:t>Also verified: input validation, wrong-key and no-login rejections, forged-packet rejection.</a:t>
            </a:r>
            <a:endParaRPr lang="en-US" sz="1300" dirty="0"/>
          </a:p>
        </p:txBody>
      </p:sp>
      <p:sp>
        <p:nvSpPr>
          <p:cNvPr id="17" name="Test caveat"/>
          <p:cNvSpPr txBox="1"/>
          <p:nvPr/>
        </p:nvSpPr>
        <p:spPr>
          <a:xfrm>
            <a:off x="457200" y="4251960"/>
            <a:ext cx="8229600" cy="274320"/>
          </a:xfrm>
          <a:prstGeom prst="rect">
            <a:avLst/>
          </a:prstGeom>
          <a:noFill/>
          <a:ln/>
        </p:spPr>
        <p:txBody>
          <a:bodyPr wrap="square" lIns="0" tIns="0" rIns="0" bIns="0" rtlCol="0" anchor="ctr"/>
          <a:lstStyle/>
          <a:p>
            <a:pPr indent="0" marL="0">
              <a:buNone/>
            </a:pPr>
            <a:r>
              <a:rPr lang="en-US" sz="1100" dirty="0">
                <a:solidFill>
                  <a:srgbClr val="B8C7CA"/>
                </a:solidFill>
              </a:rPr>
              <a:t>Test setup: one test vehicle (1 km per %, 20% margin) and one test station. Test inputs, not field measurements.</a:t>
            </a:r>
            <a:endParaRPr lang="en-US" sz="11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400" b="1" dirty="0">
                <a:solidFill>
                  <a:schemeClr val="tx1"/>
                </a:solidFill>
              </a:rPr>
              <a:t>Safety: built and not built</a:t>
            </a:r>
            <a:endParaRPr lang="en-US" sz="3400" dirty="0"/>
          </a:p>
        </p:txBody>
      </p:sp>
      <p:sp>
        <p:nvSpPr>
          <p:cNvPr id="4" name="Panel Working"/>
          <p:cNvSpPr/>
          <p:nvPr/>
        </p:nvSpPr>
        <p:spPr>
          <a:xfrm>
            <a:off x="457200" y="1234440"/>
            <a:ext cx="4023360" cy="3337560"/>
          </a:xfrm>
          <a:prstGeom prst="roundRect">
            <a:avLst>
              <a:gd name="adj" fmla="val 2192"/>
            </a:avLst>
          </a:prstGeom>
          <a:solidFill>
            <a:schemeClr val="bg2"/>
          </a:solidFill>
          <a:ln w="12700">
            <a:solidFill>
              <a:schemeClr val="bg2"/>
            </a:solidFill>
            <a:prstDash val="solid"/>
          </a:ln>
        </p:spPr>
      </p:sp>
      <p:sp>
        <p:nvSpPr>
          <p:cNvPr id="5" name="Working badge"/>
          <p:cNvSpPr/>
          <p:nvPr/>
        </p:nvSpPr>
        <p:spPr>
          <a:xfrm>
            <a:off x="685800" y="1389888"/>
            <a:ext cx="411480" cy="411480"/>
          </a:xfrm>
          <a:prstGeom prst="ellipse">
            <a:avLst/>
          </a:prstGeom>
          <a:solidFill>
            <a:srgbClr val="3FA34D"/>
          </a:solidFill>
          <a:ln w="12700">
            <a:solidFill>
              <a:srgbClr val="3FA34D"/>
            </a:solidFill>
            <a:prstDash val="solid"/>
          </a:ln>
        </p:spPr>
      </p:sp>
      <p:pic>
        <p:nvPicPr>
          <p:cNvPr id="6" name="FaCheckCircle" descr="CheckCircle icon">    </p:cNvPr>
          <p:cNvPicPr>
            <a:picLocks noChangeAspect="1"/>
          </p:cNvPicPr>
          <p:nvPr/>
        </p:nvPicPr>
        <p:blipFill>
          <a:blip r:embed="rId1"/>
          <a:stretch>
            <a:fillRect/>
          </a:stretch>
        </p:blipFill>
        <p:spPr>
          <a:xfrm>
            <a:off x="784555" y="1488643"/>
            <a:ext cx="213970" cy="213970"/>
          </a:xfrm>
          <a:prstGeom prst="rect">
            <a:avLst/>
          </a:prstGeom>
        </p:spPr>
      </p:pic>
      <p:sp>
        <p:nvSpPr>
          <p:cNvPr id="7" name="Panel heading Working"/>
          <p:cNvSpPr txBox="1"/>
          <p:nvPr/>
        </p:nvSpPr>
        <p:spPr>
          <a:xfrm>
            <a:off x="1234440" y="1389888"/>
            <a:ext cx="3017520" cy="411480"/>
          </a:xfrm>
          <a:prstGeom prst="rect">
            <a:avLst/>
          </a:prstGeom>
          <a:noFill/>
          <a:ln/>
        </p:spPr>
        <p:txBody>
          <a:bodyPr wrap="square" lIns="0" tIns="0" rIns="0" bIns="0" rtlCol="0" anchor="ctr"/>
          <a:lstStyle/>
          <a:p>
            <a:pPr indent="0" marL="0">
              <a:buNone/>
            </a:pPr>
            <a:r>
              <a:rPr lang="en-US" sz="1800" b="1" dirty="0">
                <a:solidFill>
                  <a:schemeClr val="tx1"/>
                </a:solidFill>
              </a:rPr>
              <a:t>Working</a:t>
            </a:r>
            <a:endParaRPr lang="en-US" sz="1800" dirty="0"/>
          </a:p>
        </p:txBody>
      </p:sp>
      <p:sp>
        <p:nvSpPr>
          <p:cNvPr id="8" name="Panel list Working"/>
          <p:cNvSpPr txBox="1"/>
          <p:nvPr/>
        </p:nvSpPr>
        <p:spPr>
          <a:xfrm>
            <a:off x="685800" y="2011680"/>
            <a:ext cx="3566160" cy="24231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Low-battery alert from the range check</a:t>
            </a:r>
            <a:endParaRPr lang="en-US" sz="1400" dirty="0"/>
          </a:p>
          <a:p>
            <a:pPr marL="342900" indent="-342900">
              <a:spcAft>
                <a:spcPts val="600"/>
              </a:spcAft>
              <a:buSzPct val="100000"/>
              <a:buChar char="•"/>
            </a:pPr>
            <a:r>
              <a:rPr lang="en-US" sz="1400" dirty="0">
                <a:solidFill>
                  <a:schemeClr val="tx1"/>
                </a:solidFill>
              </a:rPr>
              <a:t>Battery holds with stock counting</a:t>
            </a:r>
            <a:endParaRPr lang="en-US" sz="1400" dirty="0"/>
          </a:p>
          <a:p>
            <a:pPr marL="342900" indent="-342900">
              <a:spcAft>
                <a:spcPts val="600"/>
              </a:spcAft>
              <a:buSzPct val="100000"/>
              <a:buChar char="•"/>
            </a:pPr>
            <a:r>
              <a:rPr lang="en-US" sz="1400" dirty="0">
                <a:solidFill>
                  <a:schemeClr val="tx1"/>
                </a:solidFill>
              </a:rPr>
              <a:t>Crash, stranded and thermal events from a vehicle</a:t>
            </a:r>
            <a:endParaRPr lang="en-US" sz="1400" dirty="0"/>
          </a:p>
          <a:p>
            <a:pPr marL="342900" indent="-342900">
              <a:spcAft>
                <a:spcPts val="600"/>
              </a:spcAft>
              <a:buSzPct val="100000"/>
              <a:buChar char="•"/>
            </a:pPr>
            <a:r>
              <a:rPr lang="en-US" sz="1400" dirty="0">
                <a:solidFill>
                  <a:schemeClr val="tx1"/>
                </a:solidFill>
              </a:rPr>
              <a:t>Role-based access and key checks</a:t>
            </a:r>
            <a:endParaRPr lang="en-US" sz="1400" dirty="0"/>
          </a:p>
          <a:p>
            <a:pPr marL="342900" indent="-342900">
              <a:spcAft>
                <a:spcPts val="600"/>
              </a:spcAft>
              <a:buSzPct val="100000"/>
              <a:buChar char="•"/>
            </a:pPr>
            <a:r>
              <a:rPr lang="en-US" sz="1400" dirty="0">
                <a:solidFill>
                  <a:schemeClr val="tx1"/>
                </a:solidFill>
              </a:rPr>
              <a:t>Forged mesh packets rejected</a:t>
            </a:r>
            <a:endParaRPr lang="en-US" sz="1400" dirty="0"/>
          </a:p>
        </p:txBody>
      </p:sp>
      <p:sp>
        <p:nvSpPr>
          <p:cNvPr id="9" name="Panel Not built yet"/>
          <p:cNvSpPr/>
          <p:nvPr/>
        </p:nvSpPr>
        <p:spPr>
          <a:xfrm>
            <a:off x="4663440" y="1234440"/>
            <a:ext cx="4023360" cy="3337560"/>
          </a:xfrm>
          <a:prstGeom prst="roundRect">
            <a:avLst>
              <a:gd name="adj" fmla="val 2192"/>
            </a:avLst>
          </a:prstGeom>
          <a:solidFill>
            <a:schemeClr val="bg2"/>
          </a:solidFill>
          <a:ln w="12700">
            <a:solidFill>
              <a:schemeClr val="bg2"/>
            </a:solidFill>
            <a:prstDash val="solid"/>
          </a:ln>
        </p:spPr>
      </p:sp>
      <p:sp>
        <p:nvSpPr>
          <p:cNvPr id="10" name="Not built yet badge"/>
          <p:cNvSpPr/>
          <p:nvPr/>
        </p:nvSpPr>
        <p:spPr>
          <a:xfrm>
            <a:off x="4892040" y="1389888"/>
            <a:ext cx="411480" cy="411480"/>
          </a:xfrm>
          <a:prstGeom prst="ellipse">
            <a:avLst/>
          </a:prstGeom>
          <a:solidFill>
            <a:srgbClr val="D64545"/>
          </a:solidFill>
          <a:ln w="12700">
            <a:solidFill>
              <a:srgbClr val="D64545"/>
            </a:solidFill>
            <a:prstDash val="solid"/>
          </a:ln>
        </p:spPr>
      </p:sp>
      <p:pic>
        <p:nvPicPr>
          <p:cNvPr id="11" name="FaTimesCircle" descr="TimesCircle icon">    </p:cNvPr>
          <p:cNvPicPr>
            <a:picLocks noChangeAspect="1"/>
          </p:cNvPicPr>
          <p:nvPr/>
        </p:nvPicPr>
        <p:blipFill>
          <a:blip r:embed="rId2"/>
          <a:stretch>
            <a:fillRect/>
          </a:stretch>
        </p:blipFill>
        <p:spPr>
          <a:xfrm>
            <a:off x="4990795" y="1488643"/>
            <a:ext cx="213970" cy="213970"/>
          </a:xfrm>
          <a:prstGeom prst="rect">
            <a:avLst/>
          </a:prstGeom>
        </p:spPr>
      </p:pic>
      <p:sp>
        <p:nvSpPr>
          <p:cNvPr id="12" name="Panel heading Not built yet"/>
          <p:cNvSpPr txBox="1"/>
          <p:nvPr/>
        </p:nvSpPr>
        <p:spPr>
          <a:xfrm>
            <a:off x="5440680" y="1389888"/>
            <a:ext cx="3017520" cy="411480"/>
          </a:xfrm>
          <a:prstGeom prst="rect">
            <a:avLst/>
          </a:prstGeom>
          <a:noFill/>
          <a:ln/>
        </p:spPr>
        <p:txBody>
          <a:bodyPr wrap="square" lIns="0" tIns="0" rIns="0" bIns="0" rtlCol="0" anchor="ctr"/>
          <a:lstStyle/>
          <a:p>
            <a:pPr indent="0" marL="0">
              <a:buNone/>
            </a:pPr>
            <a:r>
              <a:rPr lang="en-US" sz="1800" b="1" dirty="0">
                <a:solidFill>
                  <a:schemeClr val="tx1"/>
                </a:solidFill>
              </a:rPr>
              <a:t>Not built yet</a:t>
            </a:r>
            <a:endParaRPr lang="en-US" sz="1800" dirty="0"/>
          </a:p>
        </p:txBody>
      </p:sp>
      <p:sp>
        <p:nvSpPr>
          <p:cNvPr id="13" name="Panel list Not built yet"/>
          <p:cNvSpPr txBox="1"/>
          <p:nvPr/>
        </p:nvSpPr>
        <p:spPr>
          <a:xfrm>
            <a:off x="4892040" y="2011680"/>
            <a:ext cx="3566160" cy="24231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Offline Bluetooth relay and one-tap SOS on phones</a:t>
            </a:r>
            <a:endParaRPr lang="en-US" sz="1400" dirty="0"/>
          </a:p>
          <a:p>
            <a:pPr marL="342900" indent="-342900">
              <a:spcAft>
                <a:spcPts val="600"/>
              </a:spcAft>
              <a:buSzPct val="100000"/>
              <a:buChar char="•"/>
            </a:pPr>
            <a:r>
              <a:rPr lang="en-US" sz="1400" dirty="0">
                <a:solidFill>
                  <a:schemeClr val="tx1"/>
                </a:solidFill>
              </a:rPr>
              <a:t>"I can help" on nearby phones (backend is ready)</a:t>
            </a:r>
            <a:endParaRPr lang="en-US" sz="1400" dirty="0"/>
          </a:p>
          <a:p>
            <a:pPr marL="342900" indent="-342900">
              <a:spcAft>
                <a:spcPts val="600"/>
              </a:spcAft>
              <a:buSzPct val="100000"/>
              <a:buChar char="•"/>
            </a:pPr>
            <a:r>
              <a:rPr lang="en-US" sz="1400" dirty="0">
                <a:solidFill>
                  <a:schemeClr val="tx1"/>
                </a:solidFill>
              </a:rPr>
              <a:t>Automatic crash detection</a:t>
            </a:r>
            <a:endParaRPr lang="en-US" sz="1400" dirty="0"/>
          </a:p>
          <a:p>
            <a:pPr marL="342900" indent="-342900">
              <a:spcAft>
                <a:spcPts val="600"/>
              </a:spcAft>
              <a:buSzPct val="100000"/>
              <a:buChar char="•"/>
            </a:pPr>
            <a:r>
              <a:rPr lang="en-US" sz="1400" dirty="0">
                <a:solidFill>
                  <a:schemeClr val="tx1"/>
                </a:solidFill>
              </a:rPr>
              <a:t>Notifications to the fleet: text, email, push</a:t>
            </a:r>
            <a:endParaRPr lang="en-US" sz="1400" dirty="0"/>
          </a:p>
          <a:p>
            <a:pPr marL="342900" indent="-342900">
              <a:spcAft>
                <a:spcPts val="600"/>
              </a:spcAft>
              <a:buSzPct val="100000"/>
              <a:buChar char="•"/>
            </a:pPr>
            <a:r>
              <a:rPr lang="en-US" sz="1400" dirty="0">
                <a:solidFill>
                  <a:schemeClr val="tx1"/>
                </a:solidFill>
              </a:rPr>
              <a:t>Escalation if an alert is ignored</a:t>
            </a:r>
            <a:endParaRPr lang="en-US" sz="14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400" b="1" dirty="0">
                <a:solidFill>
                  <a:schemeClr val="tx1"/>
                </a:solidFill>
              </a:rPr>
              <a:t>Honest limits</a:t>
            </a:r>
            <a:endParaRPr lang="en-US" sz="3400" dirty="0"/>
          </a:p>
        </p:txBody>
      </p:sp>
      <p:sp>
        <p:nvSpPr>
          <p:cNvPr id="4" name="Limit 1"/>
          <p:cNvSpPr/>
          <p:nvPr/>
        </p:nvSpPr>
        <p:spPr>
          <a:xfrm>
            <a:off x="457200" y="1234440"/>
            <a:ext cx="4023360" cy="960120"/>
          </a:xfrm>
          <a:prstGeom prst="roundRect">
            <a:avLst>
              <a:gd name="adj" fmla="val 7619"/>
            </a:avLst>
          </a:prstGeom>
          <a:solidFill>
            <a:schemeClr val="bg2"/>
          </a:solidFill>
          <a:ln w="12700">
            <a:solidFill>
              <a:schemeClr val="bg2"/>
            </a:solidFill>
            <a:prstDash val="solid"/>
          </a:ln>
        </p:spPr>
      </p:sp>
      <p:sp>
        <p:nvSpPr>
          <p:cNvPr id="5" name="Limit 1 badge"/>
          <p:cNvSpPr/>
          <p:nvPr/>
        </p:nvSpPr>
        <p:spPr>
          <a:xfrm>
            <a:off x="640080" y="1508760"/>
            <a:ext cx="411480" cy="411480"/>
          </a:xfrm>
          <a:prstGeom prst="ellipse">
            <a:avLst/>
          </a:prstGeom>
          <a:solidFill>
            <a:srgbClr val="F5B700"/>
          </a:solidFill>
          <a:ln w="12700">
            <a:solidFill>
              <a:srgbClr val="F5B700"/>
            </a:solidFill>
            <a:prstDash val="solid"/>
          </a:ln>
        </p:spPr>
      </p:sp>
      <p:pic>
        <p:nvPicPr>
          <p:cNvPr id="6" name="FaExclamationTriangle" descr="ExclamationTriangle icon">    </p:cNvPr>
          <p:cNvPicPr>
            <a:picLocks noChangeAspect="1"/>
          </p:cNvPicPr>
          <p:nvPr/>
        </p:nvPicPr>
        <p:blipFill>
          <a:blip r:embed="rId1"/>
          <a:stretch>
            <a:fillRect/>
          </a:stretch>
        </p:blipFill>
        <p:spPr>
          <a:xfrm>
            <a:off x="738835" y="1607515"/>
            <a:ext cx="213970" cy="213970"/>
          </a:xfrm>
          <a:prstGeom prst="rect">
            <a:avLst/>
          </a:prstGeom>
        </p:spPr>
      </p:pic>
      <p:sp>
        <p:nvSpPr>
          <p:cNvPr id="7" name="Limit title 1"/>
          <p:cNvSpPr txBox="1"/>
          <p:nvPr/>
        </p:nvSpPr>
        <p:spPr>
          <a:xfrm>
            <a:off x="1234440" y="1389888"/>
            <a:ext cx="3108960" cy="274320"/>
          </a:xfrm>
          <a:prstGeom prst="rect">
            <a:avLst/>
          </a:prstGeom>
          <a:noFill/>
          <a:ln/>
        </p:spPr>
        <p:txBody>
          <a:bodyPr wrap="square" lIns="0" tIns="0" rIns="0" bIns="0" rtlCol="0" anchor="ctr"/>
          <a:lstStyle/>
          <a:p>
            <a:pPr indent="0" marL="0">
              <a:buNone/>
            </a:pPr>
            <a:r>
              <a:rPr lang="en-US" sz="1400" b="1" dirty="0">
                <a:solidFill>
                  <a:schemeClr val="tx1"/>
                </a:solidFill>
              </a:rPr>
              <a:t>Offline mesh not built yet</a:t>
            </a:r>
            <a:endParaRPr lang="en-US" sz="1400" dirty="0"/>
          </a:p>
        </p:txBody>
      </p:sp>
      <p:sp>
        <p:nvSpPr>
          <p:cNvPr id="8" name="Limit text 1"/>
          <p:cNvSpPr txBox="1"/>
          <p:nvPr/>
        </p:nvSpPr>
        <p:spPr>
          <a:xfrm>
            <a:off x="1234440" y="1691640"/>
            <a:ext cx="3108960" cy="411480"/>
          </a:xfrm>
          <a:prstGeom prst="rect">
            <a:avLst/>
          </a:prstGeom>
          <a:noFill/>
          <a:ln/>
        </p:spPr>
        <p:txBody>
          <a:bodyPr wrap="square" lIns="0" tIns="0" rIns="0" bIns="0" rtlCol="0" anchor="ctr"/>
          <a:lstStyle/>
          <a:p>
            <a:pPr indent="0" marL="0">
              <a:buNone/>
            </a:pPr>
            <a:r>
              <a:rPr lang="en-US" sz="1200" dirty="0">
                <a:solidFill>
                  <a:schemeClr val="accent5"/>
                </a:solidFill>
              </a:rPr>
              <a:t>No real Bluetooth transport, so no measured delivery rate.</a:t>
            </a:r>
            <a:endParaRPr lang="en-US" sz="1200" dirty="0"/>
          </a:p>
        </p:txBody>
      </p:sp>
      <p:sp>
        <p:nvSpPr>
          <p:cNvPr id="9" name="Limit 2"/>
          <p:cNvSpPr/>
          <p:nvPr/>
        </p:nvSpPr>
        <p:spPr>
          <a:xfrm>
            <a:off x="4663440" y="1234440"/>
            <a:ext cx="4023360" cy="960120"/>
          </a:xfrm>
          <a:prstGeom prst="roundRect">
            <a:avLst>
              <a:gd name="adj" fmla="val 7619"/>
            </a:avLst>
          </a:prstGeom>
          <a:solidFill>
            <a:schemeClr val="bg2"/>
          </a:solidFill>
          <a:ln w="12700">
            <a:solidFill>
              <a:schemeClr val="bg2"/>
            </a:solidFill>
            <a:prstDash val="solid"/>
          </a:ln>
        </p:spPr>
      </p:sp>
      <p:sp>
        <p:nvSpPr>
          <p:cNvPr id="10" name="Limit 2 badge"/>
          <p:cNvSpPr/>
          <p:nvPr/>
        </p:nvSpPr>
        <p:spPr>
          <a:xfrm>
            <a:off x="4846320" y="1508760"/>
            <a:ext cx="411480" cy="411480"/>
          </a:xfrm>
          <a:prstGeom prst="ellipse">
            <a:avLst/>
          </a:prstGeom>
          <a:solidFill>
            <a:srgbClr val="F5B700"/>
          </a:solidFill>
          <a:ln w="12700">
            <a:solidFill>
              <a:srgbClr val="F5B700"/>
            </a:solidFill>
            <a:prstDash val="solid"/>
          </a:ln>
        </p:spPr>
      </p:sp>
      <p:pic>
        <p:nvPicPr>
          <p:cNvPr id="11" name="FaExclamationTriangle" descr="ExclamationTriangle icon">    </p:cNvPr>
          <p:cNvPicPr>
            <a:picLocks noChangeAspect="1"/>
          </p:cNvPicPr>
          <p:nvPr/>
        </p:nvPicPr>
        <p:blipFill>
          <a:blip r:embed="rId2"/>
          <a:stretch>
            <a:fillRect/>
          </a:stretch>
        </p:blipFill>
        <p:spPr>
          <a:xfrm>
            <a:off x="4945075" y="1607515"/>
            <a:ext cx="213970" cy="213970"/>
          </a:xfrm>
          <a:prstGeom prst="rect">
            <a:avLst/>
          </a:prstGeom>
        </p:spPr>
      </p:pic>
      <p:sp>
        <p:nvSpPr>
          <p:cNvPr id="12" name="Limit title 2"/>
          <p:cNvSpPr txBox="1"/>
          <p:nvPr/>
        </p:nvSpPr>
        <p:spPr>
          <a:xfrm>
            <a:off x="5440680" y="1389888"/>
            <a:ext cx="3108960" cy="274320"/>
          </a:xfrm>
          <a:prstGeom prst="rect">
            <a:avLst/>
          </a:prstGeom>
          <a:noFill/>
          <a:ln/>
        </p:spPr>
        <p:txBody>
          <a:bodyPr wrap="square" lIns="0" tIns="0" rIns="0" bIns="0" rtlCol="0" anchor="ctr"/>
          <a:lstStyle/>
          <a:p>
            <a:pPr indent="0" marL="0">
              <a:buNone/>
            </a:pPr>
            <a:r>
              <a:rPr lang="en-US" sz="1400" b="1" dirty="0">
                <a:solidFill>
                  <a:schemeClr val="tx1"/>
                </a:solidFill>
              </a:rPr>
              <a:t>Demo-grade security</a:t>
            </a:r>
            <a:endParaRPr lang="en-US" sz="1400" dirty="0"/>
          </a:p>
        </p:txBody>
      </p:sp>
      <p:sp>
        <p:nvSpPr>
          <p:cNvPr id="13" name="Limit text 2"/>
          <p:cNvSpPr txBox="1"/>
          <p:nvPr/>
        </p:nvSpPr>
        <p:spPr>
          <a:xfrm>
            <a:off x="5440680" y="1691640"/>
            <a:ext cx="3108960" cy="411480"/>
          </a:xfrm>
          <a:prstGeom prst="rect">
            <a:avLst/>
          </a:prstGeom>
          <a:noFill/>
          <a:ln/>
        </p:spPr>
        <p:txBody>
          <a:bodyPr wrap="square" lIns="0" tIns="0" rIns="0" bIns="0" rtlCol="0" anchor="ctr"/>
          <a:lstStyle/>
          <a:p>
            <a:pPr indent="0" marL="0">
              <a:buNone/>
            </a:pPr>
            <a:r>
              <a:rPr lang="en-US" sz="1200" dirty="0">
                <a:solidFill>
                  <a:schemeClr val="accent5"/>
                </a:solidFill>
              </a:rPr>
              <a:t>One shared key, an open sign-up endpoint, no replay or rate limits yet.</a:t>
            </a:r>
            <a:endParaRPr lang="en-US" sz="1200" dirty="0"/>
          </a:p>
        </p:txBody>
      </p:sp>
      <p:sp>
        <p:nvSpPr>
          <p:cNvPr id="14" name="Limit 3"/>
          <p:cNvSpPr/>
          <p:nvPr/>
        </p:nvSpPr>
        <p:spPr>
          <a:xfrm>
            <a:off x="457200" y="2331720"/>
            <a:ext cx="4023360" cy="960120"/>
          </a:xfrm>
          <a:prstGeom prst="roundRect">
            <a:avLst>
              <a:gd name="adj" fmla="val 7619"/>
            </a:avLst>
          </a:prstGeom>
          <a:solidFill>
            <a:schemeClr val="bg2"/>
          </a:solidFill>
          <a:ln w="12700">
            <a:solidFill>
              <a:schemeClr val="bg2"/>
            </a:solidFill>
            <a:prstDash val="solid"/>
          </a:ln>
        </p:spPr>
      </p:sp>
      <p:sp>
        <p:nvSpPr>
          <p:cNvPr id="15" name="Limit 3 badge"/>
          <p:cNvSpPr/>
          <p:nvPr/>
        </p:nvSpPr>
        <p:spPr>
          <a:xfrm>
            <a:off x="640080" y="2606040"/>
            <a:ext cx="411480" cy="411480"/>
          </a:xfrm>
          <a:prstGeom prst="ellipse">
            <a:avLst/>
          </a:prstGeom>
          <a:solidFill>
            <a:srgbClr val="F5B700"/>
          </a:solidFill>
          <a:ln w="12700">
            <a:solidFill>
              <a:srgbClr val="F5B700"/>
            </a:solidFill>
            <a:prstDash val="solid"/>
          </a:ln>
        </p:spPr>
      </p:sp>
      <p:pic>
        <p:nvPicPr>
          <p:cNvPr id="16" name="FaExclamationTriangle" descr="ExclamationTriangle icon">    </p:cNvPr>
          <p:cNvPicPr>
            <a:picLocks noChangeAspect="1"/>
          </p:cNvPicPr>
          <p:nvPr/>
        </p:nvPicPr>
        <p:blipFill>
          <a:blip r:embed="rId3"/>
          <a:stretch>
            <a:fillRect/>
          </a:stretch>
        </p:blipFill>
        <p:spPr>
          <a:xfrm>
            <a:off x="738835" y="2704795"/>
            <a:ext cx="213970" cy="213970"/>
          </a:xfrm>
          <a:prstGeom prst="rect">
            <a:avLst/>
          </a:prstGeom>
        </p:spPr>
      </p:pic>
      <p:sp>
        <p:nvSpPr>
          <p:cNvPr id="17" name="Limit title 3"/>
          <p:cNvSpPr txBox="1"/>
          <p:nvPr/>
        </p:nvSpPr>
        <p:spPr>
          <a:xfrm>
            <a:off x="1234440" y="2487168"/>
            <a:ext cx="3108960" cy="274320"/>
          </a:xfrm>
          <a:prstGeom prst="rect">
            <a:avLst/>
          </a:prstGeom>
          <a:noFill/>
          <a:ln/>
        </p:spPr>
        <p:txBody>
          <a:bodyPr wrap="square" lIns="0" tIns="0" rIns="0" bIns="0" rtlCol="0" anchor="ctr"/>
          <a:lstStyle/>
          <a:p>
            <a:pPr indent="0" marL="0">
              <a:buNone/>
            </a:pPr>
            <a:r>
              <a:rPr lang="en-US" sz="1400" b="1" dirty="0">
                <a:solidFill>
                  <a:schemeClr val="tx1"/>
                </a:solidFill>
              </a:rPr>
              <a:t>Battery % is typed in</a:t>
            </a:r>
            <a:endParaRPr lang="en-US" sz="1400" dirty="0"/>
          </a:p>
        </p:txBody>
      </p:sp>
      <p:sp>
        <p:nvSpPr>
          <p:cNvPr id="18" name="Limit text 3"/>
          <p:cNvSpPr txBox="1"/>
          <p:nvPr/>
        </p:nvSpPr>
        <p:spPr>
          <a:xfrm>
            <a:off x="1234440" y="2788920"/>
            <a:ext cx="3108960" cy="411480"/>
          </a:xfrm>
          <a:prstGeom prst="rect">
            <a:avLst/>
          </a:prstGeom>
          <a:noFill/>
          <a:ln/>
        </p:spPr>
        <p:txBody>
          <a:bodyPr wrap="square" lIns="0" tIns="0" rIns="0" bIns="0" rtlCol="0" anchor="ctr"/>
          <a:lstStyle/>
          <a:p>
            <a:pPr indent="0" marL="0">
              <a:buNone/>
            </a:pPr>
            <a:r>
              <a:rPr lang="en-US" sz="1200" dirty="0">
                <a:solidFill>
                  <a:schemeClr val="accent5"/>
                </a:solidFill>
              </a:rPr>
              <a:t>Reading a scooter's battery needs a per-maker adapter.</a:t>
            </a:r>
            <a:endParaRPr lang="en-US" sz="1200" dirty="0"/>
          </a:p>
        </p:txBody>
      </p:sp>
      <p:sp>
        <p:nvSpPr>
          <p:cNvPr id="19" name="Limit 4"/>
          <p:cNvSpPr/>
          <p:nvPr/>
        </p:nvSpPr>
        <p:spPr>
          <a:xfrm>
            <a:off x="4663440" y="2331720"/>
            <a:ext cx="4023360" cy="960120"/>
          </a:xfrm>
          <a:prstGeom prst="roundRect">
            <a:avLst>
              <a:gd name="adj" fmla="val 7619"/>
            </a:avLst>
          </a:prstGeom>
          <a:solidFill>
            <a:schemeClr val="bg2"/>
          </a:solidFill>
          <a:ln w="12700">
            <a:solidFill>
              <a:schemeClr val="bg2"/>
            </a:solidFill>
            <a:prstDash val="solid"/>
          </a:ln>
        </p:spPr>
      </p:sp>
      <p:sp>
        <p:nvSpPr>
          <p:cNvPr id="20" name="Limit 4 badge"/>
          <p:cNvSpPr/>
          <p:nvPr/>
        </p:nvSpPr>
        <p:spPr>
          <a:xfrm>
            <a:off x="4846320" y="2606040"/>
            <a:ext cx="411480" cy="411480"/>
          </a:xfrm>
          <a:prstGeom prst="ellipse">
            <a:avLst/>
          </a:prstGeom>
          <a:solidFill>
            <a:srgbClr val="F5B700"/>
          </a:solidFill>
          <a:ln w="12700">
            <a:solidFill>
              <a:srgbClr val="F5B700"/>
            </a:solidFill>
            <a:prstDash val="solid"/>
          </a:ln>
        </p:spPr>
      </p:sp>
      <p:pic>
        <p:nvPicPr>
          <p:cNvPr id="21" name="FaExclamationTriangle" descr="ExclamationTriangle icon">    </p:cNvPr>
          <p:cNvPicPr>
            <a:picLocks noChangeAspect="1"/>
          </p:cNvPicPr>
          <p:nvPr/>
        </p:nvPicPr>
        <p:blipFill>
          <a:blip r:embed="rId4"/>
          <a:stretch>
            <a:fillRect/>
          </a:stretch>
        </p:blipFill>
        <p:spPr>
          <a:xfrm>
            <a:off x="4945075" y="2704795"/>
            <a:ext cx="213970" cy="213970"/>
          </a:xfrm>
          <a:prstGeom prst="rect">
            <a:avLst/>
          </a:prstGeom>
        </p:spPr>
      </p:pic>
      <p:sp>
        <p:nvSpPr>
          <p:cNvPr id="22" name="Limit title 4"/>
          <p:cNvSpPr txBox="1"/>
          <p:nvPr/>
        </p:nvSpPr>
        <p:spPr>
          <a:xfrm>
            <a:off x="5440680" y="2487168"/>
            <a:ext cx="3108960" cy="274320"/>
          </a:xfrm>
          <a:prstGeom prst="rect">
            <a:avLst/>
          </a:prstGeom>
          <a:noFill/>
          <a:ln/>
        </p:spPr>
        <p:txBody>
          <a:bodyPr wrap="square" lIns="0" tIns="0" rIns="0" bIns="0" rtlCol="0" anchor="ctr"/>
          <a:lstStyle/>
          <a:p>
            <a:pPr indent="0" marL="0">
              <a:buNone/>
            </a:pPr>
            <a:r>
              <a:rPr lang="en-US" sz="1400" b="1" dirty="0">
                <a:solidFill>
                  <a:schemeClr val="tx1"/>
                </a:solidFill>
              </a:rPr>
              <a:t>Range is a heuristic</a:t>
            </a:r>
            <a:endParaRPr lang="en-US" sz="1400" dirty="0"/>
          </a:p>
        </p:txBody>
      </p:sp>
      <p:sp>
        <p:nvSpPr>
          <p:cNvPr id="23" name="Limit text 4"/>
          <p:cNvSpPr txBox="1"/>
          <p:nvPr/>
        </p:nvSpPr>
        <p:spPr>
          <a:xfrm>
            <a:off x="5440680" y="2788920"/>
            <a:ext cx="3108960" cy="411480"/>
          </a:xfrm>
          <a:prstGeom prst="rect">
            <a:avLst/>
          </a:prstGeom>
          <a:noFill/>
          <a:ln/>
        </p:spPr>
        <p:txBody>
          <a:bodyPr wrap="square" lIns="0" tIns="0" rIns="0" bIns="0" rtlCol="0" anchor="ctr"/>
          <a:lstStyle/>
          <a:p>
            <a:pPr indent="0" marL="0">
              <a:buNone/>
            </a:pPr>
            <a:r>
              <a:rPr lang="en-US" sz="1200" dirty="0">
                <a:solidFill>
                  <a:schemeClr val="accent5"/>
                </a:solidFill>
              </a:rPr>
              <a:t>Real range varies with load, speed and terrain.</a:t>
            </a:r>
            <a:endParaRPr lang="en-US" sz="1200" dirty="0"/>
          </a:p>
        </p:txBody>
      </p:sp>
      <p:sp>
        <p:nvSpPr>
          <p:cNvPr id="24" name="Limit 5"/>
          <p:cNvSpPr/>
          <p:nvPr/>
        </p:nvSpPr>
        <p:spPr>
          <a:xfrm>
            <a:off x="457200" y="3429000"/>
            <a:ext cx="4023360" cy="960120"/>
          </a:xfrm>
          <a:prstGeom prst="roundRect">
            <a:avLst>
              <a:gd name="adj" fmla="val 7619"/>
            </a:avLst>
          </a:prstGeom>
          <a:solidFill>
            <a:schemeClr val="bg2"/>
          </a:solidFill>
          <a:ln w="12700">
            <a:solidFill>
              <a:schemeClr val="bg2"/>
            </a:solidFill>
            <a:prstDash val="solid"/>
          </a:ln>
        </p:spPr>
      </p:sp>
      <p:sp>
        <p:nvSpPr>
          <p:cNvPr id="25" name="Limit 5 badge"/>
          <p:cNvSpPr/>
          <p:nvPr/>
        </p:nvSpPr>
        <p:spPr>
          <a:xfrm>
            <a:off x="640080" y="3703320"/>
            <a:ext cx="411480" cy="411480"/>
          </a:xfrm>
          <a:prstGeom prst="ellipse">
            <a:avLst/>
          </a:prstGeom>
          <a:solidFill>
            <a:srgbClr val="F5B700"/>
          </a:solidFill>
          <a:ln w="12700">
            <a:solidFill>
              <a:srgbClr val="F5B700"/>
            </a:solidFill>
            <a:prstDash val="solid"/>
          </a:ln>
        </p:spPr>
      </p:sp>
      <p:pic>
        <p:nvPicPr>
          <p:cNvPr id="26" name="FaExclamationTriangle" descr="ExclamationTriangle icon">    </p:cNvPr>
          <p:cNvPicPr>
            <a:picLocks noChangeAspect="1"/>
          </p:cNvPicPr>
          <p:nvPr/>
        </p:nvPicPr>
        <p:blipFill>
          <a:blip r:embed="rId5"/>
          <a:stretch>
            <a:fillRect/>
          </a:stretch>
        </p:blipFill>
        <p:spPr>
          <a:xfrm>
            <a:off x="738835" y="3802075"/>
            <a:ext cx="213970" cy="213970"/>
          </a:xfrm>
          <a:prstGeom prst="rect">
            <a:avLst/>
          </a:prstGeom>
        </p:spPr>
      </p:pic>
      <p:sp>
        <p:nvSpPr>
          <p:cNvPr id="27" name="Limit title 5"/>
          <p:cNvSpPr txBox="1"/>
          <p:nvPr/>
        </p:nvSpPr>
        <p:spPr>
          <a:xfrm>
            <a:off x="1234440" y="3584448"/>
            <a:ext cx="3108960" cy="274320"/>
          </a:xfrm>
          <a:prstGeom prst="rect">
            <a:avLst/>
          </a:prstGeom>
          <a:noFill/>
          <a:ln/>
        </p:spPr>
        <p:txBody>
          <a:bodyPr wrap="square" lIns="0" tIns="0" rIns="0" bIns="0" rtlCol="0" anchor="ctr"/>
          <a:lstStyle/>
          <a:p>
            <a:pPr indent="0" marL="0">
              <a:buNone/>
            </a:pPr>
            <a:r>
              <a:rPr lang="en-US" sz="1400" b="1" dirty="0">
                <a:solidFill>
                  <a:schemeClr val="tx1"/>
                </a:solidFill>
              </a:rPr>
              <a:t>Android only</a:t>
            </a:r>
            <a:endParaRPr lang="en-US" sz="1400" dirty="0"/>
          </a:p>
        </p:txBody>
      </p:sp>
      <p:sp>
        <p:nvSpPr>
          <p:cNvPr id="28" name="Limit text 5"/>
          <p:cNvSpPr txBox="1"/>
          <p:nvPr/>
        </p:nvSpPr>
        <p:spPr>
          <a:xfrm>
            <a:off x="1234440" y="3886200"/>
            <a:ext cx="3108960" cy="411480"/>
          </a:xfrm>
          <a:prstGeom prst="rect">
            <a:avLst/>
          </a:prstGeom>
          <a:noFill/>
          <a:ln/>
        </p:spPr>
        <p:txBody>
          <a:bodyPr wrap="square" lIns="0" tIns="0" rIns="0" bIns="0" rtlCol="0" anchor="ctr"/>
          <a:lstStyle/>
          <a:p>
            <a:pPr indent="0" marL="0">
              <a:buNone/>
            </a:pPr>
            <a:r>
              <a:rPr lang="en-US" sz="1200" dirty="0">
                <a:solidFill>
                  <a:schemeClr val="accent5"/>
                </a:solidFill>
              </a:rPr>
              <a:t>iPhones cannot relay in the background.</a:t>
            </a:r>
            <a:endParaRPr lang="en-US" sz="1200" dirty="0"/>
          </a:p>
        </p:txBody>
      </p:sp>
      <p:sp>
        <p:nvSpPr>
          <p:cNvPr id="29" name="Limit 6"/>
          <p:cNvSpPr/>
          <p:nvPr/>
        </p:nvSpPr>
        <p:spPr>
          <a:xfrm>
            <a:off x="4663440" y="3429000"/>
            <a:ext cx="4023360" cy="960120"/>
          </a:xfrm>
          <a:prstGeom prst="roundRect">
            <a:avLst>
              <a:gd name="adj" fmla="val 7619"/>
            </a:avLst>
          </a:prstGeom>
          <a:solidFill>
            <a:schemeClr val="bg2"/>
          </a:solidFill>
          <a:ln w="12700">
            <a:solidFill>
              <a:schemeClr val="bg2"/>
            </a:solidFill>
            <a:prstDash val="solid"/>
          </a:ln>
        </p:spPr>
      </p:sp>
      <p:sp>
        <p:nvSpPr>
          <p:cNvPr id="30" name="Limit 6 badge"/>
          <p:cNvSpPr/>
          <p:nvPr/>
        </p:nvSpPr>
        <p:spPr>
          <a:xfrm>
            <a:off x="4846320" y="3703320"/>
            <a:ext cx="411480" cy="411480"/>
          </a:xfrm>
          <a:prstGeom prst="ellipse">
            <a:avLst/>
          </a:prstGeom>
          <a:solidFill>
            <a:srgbClr val="F5B700"/>
          </a:solidFill>
          <a:ln w="12700">
            <a:solidFill>
              <a:srgbClr val="F5B700"/>
            </a:solidFill>
            <a:prstDash val="solid"/>
          </a:ln>
        </p:spPr>
      </p:sp>
      <p:pic>
        <p:nvPicPr>
          <p:cNvPr id="31" name="FaExclamationTriangle" descr="ExclamationTriangle icon">    </p:cNvPr>
          <p:cNvPicPr>
            <a:picLocks noChangeAspect="1"/>
          </p:cNvPicPr>
          <p:nvPr/>
        </p:nvPicPr>
        <p:blipFill>
          <a:blip r:embed="rId6"/>
          <a:stretch>
            <a:fillRect/>
          </a:stretch>
        </p:blipFill>
        <p:spPr>
          <a:xfrm>
            <a:off x="4945075" y="3802075"/>
            <a:ext cx="213970" cy="213970"/>
          </a:xfrm>
          <a:prstGeom prst="rect">
            <a:avLst/>
          </a:prstGeom>
        </p:spPr>
      </p:pic>
      <p:sp>
        <p:nvSpPr>
          <p:cNvPr id="32" name="Limit title 6"/>
          <p:cNvSpPr txBox="1"/>
          <p:nvPr/>
        </p:nvSpPr>
        <p:spPr>
          <a:xfrm>
            <a:off x="5440680" y="3584448"/>
            <a:ext cx="3108960" cy="274320"/>
          </a:xfrm>
          <a:prstGeom prst="rect">
            <a:avLst/>
          </a:prstGeom>
          <a:noFill/>
          <a:ln/>
        </p:spPr>
        <p:txBody>
          <a:bodyPr wrap="square" lIns="0" tIns="0" rIns="0" bIns="0" rtlCol="0" anchor="ctr"/>
          <a:lstStyle/>
          <a:p>
            <a:pPr indent="0" marL="0">
              <a:buNone/>
            </a:pPr>
            <a:r>
              <a:rPr lang="en-US" sz="1400" b="1" dirty="0">
                <a:solidFill>
                  <a:schemeClr val="tx1"/>
                </a:solidFill>
              </a:rPr>
              <a:t>Location is plaintext</a:t>
            </a:r>
            <a:endParaRPr lang="en-US" sz="1400" dirty="0"/>
          </a:p>
        </p:txBody>
      </p:sp>
      <p:sp>
        <p:nvSpPr>
          <p:cNvPr id="33" name="Limit text 6"/>
          <p:cNvSpPr txBox="1"/>
          <p:nvPr/>
        </p:nvSpPr>
        <p:spPr>
          <a:xfrm>
            <a:off x="5440680" y="3886200"/>
            <a:ext cx="3108960" cy="411480"/>
          </a:xfrm>
          <a:prstGeom prst="rect">
            <a:avLst/>
          </a:prstGeom>
          <a:noFill/>
          <a:ln/>
        </p:spPr>
        <p:txBody>
          <a:bodyPr wrap="square" lIns="0" tIns="0" rIns="0" bIns="0" rtlCol="0" anchor="ctr"/>
          <a:lstStyle/>
          <a:p>
            <a:pPr indent="0" marL="0">
              <a:buNone/>
            </a:pPr>
            <a:r>
              <a:rPr lang="en-US" sz="1200" dirty="0">
                <a:solidFill>
                  <a:schemeClr val="accent5"/>
                </a:solidFill>
              </a:rPr>
              <a:t>Alerts carry rough position over Bluetooth; we disclose it.</a:t>
            </a:r>
            <a:endParaRPr lang="en-US" sz="12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400" b="1" dirty="0">
                <a:solidFill>
                  <a:schemeClr val="tx1"/>
                </a:solidFill>
              </a:rPr>
              <a:t>What's next</a:t>
            </a:r>
            <a:endParaRPr lang="en-US" sz="3400" dirty="0"/>
          </a:p>
        </p:txBody>
      </p:sp>
      <p:sp>
        <p:nvSpPr>
          <p:cNvPr id="4" name="Column Now"/>
          <p:cNvSpPr/>
          <p:nvPr/>
        </p:nvSpPr>
        <p:spPr>
          <a:xfrm>
            <a:off x="457200" y="1234440"/>
            <a:ext cx="2651760" cy="3291840"/>
          </a:xfrm>
          <a:prstGeom prst="roundRect">
            <a:avLst>
              <a:gd name="adj" fmla="val 2759"/>
            </a:avLst>
          </a:prstGeom>
          <a:solidFill>
            <a:schemeClr val="bg2"/>
          </a:solidFill>
          <a:ln w="12700">
            <a:solidFill>
              <a:schemeClr val="bg2"/>
            </a:solidFill>
            <a:prstDash val="solid"/>
          </a:ln>
        </p:spPr>
      </p:sp>
      <p:sp>
        <p:nvSpPr>
          <p:cNvPr id="5" name="Phase pill Now"/>
          <p:cNvSpPr/>
          <p:nvPr/>
        </p:nvSpPr>
        <p:spPr>
          <a:xfrm>
            <a:off x="640080" y="1417320"/>
            <a:ext cx="1005840" cy="365760"/>
          </a:xfrm>
          <a:prstGeom prst="roundRect">
            <a:avLst>
              <a:gd name="adj" fmla="val 50000"/>
            </a:avLst>
          </a:prstGeom>
          <a:solidFill>
            <a:srgbClr val="F5B700"/>
          </a:solidFill>
          <a:ln w="12700">
            <a:solidFill>
              <a:srgbClr val="F5B700"/>
            </a:solidFill>
            <a:prstDash val="solid"/>
          </a:ln>
        </p:spPr>
      </p:sp>
      <p:sp>
        <p:nvSpPr>
          <p:cNvPr id="6" name="Phase Now"/>
          <p:cNvSpPr txBox="1"/>
          <p:nvPr/>
        </p:nvSpPr>
        <p:spPr>
          <a:xfrm>
            <a:off x="640080" y="1417320"/>
            <a:ext cx="1005840" cy="365760"/>
          </a:xfrm>
          <a:prstGeom prst="rect">
            <a:avLst/>
          </a:prstGeom>
          <a:noFill/>
          <a:ln/>
        </p:spPr>
        <p:txBody>
          <a:bodyPr wrap="square" lIns="0" tIns="0" rIns="0" bIns="0" rtlCol="0" anchor="ctr"/>
          <a:lstStyle/>
          <a:p>
            <a:pPr algn="ctr" indent="0" marL="0">
              <a:buNone/>
            </a:pPr>
            <a:r>
              <a:rPr lang="en-US" sz="1600" b="1" dirty="0">
                <a:solidFill>
                  <a:schemeClr val="tx1"/>
                </a:solidFill>
              </a:rPr>
              <a:t>Now</a:t>
            </a:r>
            <a:endParaRPr lang="en-US" sz="1600" dirty="0"/>
          </a:p>
        </p:txBody>
      </p:sp>
      <p:sp>
        <p:nvSpPr>
          <p:cNvPr id="7" name="Phase list Now"/>
          <p:cNvSpPr txBox="1"/>
          <p:nvPr/>
        </p:nvSpPr>
        <p:spPr>
          <a:xfrm>
            <a:off x="640080" y="2011680"/>
            <a:ext cx="2286000" cy="23774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Lock down the sign-up endpoint</a:t>
            </a:r>
            <a:endParaRPr lang="en-US" sz="1400" dirty="0"/>
          </a:p>
          <a:p>
            <a:pPr marL="342900" indent="-342900">
              <a:spcAft>
                <a:spcPts val="800"/>
              </a:spcAft>
              <a:buSzPct val="100000"/>
              <a:buChar char="•"/>
            </a:pPr>
            <a:r>
              <a:rPr lang="en-US" sz="1400" dirty="0">
                <a:solidFill>
                  <a:schemeClr val="tx1"/>
                </a:solidFill>
              </a:rPr>
              <a:t>Reject old and replayed packets</a:t>
            </a:r>
            <a:endParaRPr lang="en-US" sz="1400" dirty="0"/>
          </a:p>
          <a:p>
            <a:pPr marL="342900" indent="-342900">
              <a:spcAft>
                <a:spcPts val="800"/>
              </a:spcAft>
              <a:buSzPct val="100000"/>
              <a:buChar char="•"/>
            </a:pPr>
            <a:r>
              <a:rPr lang="en-US" sz="1400" dirty="0">
                <a:solidFill>
                  <a:schemeClr val="tx1"/>
                </a:solidFill>
              </a:rPr>
              <a:t>Fleet notifications for new alerts</a:t>
            </a:r>
            <a:endParaRPr lang="en-US" sz="1400" dirty="0"/>
          </a:p>
          <a:p>
            <a:pPr marL="342900" indent="-342900">
              <a:spcAft>
                <a:spcPts val="800"/>
              </a:spcAft>
              <a:buSzPct val="100000"/>
              <a:buChar char="•"/>
            </a:pPr>
            <a:r>
              <a:rPr lang="en-US" sz="1400" dirty="0">
                <a:solidFill>
                  <a:schemeClr val="tx1"/>
                </a:solidFill>
              </a:rPr>
              <a:t>Test a signed SOS end to end</a:t>
            </a:r>
            <a:endParaRPr lang="en-US" sz="1400" dirty="0"/>
          </a:p>
        </p:txBody>
      </p:sp>
      <p:sp>
        <p:nvSpPr>
          <p:cNvPr id="8" name="Column Next"/>
          <p:cNvSpPr/>
          <p:nvPr/>
        </p:nvSpPr>
        <p:spPr>
          <a:xfrm>
            <a:off x="3246120" y="1234440"/>
            <a:ext cx="2651760" cy="3291840"/>
          </a:xfrm>
          <a:prstGeom prst="roundRect">
            <a:avLst>
              <a:gd name="adj" fmla="val 2759"/>
            </a:avLst>
          </a:prstGeom>
          <a:solidFill>
            <a:schemeClr val="bg2"/>
          </a:solidFill>
          <a:ln w="12700">
            <a:solidFill>
              <a:schemeClr val="bg2"/>
            </a:solidFill>
            <a:prstDash val="solid"/>
          </a:ln>
        </p:spPr>
      </p:sp>
      <p:sp>
        <p:nvSpPr>
          <p:cNvPr id="9" name="Phase pill Next"/>
          <p:cNvSpPr/>
          <p:nvPr/>
        </p:nvSpPr>
        <p:spPr>
          <a:xfrm>
            <a:off x="3429000" y="1417320"/>
            <a:ext cx="1005840" cy="365760"/>
          </a:xfrm>
          <a:prstGeom prst="roundRect">
            <a:avLst>
              <a:gd name="adj" fmla="val 50000"/>
            </a:avLst>
          </a:prstGeom>
          <a:solidFill>
            <a:srgbClr val="1F8A80"/>
          </a:solidFill>
          <a:ln w="12700">
            <a:solidFill>
              <a:srgbClr val="1F8A80"/>
            </a:solidFill>
            <a:prstDash val="solid"/>
          </a:ln>
        </p:spPr>
      </p:sp>
      <p:sp>
        <p:nvSpPr>
          <p:cNvPr id="10" name="Phase Next"/>
          <p:cNvSpPr txBox="1"/>
          <p:nvPr/>
        </p:nvSpPr>
        <p:spPr>
          <a:xfrm>
            <a:off x="3429000" y="1417320"/>
            <a:ext cx="1005840" cy="365760"/>
          </a:xfrm>
          <a:prstGeom prst="rect">
            <a:avLst/>
          </a:prstGeom>
          <a:noFill/>
          <a:ln/>
        </p:spPr>
        <p:txBody>
          <a:bodyPr wrap="square" lIns="0" tIns="0" rIns="0" bIns="0" rtlCol="0" anchor="ctr"/>
          <a:lstStyle/>
          <a:p>
            <a:pPr algn="ctr" indent="0" marL="0">
              <a:buNone/>
            </a:pPr>
            <a:r>
              <a:rPr lang="en-US" sz="1600" b="1" dirty="0">
                <a:solidFill>
                  <a:schemeClr val="bg1"/>
                </a:solidFill>
              </a:rPr>
              <a:t>Next</a:t>
            </a:r>
            <a:endParaRPr lang="en-US" sz="1600" dirty="0"/>
          </a:p>
        </p:txBody>
      </p:sp>
      <p:sp>
        <p:nvSpPr>
          <p:cNvPr id="11" name="Phase list Next"/>
          <p:cNvSpPr txBox="1"/>
          <p:nvPr/>
        </p:nvSpPr>
        <p:spPr>
          <a:xfrm>
            <a:off x="3429000" y="2011680"/>
            <a:ext cx="2286000" cy="23774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Phone app development build</a:t>
            </a:r>
            <a:endParaRPr lang="en-US" sz="1400" dirty="0"/>
          </a:p>
          <a:p>
            <a:pPr marL="342900" indent="-342900">
              <a:spcAft>
                <a:spcPts val="800"/>
              </a:spcAft>
              <a:buSzPct val="100000"/>
              <a:buChar char="•"/>
            </a:pPr>
            <a:r>
              <a:rPr lang="en-US" sz="1400" dirty="0">
                <a:solidFill>
                  <a:schemeClr val="tx1"/>
                </a:solidFill>
              </a:rPr>
              <a:t>Bluetooth test: phone A to B</a:t>
            </a:r>
            <a:endParaRPr lang="en-US" sz="1400" dirty="0"/>
          </a:p>
          <a:p>
            <a:pPr marL="342900" indent="-342900">
              <a:spcAft>
                <a:spcPts val="800"/>
              </a:spcAft>
              <a:buSzPct val="100000"/>
              <a:buChar char="•"/>
            </a:pPr>
            <a:r>
              <a:rPr lang="en-US" sz="1400" dirty="0">
                <a:solidFill>
                  <a:schemeClr val="tx1"/>
                </a:solidFill>
              </a:rPr>
              <a:t>Three-phone relay with relay log</a:t>
            </a:r>
            <a:endParaRPr lang="en-US" sz="1400" dirty="0"/>
          </a:p>
          <a:p>
            <a:pPr marL="342900" indent="-342900">
              <a:spcAft>
                <a:spcPts val="800"/>
              </a:spcAft>
              <a:buSzPct val="100000"/>
              <a:buChar char="•"/>
            </a:pPr>
            <a:r>
              <a:rPr lang="en-US" sz="1400" dirty="0">
                <a:solidFill>
                  <a:schemeClr val="tx1"/>
                </a:solidFill>
              </a:rPr>
              <a:t>10+ recorded demo runs</a:t>
            </a:r>
            <a:endParaRPr lang="en-US" sz="1400" dirty="0"/>
          </a:p>
        </p:txBody>
      </p:sp>
      <p:sp>
        <p:nvSpPr>
          <p:cNvPr id="12" name="Column Later"/>
          <p:cNvSpPr/>
          <p:nvPr/>
        </p:nvSpPr>
        <p:spPr>
          <a:xfrm>
            <a:off x="6035040" y="1234440"/>
            <a:ext cx="2651760" cy="3291840"/>
          </a:xfrm>
          <a:prstGeom prst="roundRect">
            <a:avLst>
              <a:gd name="adj" fmla="val 2759"/>
            </a:avLst>
          </a:prstGeom>
          <a:solidFill>
            <a:schemeClr val="bg2"/>
          </a:solidFill>
          <a:ln w="12700">
            <a:solidFill>
              <a:schemeClr val="bg2"/>
            </a:solidFill>
            <a:prstDash val="solid"/>
          </a:ln>
        </p:spPr>
      </p:sp>
      <p:sp>
        <p:nvSpPr>
          <p:cNvPr id="13" name="Phase pill Later"/>
          <p:cNvSpPr/>
          <p:nvPr/>
        </p:nvSpPr>
        <p:spPr>
          <a:xfrm>
            <a:off x="6217920" y="1417320"/>
            <a:ext cx="1005840" cy="365760"/>
          </a:xfrm>
          <a:prstGeom prst="roundRect">
            <a:avLst>
              <a:gd name="adj" fmla="val 50000"/>
            </a:avLst>
          </a:prstGeom>
          <a:solidFill>
            <a:srgbClr val="6B7F86"/>
          </a:solidFill>
          <a:ln w="12700">
            <a:solidFill>
              <a:srgbClr val="6B7F86"/>
            </a:solidFill>
            <a:prstDash val="solid"/>
          </a:ln>
        </p:spPr>
      </p:sp>
      <p:sp>
        <p:nvSpPr>
          <p:cNvPr id="14" name="Phase Later"/>
          <p:cNvSpPr txBox="1"/>
          <p:nvPr/>
        </p:nvSpPr>
        <p:spPr>
          <a:xfrm>
            <a:off x="6217920" y="1417320"/>
            <a:ext cx="1005840" cy="365760"/>
          </a:xfrm>
          <a:prstGeom prst="rect">
            <a:avLst/>
          </a:prstGeom>
          <a:noFill/>
          <a:ln/>
        </p:spPr>
        <p:txBody>
          <a:bodyPr wrap="square" lIns="0" tIns="0" rIns="0" bIns="0" rtlCol="0" anchor="ctr"/>
          <a:lstStyle/>
          <a:p>
            <a:pPr algn="ctr" indent="0" marL="0">
              <a:buNone/>
            </a:pPr>
            <a:r>
              <a:rPr lang="en-US" sz="1600" b="1" dirty="0">
                <a:solidFill>
                  <a:schemeClr val="bg1"/>
                </a:solidFill>
              </a:rPr>
              <a:t>Later</a:t>
            </a:r>
            <a:endParaRPr lang="en-US" sz="1600" dirty="0"/>
          </a:p>
        </p:txBody>
      </p:sp>
      <p:sp>
        <p:nvSpPr>
          <p:cNvPr id="15" name="Phase list Later"/>
          <p:cNvSpPr txBox="1"/>
          <p:nvPr/>
        </p:nvSpPr>
        <p:spPr>
          <a:xfrm>
            <a:off x="6217920" y="2011680"/>
            <a:ext cx="2286000" cy="23774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Per-device keys</a:t>
            </a:r>
            <a:endParaRPr lang="en-US" sz="1400" dirty="0"/>
          </a:p>
          <a:p>
            <a:pPr marL="342900" indent="-342900">
              <a:spcAft>
                <a:spcPts val="800"/>
              </a:spcAft>
              <a:buSzPct val="100000"/>
              <a:buChar char="•"/>
            </a:pPr>
            <a:r>
              <a:rPr lang="en-US" sz="1400" dirty="0">
                <a:solidFill>
                  <a:schemeClr val="tx1"/>
                </a:solidFill>
              </a:rPr>
              <a:t>Read scooter battery over Bluetooth</a:t>
            </a:r>
            <a:endParaRPr lang="en-US" sz="1400" dirty="0"/>
          </a:p>
          <a:p>
            <a:pPr marL="342900" indent="-342900">
              <a:spcAft>
                <a:spcPts val="800"/>
              </a:spcAft>
              <a:buSzPct val="100000"/>
              <a:buChar char="•"/>
            </a:pPr>
            <a:r>
              <a:rPr lang="en-US" sz="1400" dirty="0">
                <a:solidFill>
                  <a:schemeClr val="tx1"/>
                </a:solidFill>
              </a:rPr>
              <a:t>Road-condition sharing</a:t>
            </a:r>
            <a:endParaRPr lang="en-US" sz="1400" dirty="0"/>
          </a:p>
          <a:p>
            <a:pPr marL="342900" indent="-342900">
              <a:spcAft>
                <a:spcPts val="800"/>
              </a:spcAft>
              <a:buSzPct val="100000"/>
              <a:buChar char="•"/>
            </a:pPr>
            <a:r>
              <a:rPr lang="en-US" sz="1400" dirty="0">
                <a:solidFill>
                  <a:schemeClr val="tx1"/>
                </a:solidFill>
              </a:rPr>
              <a:t>Wi-Fi Direct payloads</a:t>
            </a:r>
            <a:endParaRPr lang="en-US" sz="14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Closing headline"/>
          <p:cNvSpPr txBox="1"/>
          <p:nvPr/>
        </p:nvSpPr>
        <p:spPr>
          <a:xfrm>
            <a:off x="548640" y="1280160"/>
            <a:ext cx="5303520" cy="1371600"/>
          </a:xfrm>
          <a:prstGeom prst="rect">
            <a:avLst/>
          </a:prstGeom>
          <a:noFill/>
          <a:ln/>
        </p:spPr>
        <p:txBody>
          <a:bodyPr wrap="square" lIns="0" tIns="0" rIns="0" bIns="0" rtlCol="0" anchor="ctr"/>
          <a:lstStyle/>
          <a:p>
            <a:pPr indent="0" marL="0">
              <a:buNone/>
            </a:pPr>
            <a:r>
              <a:rPr lang="en-US" sz="3800" b="1" dirty="0">
                <a:solidFill>
                  <a:schemeClr val="bg1"/>
                </a:solidFill>
              </a:rPr>
              <a:t>Daily use first. Safety rides on it.</a:t>
            </a:r>
            <a:endParaRPr lang="en-US" sz="3800" dirty="0"/>
          </a:p>
        </p:txBody>
      </p:sp>
      <p:sp>
        <p:nvSpPr>
          <p:cNvPr id="3" name="Closing name"/>
          <p:cNvSpPr txBox="1"/>
          <p:nvPr/>
        </p:nvSpPr>
        <p:spPr>
          <a:xfrm>
            <a:off x="548640" y="2743200"/>
            <a:ext cx="5303520" cy="457200"/>
          </a:xfrm>
          <a:prstGeom prst="rect">
            <a:avLst/>
          </a:prstGeom>
          <a:noFill/>
          <a:ln/>
        </p:spPr>
        <p:txBody>
          <a:bodyPr wrap="square" lIns="0" tIns="0" rIns="0" bIns="0" rtlCol="0" anchor="ctr"/>
          <a:lstStyle/>
          <a:p>
            <a:pPr indent="0" marL="0">
              <a:buNone/>
            </a:pPr>
            <a:r>
              <a:rPr lang="en-US" sz="2200" dirty="0">
                <a:solidFill>
                  <a:schemeClr val="accent1"/>
                </a:solidFill>
              </a:rPr>
              <a:t>VoltMesh</a:t>
            </a:r>
            <a:endParaRPr lang="en-US" sz="2200" dirty="0"/>
          </a:p>
        </p:txBody>
      </p:sp>
      <p:sp>
        <p:nvSpPr>
          <p:cNvPr id="4" name="Portal link"/>
          <p:cNvSpPr txBox="1"/>
          <p:nvPr/>
        </p:nvSpPr>
        <p:spPr>
          <a:xfrm>
            <a:off x="548640" y="3429000"/>
            <a:ext cx="5486400" cy="292608"/>
          </a:xfrm>
          <a:prstGeom prst="rect">
            <a:avLst/>
          </a:prstGeom>
          <a:noFill/>
          <a:ln/>
        </p:spPr>
        <p:txBody>
          <a:bodyPr wrap="square" lIns="0" tIns="0" rIns="0" bIns="0" rtlCol="0" anchor="ctr"/>
          <a:lstStyle/>
          <a:p>
            <a:pPr indent="0" marL="0">
              <a:buNone/>
            </a:pPr>
            <a:r>
              <a:rPr lang="en-US" sz="1400" dirty="0">
                <a:solidFill>
                  <a:schemeClr val="bg2"/>
                </a:solidFill>
              </a:rPr>
              <a:t>Portal: aravworks.github.io/SHIFT-2026-P83EUY</a:t>
            </a:r>
            <a:endParaRPr lang="en-US" sz="1400" dirty="0"/>
          </a:p>
        </p:txBody>
      </p:sp>
      <p:sp>
        <p:nvSpPr>
          <p:cNvPr id="5" name="Code link"/>
          <p:cNvSpPr txBox="1"/>
          <p:nvPr/>
        </p:nvSpPr>
        <p:spPr>
          <a:xfrm>
            <a:off x="548640" y="3767328"/>
            <a:ext cx="5486400" cy="292608"/>
          </a:xfrm>
          <a:prstGeom prst="rect">
            <a:avLst/>
          </a:prstGeom>
          <a:noFill/>
          <a:ln/>
        </p:spPr>
        <p:txBody>
          <a:bodyPr wrap="square" lIns="0" tIns="0" rIns="0" bIns="0" rtlCol="0" anchor="ctr"/>
          <a:lstStyle/>
          <a:p>
            <a:pPr indent="0" marL="0">
              <a:buNone/>
            </a:pPr>
            <a:r>
              <a:rPr lang="en-US" sz="1400" dirty="0">
                <a:solidFill>
                  <a:schemeClr val="bg2"/>
                </a:solidFill>
              </a:rPr>
              <a:t>Code: github.com/aravworks/SHIFT-2026-P83EUY</a:t>
            </a:r>
            <a:endParaRPr lang="en-US" sz="1400" dirty="0"/>
          </a:p>
        </p:txBody>
      </p:sp>
      <p:sp>
        <p:nvSpPr>
          <p:cNvPr id="6" name="Closing bolt badge"/>
          <p:cNvSpPr/>
          <p:nvPr/>
        </p:nvSpPr>
        <p:spPr>
          <a:xfrm>
            <a:off x="7040880" y="2011680"/>
            <a:ext cx="1280160" cy="1280160"/>
          </a:xfrm>
          <a:prstGeom prst="ellipse">
            <a:avLst/>
          </a:prstGeom>
          <a:solidFill>
            <a:srgbClr val="F5B700"/>
          </a:solidFill>
          <a:ln w="12700">
            <a:solidFill>
              <a:srgbClr val="F5B700"/>
            </a:solidFill>
            <a:prstDash val="solid"/>
          </a:ln>
        </p:spPr>
      </p:sp>
      <p:pic>
        <p:nvPicPr>
          <p:cNvPr id="7" name="FaBolt" descr="Bolt icon">    </p:cNvPr>
          <p:cNvPicPr>
            <a:picLocks noChangeAspect="1"/>
          </p:cNvPicPr>
          <p:nvPr/>
        </p:nvPicPr>
        <p:blipFill>
          <a:blip r:embed="rId1"/>
          <a:stretch>
            <a:fillRect/>
          </a:stretch>
        </p:blipFill>
        <p:spPr>
          <a:xfrm>
            <a:off x="7348118" y="2318918"/>
            <a:ext cx="665683" cy="665683"/>
          </a:xfrm>
          <a:prstGeom prst="rect">
            <a:avLst/>
          </a:prstGeom>
        </p:spPr>
      </p:pic>
      <p:sp>
        <p:nvSpPr>
          <p:cNvPr id="9" name="Text 0"/>
          <p:cNvSpPr/>
          <p:nvPr>
            <p:ph idx="100" type="title" hasCustomPrompt="1"/>
          </p:nvPr>
        </p:nvSpPr>
        <p:spPr>
          <a:xfrm>
            <a:off x="548640" y="1234440"/>
            <a:ext cx="4937760" cy="1097280"/>
          </a:xfrm>
          <a:prstGeom prst="rect">
            <a:avLst/>
          </a:prstGeom>
          <a:noFill/>
          <a:ln/>
        </p:spPr>
        <p:txBody>
          <a:bodyPr wrap="square" lIns="0" tIns="0" rIns="0" bIns="0" rtlCol="0" anchor="ctr"/>
          <a:lstStyle/>
          <a:p>
            <a:pPr indent="0" marL="0">
              <a:buNone/>
            </a:pPr>
            <a:endParaRPr lang="en-US" sz="5400" dirty="0"/>
          </a:p>
        </p:txBody>
      </p:sp>
      <p:sp>
        <p:nvSpPr>
          <p:cNvPr id="10" name="Text 0"/>
          <p:cNvSpPr/>
          <p:nvPr>
            <p:ph idx="101" type="body" hasCustomPrompt="1"/>
          </p:nvPr>
        </p:nvSpPr>
        <p:spPr>
          <a:xfrm>
            <a:off x="548640" y="2423160"/>
            <a:ext cx="4754880" cy="822960"/>
          </a:xfrm>
          <a:prstGeom prst="rect">
            <a:avLst/>
          </a:prstGeom>
          <a:noFill/>
          <a:ln/>
        </p:spPr>
        <p:txBody>
          <a:bodyPr wrap="square" lIns="0" tIns="0" rIns="0" bIns="0" rtlCol="0" anchor="t"/>
          <a:lstStyle/>
          <a:p>
            <a:pPr indent="0" marL="0">
              <a:buNone/>
            </a:pPr>
            <a:endParaRPr lang="en-US" sz="2200" dirty="0"/>
          </a:p>
        </p:txBody>
      </p:sp>
    </p:spTree>
  </p:cSld>
  <p:clrMapOvr>
    <a:masterClrMapping/>
  </p:clrMapOvr>
</p:sld>
</file>

<file path=ppt/theme/theme1.xml><?xml version="1.0" encoding="utf-8"?>
<a:theme xmlns:a="http://schemas.openxmlformats.org/drawingml/2006/main" name="VoltMesh">
  <a:themeElements>
    <a:clrScheme name="VoltMesh">
      <a:dk1>
        <a:srgbClr val="0B1F24"/>
      </a:dk1>
      <a:lt1>
        <a:srgbClr val="FFFFFF"/>
      </a:lt1>
      <a:dk2>
        <a:srgbClr val="134E4A"/>
      </a:dk2>
      <a:lt2>
        <a:srgbClr val="EEF4F3"/>
      </a:lt2>
      <a:accent1>
        <a:srgbClr val="F5B700"/>
      </a:accent1>
      <a:accent2>
        <a:srgbClr val="1F8A80"/>
      </a:accent2>
      <a:accent3>
        <a:srgbClr val="D64545"/>
      </a:accent3>
      <a:accent4>
        <a:srgbClr val="2F6FBF"/>
      </a:accent4>
      <a:accent5>
        <a:srgbClr val="6B7F86"/>
      </a:accent5>
      <a:accent6>
        <a:srgbClr val="3FA34D"/>
      </a:accent6>
      <a:hlink>
        <a:srgbClr val="1F8A80"/>
      </a:hlink>
      <a:folHlink>
        <a:srgbClr val="6B7F86"/>
      </a:folHlink>
    </a:clrScheme>
    <a:fontScheme name="VoltMesh">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VoltMesh: project overview</dc:title>
  <dc:subject>PptxGenJS Presentation</dc:subject>
  <dc:creator>VoltMesh team</dc:creator>
  <cp:lastModifiedBy>VoltMesh team</cp:lastModifiedBy>
  <cp:revision>1</cp:revision>
  <dcterms:created xsi:type="dcterms:W3CDTF">2026-10-11T10:16:07Z</dcterms:created>
  <dcterms:modified xsi:type="dcterms:W3CDTF">2026-10-11T10:16:07Z</dcterms:modified>
</cp:coreProperties>
</file>